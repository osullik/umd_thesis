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ABC391-25EB-4CD7-9F27-D75C4C5173BC}">
  <a:tblStyle styleId="{FFABC391-25EB-4CD7-9F27-D75C4C5173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slide" Target="slides/slide41.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cc1c7ab7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cc1c7ab7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slide → Give viewers the ‘mad minute’ summary of what the thesis was about.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cc92deeaf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cc92deeaf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7128f6f67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7128f6f67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7128f6f67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7128f6f67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cc92deeaf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cc92deeaf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ca30feb5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ca30feb5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cc1c7ab77f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cc1c7ab77f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c1c7ab77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c1c7ab77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Heilmeier</a:t>
            </a:r>
            <a:r>
              <a:rPr lang="en"/>
              <a:t> Number 1:</a:t>
            </a:r>
            <a:endParaRPr/>
          </a:p>
          <a:p>
            <a:pPr indent="0" lvl="0" marL="0" rtl="0" algn="l">
              <a:spcBef>
                <a:spcPts val="0"/>
              </a:spcBef>
              <a:spcAft>
                <a:spcPts val="0"/>
              </a:spcAft>
              <a:buNone/>
            </a:pPr>
            <a:r>
              <a:rPr lang="en"/>
              <a:t>	</a:t>
            </a:r>
            <a:r>
              <a:rPr i="1" lang="en"/>
              <a:t>What are you trying to do? Articulate your objectives using absolutely no jargon.</a:t>
            </a:r>
            <a:endParaRPr i="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d25c244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d25c244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did we get here?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thesis research began with the aim to evaluate the performance of the Intel PiUMA hardware under the DARPA HIVE program.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Unfortunately</a:t>
            </a:r>
            <a:r>
              <a:rPr lang="en"/>
              <a:t>, manufacturing faults in the Optical Interconnect led to an inability to test the Distributed Configuration on realistic workloads.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Further</a:t>
            </a:r>
            <a:r>
              <a:rPr lang="en"/>
              <a:t>, the SDV had manufacturing faults that prevented it being used for </a:t>
            </a:r>
            <a:r>
              <a:rPr lang="en"/>
              <a:t>testing.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c1c7ab77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cc1c7ab77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Heilmeier Number 2:</a:t>
            </a:r>
            <a:endParaRPr>
              <a:solidFill>
                <a:schemeClr val="dk1"/>
              </a:solidFill>
            </a:endParaRPr>
          </a:p>
          <a:p>
            <a:pPr indent="0" lvl="0" marL="0" rtl="0" algn="l">
              <a:spcBef>
                <a:spcPts val="0"/>
              </a:spcBef>
              <a:spcAft>
                <a:spcPts val="0"/>
              </a:spcAft>
              <a:buNone/>
            </a:pPr>
            <a:r>
              <a:rPr lang="en"/>
              <a:t>	How is it done today, and what are the limits of current practice?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c1c7ab77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c1c7ab77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Heilmeier Number 3:</a:t>
            </a:r>
            <a:endParaRPr>
              <a:solidFill>
                <a:schemeClr val="dk1"/>
              </a:solidFill>
            </a:endParaRPr>
          </a:p>
          <a:p>
            <a:pPr indent="0" lvl="0" marL="0" rtl="0" algn="l">
              <a:spcBef>
                <a:spcPts val="0"/>
              </a:spcBef>
              <a:spcAft>
                <a:spcPts val="0"/>
              </a:spcAft>
              <a:buNone/>
            </a:pPr>
            <a:r>
              <a:rPr lang="en">
                <a:solidFill>
                  <a:schemeClr val="dk1"/>
                </a:solidFill>
              </a:rPr>
              <a:t>	</a:t>
            </a:r>
            <a:r>
              <a:rPr lang="en" sz="1050">
                <a:solidFill>
                  <a:srgbClr val="444444"/>
                </a:solidFill>
              </a:rPr>
              <a:t>What is new in your approach and why do you think it will be successful?</a:t>
            </a:r>
            <a:endParaRPr sz="1050">
              <a:solidFill>
                <a:srgbClr val="444444"/>
              </a:solidFill>
            </a:endParaRPr>
          </a:p>
          <a:p>
            <a:pPr indent="0" lvl="0" marL="0" rtl="0" algn="l">
              <a:spcBef>
                <a:spcPts val="0"/>
              </a:spcBef>
              <a:spcAft>
                <a:spcPts val="0"/>
              </a:spcAft>
              <a:buNone/>
            </a:pPr>
            <a:r>
              <a:t/>
            </a:r>
            <a:endParaRPr sz="1050">
              <a:solidFill>
                <a:srgbClr val="444444"/>
              </a:solidFill>
            </a:endParaRPr>
          </a:p>
          <a:p>
            <a:pPr indent="0" lvl="0" marL="0" rtl="0" algn="l">
              <a:spcBef>
                <a:spcPts val="0"/>
              </a:spcBef>
              <a:spcAft>
                <a:spcPts val="0"/>
              </a:spcAft>
              <a:buNone/>
            </a:pPr>
            <a:r>
              <a:rPr lang="en" sz="1050">
                <a:solidFill>
                  <a:srgbClr val="444444"/>
                </a:solidFill>
              </a:rPr>
              <a:t>	</a:t>
            </a:r>
            <a:r>
              <a:rPr b="1" lang="en" sz="1050">
                <a:solidFill>
                  <a:srgbClr val="444444"/>
                </a:solidFill>
              </a:rPr>
              <a:t>Balanced: </a:t>
            </a:r>
            <a:r>
              <a:rPr lang="en" sz="1050">
                <a:solidFill>
                  <a:srgbClr val="444444"/>
                </a:solidFill>
              </a:rPr>
              <a:t>General Utility of competitive benchmarks against the Detail of workload analysis without the invasive instrumentation. </a:t>
            </a:r>
            <a:endParaRPr sz="1050">
              <a:solidFill>
                <a:srgbClr val="444444"/>
              </a:solidFill>
            </a:endParaRPr>
          </a:p>
          <a:p>
            <a:pPr indent="0" lvl="0" marL="0" rtl="0" algn="l">
              <a:spcBef>
                <a:spcPts val="0"/>
              </a:spcBef>
              <a:spcAft>
                <a:spcPts val="0"/>
              </a:spcAft>
              <a:buNone/>
            </a:pPr>
            <a:r>
              <a:rPr lang="en" sz="1050">
                <a:solidFill>
                  <a:srgbClr val="444444"/>
                </a:solidFill>
              </a:rPr>
              <a:t>	</a:t>
            </a:r>
            <a:r>
              <a:rPr b="1" lang="en" sz="1050">
                <a:solidFill>
                  <a:srgbClr val="444444"/>
                </a:solidFill>
              </a:rPr>
              <a:t>Problem Centric: </a:t>
            </a:r>
            <a:r>
              <a:rPr lang="en" sz="1050">
                <a:solidFill>
                  <a:srgbClr val="444444"/>
                </a:solidFill>
              </a:rPr>
              <a:t>Focus on real world tasks, not kernel problems. E.g. “Find Mr Black’s 10 closest friends” vs “do BFS from node 123564 until frontier &gt;- 10”</a:t>
            </a:r>
            <a:endParaRPr sz="1050">
              <a:solidFill>
                <a:srgbClr val="444444"/>
              </a:solidFill>
            </a:endParaRPr>
          </a:p>
          <a:p>
            <a:pPr indent="0" lvl="0" marL="0" rtl="0" algn="l">
              <a:spcBef>
                <a:spcPts val="0"/>
              </a:spcBef>
              <a:spcAft>
                <a:spcPts val="0"/>
              </a:spcAft>
              <a:buNone/>
            </a:pPr>
            <a:r>
              <a:rPr lang="en" sz="1050">
                <a:solidFill>
                  <a:srgbClr val="444444"/>
                </a:solidFill>
              </a:rPr>
              <a:t>	</a:t>
            </a:r>
            <a:r>
              <a:rPr b="1" lang="en" sz="1050">
                <a:solidFill>
                  <a:srgbClr val="444444"/>
                </a:solidFill>
              </a:rPr>
              <a:t>Accelerator Agnostic: </a:t>
            </a:r>
            <a:r>
              <a:rPr lang="en" sz="1050">
                <a:solidFill>
                  <a:srgbClr val="444444"/>
                </a:solidFill>
              </a:rPr>
              <a:t>Let someone bring any system they want, with any implementation they choose</a:t>
            </a:r>
            <a:endParaRPr sz="1050">
              <a:solidFill>
                <a:srgbClr val="444444"/>
              </a:solidFill>
            </a:endParaRPr>
          </a:p>
          <a:p>
            <a:pPr indent="0" lvl="0" marL="0" rtl="0" algn="l">
              <a:spcBef>
                <a:spcPts val="0"/>
              </a:spcBef>
              <a:spcAft>
                <a:spcPts val="0"/>
              </a:spcAft>
              <a:buNone/>
            </a:pPr>
            <a:r>
              <a:rPr lang="en" sz="1050">
                <a:solidFill>
                  <a:srgbClr val="444444"/>
                </a:solidFill>
              </a:rPr>
              <a:t>	</a:t>
            </a:r>
            <a:r>
              <a:rPr b="1" lang="en" sz="1050">
                <a:solidFill>
                  <a:srgbClr val="444444"/>
                </a:solidFill>
              </a:rPr>
              <a:t>Efficiency vs Effectiveness: </a:t>
            </a:r>
            <a:r>
              <a:rPr lang="en" sz="1050">
                <a:solidFill>
                  <a:srgbClr val="444444"/>
                </a:solidFill>
              </a:rPr>
              <a:t>Experimentally trade off efficiency of one approach with effectiveness of another</a:t>
            </a:r>
            <a:endParaRPr sz="1050">
              <a:solidFill>
                <a:srgbClr val="444444"/>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cc1c7ab77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cc1c7ab77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Heilmeier Number 3:</a:t>
            </a:r>
            <a:endParaRPr/>
          </a:p>
          <a:p>
            <a:pPr indent="-228600" lvl="0" marL="457200" rtl="0" algn="l">
              <a:lnSpc>
                <a:spcPct val="115000"/>
              </a:lnSpc>
              <a:spcBef>
                <a:spcPts val="700"/>
              </a:spcBef>
              <a:spcAft>
                <a:spcPts val="0"/>
              </a:spcAft>
              <a:buClr>
                <a:srgbClr val="444444"/>
              </a:buClr>
              <a:buSzPts val="1050"/>
              <a:buNone/>
            </a:pPr>
            <a:r>
              <a:rPr lang="en" sz="1050">
                <a:solidFill>
                  <a:srgbClr val="444444"/>
                </a:solidFill>
              </a:rPr>
              <a:t>Who cares? If you are successful, what difference will it make?</a:t>
            </a:r>
            <a:endParaRPr sz="1050">
              <a:solidFill>
                <a:srgbClr val="444444"/>
              </a:solidFill>
            </a:endParaRPr>
          </a:p>
          <a:p>
            <a:pPr indent="0" lvl="0" marL="0" rtl="0" algn="l">
              <a:lnSpc>
                <a:spcPct val="115000"/>
              </a:lnSpc>
              <a:spcBef>
                <a:spcPts val="2900"/>
              </a:spcBef>
              <a:spcAft>
                <a:spcPts val="2900"/>
              </a:spcAft>
              <a:buNone/>
            </a:pPr>
            <a:r>
              <a:rPr lang="en" sz="1050">
                <a:solidFill>
                  <a:srgbClr val="444444"/>
                </a:solidFill>
              </a:rPr>
              <a:t>	</a:t>
            </a:r>
            <a:r>
              <a:rPr b="1" lang="en" sz="1050">
                <a:solidFill>
                  <a:srgbClr val="444444"/>
                </a:solidFill>
              </a:rPr>
              <a:t>Analysts</a:t>
            </a:r>
            <a:r>
              <a:rPr lang="en" sz="1050">
                <a:solidFill>
                  <a:srgbClr val="444444"/>
                </a:solidFill>
              </a:rPr>
              <a:t>: Understand how the GraphAI they employ performs in different circumstances</a:t>
            </a:r>
            <a:br>
              <a:rPr lang="en" sz="1050">
                <a:solidFill>
                  <a:srgbClr val="444444"/>
                </a:solidFill>
              </a:rPr>
            </a:br>
            <a:r>
              <a:rPr lang="en" sz="1050">
                <a:solidFill>
                  <a:srgbClr val="444444"/>
                </a:solidFill>
              </a:rPr>
              <a:t>	</a:t>
            </a:r>
            <a:r>
              <a:rPr b="1" lang="en" sz="1050">
                <a:solidFill>
                  <a:srgbClr val="444444"/>
                </a:solidFill>
              </a:rPr>
              <a:t>Engineers: </a:t>
            </a:r>
            <a:r>
              <a:rPr lang="en" sz="1050">
                <a:solidFill>
                  <a:srgbClr val="444444"/>
                </a:solidFill>
              </a:rPr>
              <a:t>Learn how many GraphAI behave on one system to make architectural choices.</a:t>
            </a:r>
            <a:br>
              <a:rPr lang="en" sz="1050">
                <a:solidFill>
                  <a:srgbClr val="444444"/>
                </a:solidFill>
              </a:rPr>
            </a:br>
            <a:r>
              <a:rPr lang="en" sz="1050">
                <a:solidFill>
                  <a:srgbClr val="444444"/>
                </a:solidFill>
              </a:rPr>
              <a:t>	</a:t>
            </a:r>
            <a:r>
              <a:rPr b="1" lang="en" sz="1050">
                <a:solidFill>
                  <a:srgbClr val="444444"/>
                </a:solidFill>
              </a:rPr>
              <a:t>Researchers: </a:t>
            </a:r>
            <a:r>
              <a:rPr lang="en" sz="1050">
                <a:solidFill>
                  <a:srgbClr val="444444"/>
                </a:solidFill>
              </a:rPr>
              <a:t>Study GraphAI performance to improve algos, representations and accelerators into the future. </a:t>
            </a:r>
            <a:endParaRPr sz="1050">
              <a:solidFill>
                <a:srgbClr val="444444"/>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cc1c7ab77f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cc1c7ab77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cc1c7ab77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cc1c7ab77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The Taxonomy.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GPS</a:t>
            </a:r>
            <a:r>
              <a:rPr lang="en"/>
              <a:t>: Classic AI tasks that formulate the world as a graph, for </a:t>
            </a:r>
            <a:endParaRPr/>
          </a:p>
          <a:p>
            <a:pPr indent="457200" lvl="0" marL="0" rtl="0" algn="l">
              <a:spcBef>
                <a:spcPts val="0"/>
              </a:spcBef>
              <a:spcAft>
                <a:spcPts val="0"/>
              </a:spcAft>
              <a:buNone/>
            </a:pPr>
            <a:r>
              <a:rPr lang="en"/>
              <a:t>example planning navigation routes and identifying the critical path through a project. </a:t>
            </a:r>
            <a:endParaRPr/>
          </a:p>
          <a:p>
            <a:pPr indent="0" lvl="0" marL="0" rtl="0" algn="l">
              <a:spcBef>
                <a:spcPts val="0"/>
              </a:spcBef>
              <a:spcAft>
                <a:spcPts val="0"/>
              </a:spcAft>
              <a:buNone/>
            </a:pPr>
            <a:r>
              <a:rPr b="1" lang="en"/>
              <a:t>GM</a:t>
            </a:r>
            <a:r>
              <a:rPr lang="en"/>
              <a:t>: AI tasks on graphs; graph mining. Analyze the </a:t>
            </a:r>
            <a:r>
              <a:rPr lang="en"/>
              <a:t>structural</a:t>
            </a:r>
            <a:r>
              <a:rPr lang="en"/>
              <a:t> characteristics of a graph.</a:t>
            </a:r>
            <a:endParaRPr/>
          </a:p>
          <a:p>
            <a:pPr indent="457200" lvl="0" marL="0" rtl="0" algn="l">
              <a:spcBef>
                <a:spcPts val="0"/>
              </a:spcBef>
              <a:spcAft>
                <a:spcPts val="0"/>
              </a:spcAft>
              <a:buNone/>
            </a:pPr>
            <a:r>
              <a:rPr lang="en"/>
              <a:t>Example: Spatial pattern matching or community detection. </a:t>
            </a:r>
            <a:endParaRPr/>
          </a:p>
          <a:p>
            <a:pPr indent="0" lvl="0" marL="0" rtl="0" algn="l">
              <a:spcBef>
                <a:spcPts val="0"/>
              </a:spcBef>
              <a:spcAft>
                <a:spcPts val="0"/>
              </a:spcAft>
              <a:buNone/>
            </a:pPr>
            <a:r>
              <a:rPr b="1" lang="en"/>
              <a:t>GR:</a:t>
            </a:r>
            <a:r>
              <a:rPr lang="en"/>
              <a:t> AI tasks that use graphs for inference:</a:t>
            </a:r>
            <a:endParaRPr/>
          </a:p>
          <a:p>
            <a:pPr indent="457200" lvl="0" marL="0" rtl="0" algn="l">
              <a:spcBef>
                <a:spcPts val="0"/>
              </a:spcBef>
              <a:spcAft>
                <a:spcPts val="0"/>
              </a:spcAft>
              <a:buNone/>
            </a:pPr>
            <a:r>
              <a:rPr lang="en"/>
              <a:t>Common sense </a:t>
            </a:r>
            <a:r>
              <a:rPr lang="en"/>
              <a:t>reasoning, knowledge-graph question answering. </a:t>
            </a:r>
            <a:endParaRPr/>
          </a:p>
          <a:p>
            <a:pPr indent="0" lvl="0" marL="0" rtl="0" algn="l">
              <a:spcBef>
                <a:spcPts val="0"/>
              </a:spcBef>
              <a:spcAft>
                <a:spcPts val="0"/>
              </a:spcAft>
              <a:buNone/>
            </a:pPr>
            <a:r>
              <a:rPr b="1" lang="en"/>
              <a:t>GA: </a:t>
            </a:r>
            <a:r>
              <a:rPr lang="en"/>
              <a:t>Transforming graphs into other structures for downstream tasks</a:t>
            </a:r>
            <a:endParaRPr/>
          </a:p>
          <a:p>
            <a:pPr indent="457200" lvl="0" marL="0" rtl="0" algn="l">
              <a:spcBef>
                <a:spcPts val="0"/>
              </a:spcBef>
              <a:spcAft>
                <a:spcPts val="0"/>
              </a:spcAft>
              <a:buNone/>
            </a:pPr>
            <a:r>
              <a:rPr lang="en"/>
              <a:t>Embedding with Node2Vec or DeepWalk</a:t>
            </a:r>
            <a:endParaRPr/>
          </a:p>
          <a:p>
            <a:pPr indent="0" lvl="0" marL="0" rtl="0" algn="l">
              <a:spcBef>
                <a:spcPts val="0"/>
              </a:spcBef>
              <a:spcAft>
                <a:spcPts val="0"/>
              </a:spcAft>
              <a:buNone/>
            </a:pPr>
            <a:r>
              <a:rPr b="1" lang="en"/>
              <a:t>GP: </a:t>
            </a:r>
            <a:r>
              <a:rPr lang="en"/>
              <a:t>Learning directly on graphs, anything in the GNN family</a:t>
            </a:r>
            <a:endParaRPr/>
          </a:p>
          <a:p>
            <a:pPr indent="457200" lvl="0" marL="0" rtl="0" algn="l">
              <a:spcBef>
                <a:spcPts val="0"/>
              </a:spcBef>
              <a:spcAft>
                <a:spcPts val="0"/>
              </a:spcAft>
              <a:buNone/>
            </a:pPr>
            <a:r>
              <a:rPr lang="en"/>
              <a:t>E.g. Knowledge Graph completion, anomaly detection. </a:t>
            </a:r>
            <a:endParaRPr/>
          </a:p>
          <a:p>
            <a:pPr indent="0" lvl="0" marL="0" rtl="0" algn="l">
              <a:spcBef>
                <a:spcPts val="0"/>
              </a:spcBef>
              <a:spcAft>
                <a:spcPts val="0"/>
              </a:spcAft>
              <a:buNone/>
            </a:pPr>
            <a:r>
              <a:rPr b="1" lang="en"/>
              <a:t>GT: </a:t>
            </a:r>
            <a:r>
              <a:rPr lang="en"/>
              <a:t>Using graphs to make generative AI better</a:t>
            </a:r>
            <a:endParaRPr/>
          </a:p>
          <a:p>
            <a:pPr indent="457200" lvl="0" marL="0" rtl="0" algn="l">
              <a:spcBef>
                <a:spcPts val="0"/>
              </a:spcBef>
              <a:spcAft>
                <a:spcPts val="0"/>
              </a:spcAft>
              <a:buNone/>
            </a:pPr>
            <a:r>
              <a:rPr lang="en"/>
              <a:t>E.g. Grounding Generation in knowledge, capturing generation chains as graphs. </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Key Takeaway: </a:t>
            </a:r>
            <a:r>
              <a:rPr lang="en"/>
              <a:t>There are many tasks with many </a:t>
            </a:r>
            <a:r>
              <a:rPr lang="en"/>
              <a:t>different</a:t>
            </a:r>
            <a:r>
              <a:rPr lang="en"/>
              <a:t> needs; How do you balance the need to service many of them with constrained resources?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-&gt; You need to optimize for the balance of efficiency and effectiveness.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cc1c7ab77f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cc1c7ab77f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Graphs: </a:t>
            </a:r>
            <a:r>
              <a:rPr lang="en"/>
              <a:t>The foundation of our challenges. </a:t>
            </a:r>
            <a:endParaRPr/>
          </a:p>
          <a:p>
            <a:pPr indent="-298450" lvl="0" marL="457200" rtl="0" algn="l">
              <a:spcBef>
                <a:spcPts val="0"/>
              </a:spcBef>
              <a:spcAft>
                <a:spcPts val="0"/>
              </a:spcAft>
              <a:buSzPts val="1100"/>
              <a:buChar char="-"/>
            </a:pPr>
            <a:r>
              <a:rPr lang="en"/>
              <a:t>Processing is data dependent so it is challenging to predict how a GraphAI approach will behave without knowing the exact input. </a:t>
            </a:r>
            <a:endParaRPr/>
          </a:p>
          <a:p>
            <a:pPr indent="-298450" lvl="0" marL="457200" rtl="0" algn="l">
              <a:spcBef>
                <a:spcPts val="0"/>
              </a:spcBef>
              <a:spcAft>
                <a:spcPts val="0"/>
              </a:spcAft>
              <a:buSzPts val="1100"/>
              <a:buChar char="-"/>
            </a:pPr>
            <a:r>
              <a:rPr lang="en"/>
              <a:t>As graphs get big we lose the ability to exploit caching and spend a lot of time waiting to retrieve neighboring parts of the graph from memory; the key bottleneck. </a:t>
            </a:r>
            <a:endParaRPr/>
          </a:p>
          <a:p>
            <a:pPr indent="-298450" lvl="0" marL="457200" rtl="0" algn="l">
              <a:spcBef>
                <a:spcPts val="0"/>
              </a:spcBef>
              <a:spcAft>
                <a:spcPts val="0"/>
              </a:spcAft>
              <a:buSzPts val="1100"/>
              <a:buChar char="-"/>
            </a:pPr>
            <a:r>
              <a:rPr lang="en"/>
              <a:t>The lack of a standard approach to problems means there has been no standard approach to accelerating, and so comparing approaches becomes difficult.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GraphAI:</a:t>
            </a:r>
            <a:r>
              <a:rPr lang="en"/>
              <a:t> Builds on Graphs</a:t>
            </a:r>
            <a:endParaRPr/>
          </a:p>
          <a:p>
            <a:pPr indent="-298450" lvl="0" marL="457200" rtl="0" algn="l">
              <a:spcBef>
                <a:spcPts val="0"/>
              </a:spcBef>
              <a:spcAft>
                <a:spcPts val="0"/>
              </a:spcAft>
              <a:buSzPts val="1100"/>
              <a:buChar char="-"/>
            </a:pPr>
            <a:r>
              <a:rPr lang="en"/>
              <a:t>There are many problems in the taxonomy and each have their own computational challenges and limitations. </a:t>
            </a:r>
            <a:endParaRPr/>
          </a:p>
          <a:p>
            <a:pPr indent="-298450" lvl="0" marL="457200" rtl="0" algn="l">
              <a:spcBef>
                <a:spcPts val="0"/>
              </a:spcBef>
              <a:spcAft>
                <a:spcPts val="0"/>
              </a:spcAft>
              <a:buSzPts val="1100"/>
              <a:buChar char="-"/>
            </a:pPr>
            <a:r>
              <a:rPr lang="en"/>
              <a:t>Accelerating GraphAI is typically bottlenecked by the amount we can accelerate graph processing components.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Real-World:</a:t>
            </a:r>
            <a:r>
              <a:rPr lang="en"/>
              <a:t> The systems don’t exit in a Vacuum</a:t>
            </a:r>
            <a:endParaRPr/>
          </a:p>
          <a:p>
            <a:pPr indent="-298450" lvl="0" marL="457200" rtl="0" algn="l">
              <a:spcBef>
                <a:spcPts val="0"/>
              </a:spcBef>
              <a:spcAft>
                <a:spcPts val="0"/>
              </a:spcAft>
              <a:buSzPts val="1100"/>
              <a:buChar char="-"/>
            </a:pPr>
            <a:r>
              <a:rPr lang="en"/>
              <a:t>The real world imposes efficiency, effectiveness and cost constraints e.g. a task needs to happen every hour but it takes an hour and ten minutes to complete needs to be sped up. </a:t>
            </a:r>
            <a:endParaRPr/>
          </a:p>
          <a:p>
            <a:pPr indent="-298450" lvl="0" marL="457200" rtl="0" algn="l">
              <a:spcBef>
                <a:spcPts val="0"/>
              </a:spcBef>
              <a:spcAft>
                <a:spcPts val="0"/>
              </a:spcAft>
              <a:buSzPts val="1100"/>
              <a:buChar char="-"/>
            </a:pPr>
            <a:r>
              <a:rPr lang="en"/>
              <a:t>Accelerators are closely tied to the GraphAI task, abstraction, representation and primitives - Lack of standardization means that </a:t>
            </a:r>
            <a:r>
              <a:rPr lang="en"/>
              <a:t>acceleration</a:t>
            </a:r>
            <a:r>
              <a:rPr lang="en"/>
              <a:t> doesn’t improve GraphAI equally</a:t>
            </a:r>
            <a:endParaRPr/>
          </a:p>
          <a:p>
            <a:pPr indent="-298450" lvl="0" marL="457200" rtl="0" algn="l">
              <a:spcBef>
                <a:spcPts val="0"/>
              </a:spcBef>
              <a:spcAft>
                <a:spcPts val="0"/>
              </a:spcAft>
              <a:buSzPts val="1100"/>
              <a:buChar char="-"/>
            </a:pPr>
            <a:r>
              <a:rPr lang="en"/>
              <a:t>One system must support many GraphAI tasks, meaning tradeoffs must be made.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User: </a:t>
            </a:r>
            <a:r>
              <a:rPr lang="en"/>
              <a:t>Needs to make decisions: </a:t>
            </a:r>
            <a:endParaRPr/>
          </a:p>
          <a:p>
            <a:pPr indent="-298450" lvl="0" marL="457200" rtl="0" algn="l">
              <a:spcBef>
                <a:spcPts val="0"/>
              </a:spcBef>
              <a:spcAft>
                <a:spcPts val="0"/>
              </a:spcAft>
              <a:buSzPts val="1100"/>
              <a:buChar char="-"/>
            </a:pPr>
            <a:r>
              <a:rPr lang="en"/>
              <a:t>Do they care about how fast or solution is created or how accurate it is. </a:t>
            </a:r>
            <a:endParaRPr/>
          </a:p>
          <a:p>
            <a:pPr indent="-298450" lvl="0" marL="457200" rtl="0" algn="l">
              <a:spcBef>
                <a:spcPts val="0"/>
              </a:spcBef>
              <a:spcAft>
                <a:spcPts val="0"/>
              </a:spcAft>
              <a:buSzPts val="1100"/>
              <a:buChar char="-"/>
            </a:pPr>
            <a:r>
              <a:rPr lang="en"/>
              <a:t>Do we make those decision by racing systems in competitive benchmarks or by conducting invasive workload </a:t>
            </a:r>
            <a:r>
              <a:rPr lang="en"/>
              <a:t>analysis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Top of the pyramid calls back to the research question: </a:t>
            </a:r>
            <a:br>
              <a:rPr lang="en"/>
            </a:br>
            <a:br>
              <a:rPr lang="en"/>
            </a:br>
            <a:r>
              <a:rPr lang="en" sz="1800">
                <a:solidFill>
                  <a:srgbClr val="595959"/>
                </a:solidFill>
              </a:rPr>
              <a:t>This thesis aims to determine </a:t>
            </a:r>
            <a:r>
              <a:rPr i="1" lang="en" sz="1800">
                <a:solidFill>
                  <a:srgbClr val="595959"/>
                </a:solidFill>
              </a:rPr>
              <a:t>if</a:t>
            </a:r>
            <a:r>
              <a:rPr lang="en" sz="1800">
                <a:solidFill>
                  <a:srgbClr val="595959"/>
                </a:solidFill>
              </a:rPr>
              <a:t>, </a:t>
            </a:r>
            <a:r>
              <a:rPr i="1" lang="en" sz="1800">
                <a:solidFill>
                  <a:srgbClr val="595959"/>
                </a:solidFill>
              </a:rPr>
              <a:t>how</a:t>
            </a:r>
            <a:r>
              <a:rPr lang="en" sz="1800">
                <a:solidFill>
                  <a:srgbClr val="595959"/>
                </a:solidFill>
              </a:rPr>
              <a:t> and </a:t>
            </a:r>
            <a:r>
              <a:rPr i="1" lang="en" sz="1800">
                <a:solidFill>
                  <a:srgbClr val="595959"/>
                </a:solidFill>
              </a:rPr>
              <a:t>when</a:t>
            </a:r>
            <a:r>
              <a:rPr lang="en" sz="1800">
                <a:solidFill>
                  <a:srgbClr val="595959"/>
                </a:solidFill>
              </a:rPr>
              <a:t> to speed up problem solving on linked data given a set of operating </a:t>
            </a:r>
            <a:r>
              <a:rPr i="1" lang="en" sz="1800">
                <a:solidFill>
                  <a:srgbClr val="595959"/>
                </a:solidFill>
              </a:rPr>
              <a:t>constraints</a:t>
            </a:r>
            <a:r>
              <a:rPr lang="en" sz="1800">
                <a:solidFill>
                  <a:srgbClr val="595959"/>
                </a:solidFill>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d0079993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d0079993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Traditional Graph and AI benchmarks are `black box’ approaches that only controls the inputs and outputs of a system, which gives us a results but no understanding of </a:t>
            </a:r>
            <a:r>
              <a:rPr i="1" lang="en"/>
              <a:t>How</a:t>
            </a:r>
            <a:r>
              <a:rPr lang="en"/>
              <a:t> or </a:t>
            </a:r>
            <a:r>
              <a:rPr i="1" lang="en"/>
              <a:t>Why</a:t>
            </a:r>
            <a:r>
              <a:rPr lang="en"/>
              <a:t> that result </a:t>
            </a:r>
            <a:r>
              <a:rPr lang="en"/>
              <a:t>occurred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Workload Analysis approach assumes total access to the system, generally requiring the use of profiling tools on the System Under Test and instrumentation of the implementation.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approach focuses on </a:t>
            </a:r>
            <a:r>
              <a:rPr lang="en"/>
              <a:t>developing</a:t>
            </a:r>
            <a:r>
              <a:rPr lang="en"/>
              <a:t> a `grey box’ approach, where we place no limitations on the system under test, but rather focus on the design of datasets and tasks that will </a:t>
            </a:r>
            <a:r>
              <a:rPr lang="en"/>
              <a:t>stimulate bottleneck behaviours. Based on the observed input, output pairings, we can make inferences about the presence or absence of bottlenecks. In part this is based on the realization that the `data dependence’ of graph processing can actually be exploited for our benefit, rather than being a confounding variable in our analysis.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grey box approach offers us a mechanism to understand the </a:t>
            </a:r>
            <a:r>
              <a:rPr i="1" lang="en"/>
              <a:t>how</a:t>
            </a:r>
            <a:r>
              <a:rPr lang="en"/>
              <a:t> and </a:t>
            </a:r>
            <a:r>
              <a:rPr i="1" lang="en"/>
              <a:t>why</a:t>
            </a:r>
            <a:r>
              <a:rPr lang="en"/>
              <a:t> of observed performance without needing invasive system access, freeing up system designers to use bespoke architectures, hardware and operating systems that may not otherwise be compatible with any instrumentation package.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cc1c7ab77f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cc1c7ab77f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Define a benchmark. </a:t>
            </a:r>
            <a:endParaRPr/>
          </a:p>
          <a:p>
            <a:pPr indent="-298450" lvl="0" marL="457200" rtl="0" algn="l">
              <a:spcBef>
                <a:spcPts val="0"/>
              </a:spcBef>
              <a:spcAft>
                <a:spcPts val="0"/>
              </a:spcAft>
              <a:buSzPts val="1100"/>
              <a:buAutoNum type="arabicPeriod"/>
            </a:pPr>
            <a:r>
              <a:rPr lang="en"/>
              <a:t>Explain typical benchmark components [Abstract = Datasets, Tasks and Metrics] [Concrete = hardware, OS and Implementation]</a:t>
            </a:r>
            <a:endParaRPr/>
          </a:p>
          <a:p>
            <a:pPr indent="-298450" lvl="0" marL="457200" rtl="0" algn="l">
              <a:spcBef>
                <a:spcPts val="0"/>
              </a:spcBef>
              <a:spcAft>
                <a:spcPts val="0"/>
              </a:spcAft>
              <a:buSzPts val="1100"/>
              <a:buAutoNum type="arabicPeriod"/>
            </a:pPr>
            <a:r>
              <a:rPr lang="en"/>
              <a:t>Explain we want to be able to fix some components and vary the others to experiment with which combination gives us the best performance.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That’s what gives us the need for the GraphAI Benchmark Frameworks.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A framework for All GraphAI problems. </a:t>
            </a:r>
            <a:endParaRPr/>
          </a:p>
          <a:p>
            <a:pPr indent="-298450" lvl="0" marL="457200" rtl="0" algn="l">
              <a:spcBef>
                <a:spcPts val="0"/>
              </a:spcBef>
              <a:spcAft>
                <a:spcPts val="0"/>
              </a:spcAft>
              <a:buSzPts val="1100"/>
              <a:buChar char="-"/>
            </a:pPr>
            <a:r>
              <a:rPr lang="en"/>
              <a:t>The framework consists of many independent benchmark </a:t>
            </a:r>
            <a:r>
              <a:rPr i="1" lang="en"/>
              <a:t>problems</a:t>
            </a:r>
            <a:r>
              <a:rPr lang="en"/>
              <a:t>. Each problem has a collection of tasks and datasets. </a:t>
            </a:r>
            <a:endParaRPr/>
          </a:p>
          <a:p>
            <a:pPr indent="-298450" lvl="0" marL="457200" rtl="0" algn="l">
              <a:spcBef>
                <a:spcPts val="0"/>
              </a:spcBef>
              <a:spcAft>
                <a:spcPts val="0"/>
              </a:spcAft>
              <a:buSzPts val="1100"/>
              <a:buChar char="-"/>
            </a:pPr>
            <a:r>
              <a:rPr lang="en"/>
              <a:t>For each problem, many approaches can be tried; one of those approaches is the combination of a System and Implementation; where the system might be accelerated and the implementation can be any abstraction, representation and any combination of systems and implementations can exist. </a:t>
            </a:r>
            <a:endParaRPr/>
          </a:p>
          <a:p>
            <a:pPr indent="-298450" lvl="0" marL="457200" rtl="0" algn="l">
              <a:spcBef>
                <a:spcPts val="0"/>
              </a:spcBef>
              <a:spcAft>
                <a:spcPts val="0"/>
              </a:spcAft>
              <a:buSzPts val="1100"/>
              <a:buChar char="-"/>
            </a:pPr>
            <a:r>
              <a:rPr lang="en"/>
              <a:t>A </a:t>
            </a:r>
            <a:r>
              <a:rPr lang="en"/>
              <a:t>single</a:t>
            </a:r>
            <a:r>
              <a:rPr lang="en"/>
              <a:t> observation apparatus stimulates the </a:t>
            </a:r>
            <a:r>
              <a:rPr lang="en"/>
              <a:t>systems</a:t>
            </a:r>
            <a:r>
              <a:rPr lang="en"/>
              <a:t> under test and collects the metrics.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benchmark can evaluate the relative performance of systems, by applying multiple systems to the same problem (or problems). </a:t>
            </a:r>
            <a:endParaRPr/>
          </a:p>
          <a:p>
            <a:pPr indent="0" lvl="0" marL="0" rtl="0" algn="l">
              <a:spcBef>
                <a:spcPts val="0"/>
              </a:spcBef>
              <a:spcAft>
                <a:spcPts val="0"/>
              </a:spcAft>
              <a:buNone/>
            </a:pPr>
            <a:r>
              <a:rPr lang="en"/>
              <a:t>It also </a:t>
            </a:r>
            <a:r>
              <a:rPr lang="en"/>
              <a:t>allows for the strengths and weaknesses of a system to be explored, by running a single system against all problems.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importantly, the design of the benchmark allows us to experimentally vary components and trade-off between the efficiency and effectiveness to find the optimal system to meet all of our use cases.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cc1c7ab77f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cc1c7ab77f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We want to balance the </a:t>
            </a:r>
            <a:r>
              <a:rPr lang="en"/>
              <a:t>utility</a:t>
            </a:r>
            <a:r>
              <a:rPr lang="en"/>
              <a:t> of general-purpose benchmarks with the expressiveness of workload </a:t>
            </a:r>
            <a:r>
              <a:rPr lang="en"/>
              <a:t>analysis</a:t>
            </a:r>
            <a:r>
              <a:rPr lang="en"/>
              <a:t> without incurring the invasive overheads.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Approach: We use an </a:t>
            </a:r>
            <a:r>
              <a:rPr i="1" lang="en"/>
              <a:t>empirical</a:t>
            </a:r>
            <a:r>
              <a:rPr lang="en"/>
              <a:t> approach and aim to design a </a:t>
            </a:r>
            <a:r>
              <a:rPr i="1" lang="en"/>
              <a:t>constraint-based</a:t>
            </a:r>
            <a:r>
              <a:rPr lang="en"/>
              <a:t> benchmark.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Explain The diagram: </a:t>
            </a:r>
            <a:endParaRPr/>
          </a:p>
          <a:p>
            <a:pPr indent="-298450" lvl="0" marL="457200" rtl="0" algn="l">
              <a:spcBef>
                <a:spcPts val="0"/>
              </a:spcBef>
              <a:spcAft>
                <a:spcPts val="0"/>
              </a:spcAft>
              <a:buSzPts val="1100"/>
              <a:buChar char="-"/>
            </a:pPr>
            <a:r>
              <a:rPr lang="en"/>
              <a:t>Black is each step. </a:t>
            </a:r>
            <a:endParaRPr/>
          </a:p>
          <a:p>
            <a:pPr indent="-298450" lvl="1" marL="914400" rtl="0" algn="l">
              <a:spcBef>
                <a:spcPts val="0"/>
              </a:spcBef>
              <a:spcAft>
                <a:spcPts val="0"/>
              </a:spcAft>
              <a:buSzPts val="1100"/>
              <a:buChar char="-"/>
            </a:pPr>
            <a:r>
              <a:rPr lang="en"/>
              <a:t>Circles are </a:t>
            </a:r>
            <a:r>
              <a:rPr lang="en"/>
              <a:t>questions</a:t>
            </a:r>
            <a:r>
              <a:rPr lang="en"/>
              <a:t> to focus work</a:t>
            </a:r>
            <a:endParaRPr/>
          </a:p>
          <a:p>
            <a:pPr indent="-298450" lvl="1" marL="914400" rtl="0" algn="l">
              <a:spcBef>
                <a:spcPts val="0"/>
              </a:spcBef>
              <a:spcAft>
                <a:spcPts val="0"/>
              </a:spcAft>
              <a:buSzPts val="1100"/>
              <a:buChar char="-"/>
            </a:pPr>
            <a:r>
              <a:rPr lang="en"/>
              <a:t>Below the line are questions to focus output</a:t>
            </a:r>
            <a:endParaRPr/>
          </a:p>
          <a:p>
            <a:pPr indent="-298450" lvl="0" marL="457200" rtl="0" algn="l">
              <a:spcBef>
                <a:spcPts val="0"/>
              </a:spcBef>
              <a:spcAft>
                <a:spcPts val="0"/>
              </a:spcAft>
              <a:buSzPts val="1100"/>
              <a:buChar char="-"/>
            </a:pPr>
            <a:r>
              <a:rPr lang="en"/>
              <a:t>Coloured components are the components of a benchmark that get built. </a:t>
            </a:r>
            <a:endParaRPr/>
          </a:p>
          <a:p>
            <a:pPr indent="-298450" lvl="1" marL="914400" rtl="0" algn="l">
              <a:spcBef>
                <a:spcPts val="0"/>
              </a:spcBef>
              <a:spcAft>
                <a:spcPts val="0"/>
              </a:spcAft>
              <a:buSzPts val="1100"/>
              <a:buChar char="-"/>
            </a:pPr>
            <a:r>
              <a:rPr lang="en"/>
              <a:t>NOTE1. The arrows show how each step contributes. </a:t>
            </a:r>
            <a:endParaRPr/>
          </a:p>
          <a:p>
            <a:pPr indent="-298450" lvl="1" marL="914400" rtl="0" algn="l">
              <a:spcBef>
                <a:spcPts val="0"/>
              </a:spcBef>
              <a:spcAft>
                <a:spcPts val="0"/>
              </a:spcAft>
              <a:buSzPts val="1100"/>
              <a:buChar char="-"/>
            </a:pPr>
            <a:r>
              <a:rPr lang="en"/>
              <a:t>NOTE2. We define the </a:t>
            </a:r>
            <a:r>
              <a:rPr i="1" lang="en"/>
              <a:t>abstract</a:t>
            </a:r>
            <a:r>
              <a:rPr lang="en"/>
              <a:t> components, not the </a:t>
            </a:r>
            <a:r>
              <a:rPr i="1" lang="en"/>
              <a:t>concrete</a:t>
            </a:r>
            <a:r>
              <a:rPr lang="en"/>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cc1c7ab77f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cc1c7ab77f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cc92deeaf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cc92deeaf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cc1c7ab77f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cc1c7ab77f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t>
            </a:r>
            <a:r>
              <a:rPr lang="en"/>
              <a:t>surveyed</a:t>
            </a:r>
            <a:r>
              <a:rPr lang="en"/>
              <a:t> existing work in GraphAI in the intelligence and Security domain and select Demographic (population) segmentation as a suitable GraphAI Problem.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cc1c7ab77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cc1c7ab77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Population </a:t>
            </a:r>
            <a:r>
              <a:rPr lang="en"/>
              <a:t>segmentation</a:t>
            </a:r>
            <a:r>
              <a:rPr lang="en"/>
              <a:t> requires an organization to partition a given population into segments based on some criteria like political alignment, age, wealth etc.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used heavily in civil-military cooperation tasks, information operations and in the civilian context, marketing.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cc1c7ab77f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cc1c7ab77f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Existing benchmarks can show how different </a:t>
            </a:r>
            <a:r>
              <a:rPr lang="en"/>
              <a:t>partitioning</a:t>
            </a:r>
            <a:r>
              <a:rPr lang="en"/>
              <a:t> </a:t>
            </a:r>
            <a:r>
              <a:rPr lang="en"/>
              <a:t>approaches or different clustering approaches work; but they lack the general ‘problem’ focus we offer here. We can compare all these different ways of approaching the problem against each other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cc1c7ab77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cc1c7ab77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 problems that are `general specifications’ rather than specific Kernels.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problem is framed as a natural language question, and specifies the return type.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generality allows the SUT to use whatever method it likes to solve a problem.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problem 7 could be solved with graph partitioning, graph clustering, label </a:t>
            </a:r>
            <a:r>
              <a:rPr lang="en"/>
              <a:t>propagation</a:t>
            </a:r>
            <a:r>
              <a:rPr lang="en"/>
              <a:t> or random guessing.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only care about how </a:t>
            </a:r>
            <a:r>
              <a:rPr i="1" lang="en"/>
              <a:t>quickly</a:t>
            </a:r>
            <a:r>
              <a:rPr lang="en"/>
              <a:t> and how </a:t>
            </a:r>
            <a:r>
              <a:rPr i="1" lang="en"/>
              <a:t>well</a:t>
            </a:r>
            <a:r>
              <a:rPr lang="en"/>
              <a:t> the answer is provided.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cc1c7ab77f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cc1c7ab77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cc1c7ab77f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cc1c7ab77f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examine prior work in Community Detection (collection of work most closely related to population segmentation) and identify the efficiency and effectiveness bottlenecks that will inform our dataset design.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cc1c7ab77f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cc1c7ab77f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find these features of datasets that will yield the most interesting datasets.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cc1c7ab77f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cc1c7ab77f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Hypotheses are </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Hypotheses effectively formalize the mapping from input data to output characteristics and describe the nature of the bottleneck we expect to exist in a SUT if we observe a given input/output pair in the experimental results. For each hypothesis, we consider what system characteristic or bottleneck we want to stimulate and build a hypothesis about how to shape the </a:t>
            </a:r>
            <a:r>
              <a:rPr i="1" lang="en" sz="1200">
                <a:solidFill>
                  <a:schemeClr val="dk1"/>
                </a:solidFill>
              </a:rPr>
              <a:t>input </a:t>
            </a:r>
            <a:r>
              <a:rPr lang="en" sz="1200">
                <a:solidFill>
                  <a:schemeClr val="dk1"/>
                </a:solidFill>
              </a:rPr>
              <a:t>to trigger an observable change in the </a:t>
            </a:r>
            <a:r>
              <a:rPr i="1" lang="en" sz="1200">
                <a:solidFill>
                  <a:schemeClr val="dk1"/>
                </a:solidFill>
              </a:rPr>
              <a:t>output </a:t>
            </a:r>
            <a:r>
              <a:rPr lang="en" sz="1200">
                <a:solidFill>
                  <a:schemeClr val="dk1"/>
                </a:solidFill>
              </a:rPr>
              <a:t>compared to some </a:t>
            </a:r>
            <a:r>
              <a:rPr i="1" lang="en" sz="1200">
                <a:solidFill>
                  <a:schemeClr val="dk1"/>
                </a:solidFill>
              </a:rPr>
              <a:t>baseline </a:t>
            </a:r>
            <a:r>
              <a:rPr lang="en" sz="1200">
                <a:solidFill>
                  <a:schemeClr val="dk1"/>
                </a:solidFill>
              </a:rPr>
              <a:t>of performance.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cc1c7ab77f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cc1c7ab77f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Observation Apparatus follows an Input-Output model to maximise the freedom of the SUT.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grey box indicates the `Polling Period’. During this time the BS periodically asks the SUT for interim results. By collecting the interim results over time we can see which approaches can trade effectiveness for efficiency, and how the quality of results changes over time.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ce547e51a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ce547e51a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collect datasets to stimulate the efficiency and effectiveness limits of SUTs.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Karate, Cisco, </a:t>
            </a:r>
            <a:r>
              <a:rPr lang="en"/>
              <a:t>Email</a:t>
            </a:r>
            <a:r>
              <a:rPr lang="en"/>
              <a:t>, Wiki-Topcats, Orkut and Friendster are all scale-free networks Sourced from the Stanford Large Network Data Repository.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OSM datasets were generated by us, to contribute real-world mesh datasets based on road maps with ground-truth multi-level community </a:t>
            </a:r>
            <a:r>
              <a:rPr lang="en"/>
              <a:t>labels based on the city and country membership.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select the size thresholds as follows: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b="1" lang="en"/>
              <a:t>Tiny</a:t>
            </a:r>
            <a:r>
              <a:rPr lang="en"/>
              <a:t>: Can be held entirely in the Cache of a median commercial system. </a:t>
            </a:r>
            <a:endParaRPr/>
          </a:p>
          <a:p>
            <a:pPr indent="-298450" lvl="0" marL="457200" rtl="0" algn="l">
              <a:spcBef>
                <a:spcPts val="0"/>
              </a:spcBef>
              <a:spcAft>
                <a:spcPts val="0"/>
              </a:spcAft>
              <a:buSzPts val="1100"/>
              <a:buAutoNum type="arabicPeriod"/>
            </a:pPr>
            <a:r>
              <a:rPr b="1" lang="en"/>
              <a:t>Small</a:t>
            </a:r>
            <a:r>
              <a:rPr lang="en"/>
              <a:t>: Can Be held in the memory of a median personal computer. </a:t>
            </a:r>
            <a:endParaRPr/>
          </a:p>
          <a:p>
            <a:pPr indent="-298450" lvl="0" marL="457200" rtl="0" algn="l">
              <a:spcBef>
                <a:spcPts val="0"/>
              </a:spcBef>
              <a:spcAft>
                <a:spcPts val="0"/>
              </a:spcAft>
              <a:buSzPts val="1100"/>
              <a:buAutoNum type="arabicPeriod"/>
            </a:pPr>
            <a:r>
              <a:rPr b="1" lang="en"/>
              <a:t>Medium</a:t>
            </a:r>
            <a:r>
              <a:rPr lang="en"/>
              <a:t>: Can be held in the memory of a median commercial system </a:t>
            </a:r>
            <a:endParaRPr/>
          </a:p>
          <a:p>
            <a:pPr indent="-298450" lvl="0" marL="457200" rtl="0" algn="l">
              <a:spcBef>
                <a:spcPts val="0"/>
              </a:spcBef>
              <a:spcAft>
                <a:spcPts val="0"/>
              </a:spcAft>
              <a:buSzPts val="1100"/>
              <a:buAutoNum type="arabicPeriod"/>
            </a:pPr>
            <a:r>
              <a:rPr b="1" lang="en"/>
              <a:t>Large</a:t>
            </a:r>
            <a:r>
              <a:rPr lang="en"/>
              <a:t>:  Can be held in the memory of a high-end commercial system</a:t>
            </a:r>
            <a:endParaRPr/>
          </a:p>
          <a:p>
            <a:pPr indent="-298450" lvl="0" marL="457200" rtl="0" algn="l">
              <a:spcBef>
                <a:spcPts val="0"/>
              </a:spcBef>
              <a:spcAft>
                <a:spcPts val="0"/>
              </a:spcAft>
              <a:buSzPts val="1100"/>
              <a:buAutoNum type="arabicPeriod"/>
            </a:pPr>
            <a:r>
              <a:rPr b="1" lang="en"/>
              <a:t>Huge</a:t>
            </a:r>
            <a:r>
              <a:rPr lang="en"/>
              <a:t>: Larger than what can be held in the memory of most high-end commercial systems; should require distributed computing.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cc1c7ab77f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cc1c7ab77f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experiments are configures as follows.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three systems under tests.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SUT1. </a:t>
            </a:r>
            <a:r>
              <a:rPr lang="en"/>
              <a:t>The `Baseline’ is a `personal computer’ used to represent the current prototype capability that the team in the case study is trying to evolve from.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SUT2. </a:t>
            </a:r>
            <a:r>
              <a:rPr lang="en"/>
              <a:t>A HPC Cluster running a single socket CPU.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SUT3. </a:t>
            </a:r>
            <a:r>
              <a:rPr lang="en"/>
              <a:t>A HPC Cluster with an NVIDIA RTXA5000 GPU.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implementations are tested on each - A `one shot’ community detection approach and a `iterative’ community detection approach. Both are implemented in the NetworkX library.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cc1c7ab77f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cc1c7ab77f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cc92deeafa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cc92deeafa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cd11199d2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cd11199d2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cd11199d2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cd11199d2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cd11199d2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cd11199d2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cd11199d2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cd11199d2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cc92deeaf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cc92deeaf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cc1c7ab77f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cc1c7ab77f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AutoNum type="arabicPeriod"/>
            </a:pPr>
            <a:r>
              <a:rPr b="1" lang="en" sz="1800">
                <a:solidFill>
                  <a:srgbClr val="595959"/>
                </a:solidFill>
              </a:rPr>
              <a:t>Surveys</a:t>
            </a:r>
            <a:r>
              <a:rPr lang="en" sz="1800">
                <a:solidFill>
                  <a:srgbClr val="595959"/>
                </a:solidFill>
              </a:rPr>
              <a:t> of GraphAI; I&amp;S Problems in GraphAI,; GraphAI Benchmarking Approaches; GraphAI Bottlenecks and Acceleration Techniques &amp; Community Detection Benchmarks</a:t>
            </a:r>
            <a:endParaRPr sz="1800">
              <a:solidFill>
                <a:srgbClr val="595959"/>
              </a:solidFill>
            </a:endParaRPr>
          </a:p>
          <a:p>
            <a:pPr indent="-342900" lvl="0" marL="457200" rtl="0" algn="l">
              <a:lnSpc>
                <a:spcPct val="115000"/>
              </a:lnSpc>
              <a:spcBef>
                <a:spcPts val="0"/>
              </a:spcBef>
              <a:spcAft>
                <a:spcPts val="0"/>
              </a:spcAft>
              <a:buClr>
                <a:srgbClr val="595959"/>
              </a:buClr>
              <a:buSzPts val="1800"/>
              <a:buAutoNum type="arabicPeriod"/>
            </a:pPr>
            <a:r>
              <a:rPr lang="en" sz="1800">
                <a:solidFill>
                  <a:srgbClr val="595959"/>
                </a:solidFill>
              </a:rPr>
              <a:t>A</a:t>
            </a:r>
            <a:r>
              <a:rPr b="1" lang="en" sz="1800">
                <a:solidFill>
                  <a:srgbClr val="595959"/>
                </a:solidFill>
              </a:rPr>
              <a:t> Methodology </a:t>
            </a:r>
            <a:r>
              <a:rPr lang="en" sz="1800">
                <a:solidFill>
                  <a:srgbClr val="595959"/>
                </a:solidFill>
              </a:rPr>
              <a:t>For empirically developing GraphAI problems for the benchmark Framework.</a:t>
            </a:r>
            <a:endParaRPr sz="1800">
              <a:solidFill>
                <a:srgbClr val="595959"/>
              </a:solidFill>
            </a:endParaRPr>
          </a:p>
          <a:p>
            <a:pPr indent="-342900" lvl="0" marL="457200" rtl="0" algn="l">
              <a:lnSpc>
                <a:spcPct val="115000"/>
              </a:lnSpc>
              <a:spcBef>
                <a:spcPts val="0"/>
              </a:spcBef>
              <a:spcAft>
                <a:spcPts val="0"/>
              </a:spcAft>
              <a:buClr>
                <a:srgbClr val="595959"/>
              </a:buClr>
              <a:buSzPts val="1800"/>
              <a:buAutoNum type="arabicPeriod"/>
            </a:pPr>
            <a:r>
              <a:rPr b="1" lang="en" sz="1800">
                <a:solidFill>
                  <a:srgbClr val="595959"/>
                </a:solidFill>
              </a:rPr>
              <a:t>Datasets</a:t>
            </a:r>
            <a:r>
              <a:rPr lang="en" sz="1800">
                <a:solidFill>
                  <a:srgbClr val="595959"/>
                </a:solidFill>
              </a:rPr>
              <a:t> and a </a:t>
            </a:r>
            <a:r>
              <a:rPr b="1" lang="en" sz="1800">
                <a:solidFill>
                  <a:srgbClr val="595959"/>
                </a:solidFill>
              </a:rPr>
              <a:t>tool</a:t>
            </a:r>
            <a:r>
              <a:rPr lang="en" sz="1800">
                <a:solidFill>
                  <a:srgbClr val="595959"/>
                </a:solidFill>
              </a:rPr>
              <a:t> for creating real-world attributed, weighted directed graphs with ground truth communities from OpenStreetMap data. </a:t>
            </a:r>
            <a:endParaRPr sz="1800">
              <a:solidFill>
                <a:srgbClr val="595959"/>
              </a:solidFill>
            </a:endParaRPr>
          </a:p>
          <a:p>
            <a:pPr indent="-342900" lvl="0" marL="457200" rtl="0" algn="l">
              <a:lnSpc>
                <a:spcPct val="115000"/>
              </a:lnSpc>
              <a:spcBef>
                <a:spcPts val="0"/>
              </a:spcBef>
              <a:spcAft>
                <a:spcPts val="0"/>
              </a:spcAft>
              <a:buClr>
                <a:srgbClr val="595959"/>
              </a:buClr>
              <a:buSzPts val="1800"/>
              <a:buAutoNum type="arabicPeriod"/>
            </a:pPr>
            <a:r>
              <a:rPr lang="en" sz="1800">
                <a:solidFill>
                  <a:srgbClr val="595959"/>
                </a:solidFill>
              </a:rPr>
              <a:t>A </a:t>
            </a:r>
            <a:r>
              <a:rPr b="1" lang="en" sz="1800">
                <a:solidFill>
                  <a:srgbClr val="595959"/>
                </a:solidFill>
              </a:rPr>
              <a:t>Benchmark Problem</a:t>
            </a:r>
            <a:r>
              <a:rPr lang="en" sz="1800">
                <a:solidFill>
                  <a:srgbClr val="595959"/>
                </a:solidFill>
              </a:rPr>
              <a:t> and implementation for Population Segmentation.</a:t>
            </a:r>
            <a:endParaRPr sz="1800">
              <a:solidFill>
                <a:srgbClr val="595959"/>
              </a:solidFill>
            </a:endParaRPr>
          </a:p>
          <a:p>
            <a:pPr indent="-342900" lvl="0" marL="457200" rtl="0" algn="l">
              <a:lnSpc>
                <a:spcPct val="115000"/>
              </a:lnSpc>
              <a:spcBef>
                <a:spcPts val="0"/>
              </a:spcBef>
              <a:spcAft>
                <a:spcPts val="0"/>
              </a:spcAft>
              <a:buClr>
                <a:srgbClr val="595959"/>
              </a:buClr>
              <a:buSzPts val="1800"/>
              <a:buAutoNum type="arabicPeriod"/>
            </a:pPr>
            <a:r>
              <a:rPr lang="en" sz="1800">
                <a:solidFill>
                  <a:srgbClr val="595959"/>
                </a:solidFill>
              </a:rPr>
              <a:t>A brief </a:t>
            </a:r>
            <a:r>
              <a:rPr b="1" lang="en" sz="1800">
                <a:solidFill>
                  <a:srgbClr val="595959"/>
                </a:solidFill>
              </a:rPr>
              <a:t>Evaluation</a:t>
            </a:r>
            <a:r>
              <a:rPr lang="en" sz="1800">
                <a:solidFill>
                  <a:srgbClr val="595959"/>
                </a:solidFill>
              </a:rPr>
              <a:t> of the Efficiency/Effectiveness tradeoffs between two NetworkX community detection implementations.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cc1c7ab77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cc1c7ab77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3.png"/><Relationship Id="rId4" Type="http://schemas.openxmlformats.org/officeDocument/2006/relationships/hyperlink" Target="https://www.researchgate.net/figure/Communication-network-diagram-between-construction-units-concerned_fig2_261094786" TargetMode="External"/><Relationship Id="rId5" Type="http://schemas.openxmlformats.org/officeDocument/2006/relationships/hyperlink" Target="https://journalofbigdata.springeropen.com/articles/10.1186/s40537-019-0264-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3.png"/><Relationship Id="rId4" Type="http://schemas.openxmlformats.org/officeDocument/2006/relationships/image" Target="../media/image8.png"/><Relationship Id="rId5" Type="http://schemas.openxmlformats.org/officeDocument/2006/relationships/hyperlink" Target="https://www.researchgate.net/figure/Communication-network-diagram-between-construction-units-concerned_fig2_261094786" TargetMode="External"/><Relationship Id="rId6" Type="http://schemas.openxmlformats.org/officeDocument/2006/relationships/hyperlink" Target="https://journalofbigdata.springeropen.com/articles/10.1186/s40537-019-0264-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https://www.researchgate.net/figure/Communication-network-diagram-between-construction-units-concerned_fig2_261094786" TargetMode="External"/><Relationship Id="rId6" Type="http://schemas.openxmlformats.org/officeDocument/2006/relationships/hyperlink" Target="https://journalofbigdata.springeropen.com/articles/10.1186/s40537-019-0264-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hyperlink" Target="https://www.youtube.com/watch?v=JheGL6uSF-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jpg"/><Relationship Id="rId4" Type="http://schemas.openxmlformats.org/officeDocument/2006/relationships/image" Target="../media/image34.jp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hyperlink" Target="https://chenxuhao.github.io/graphAI.html" TargetMode="External"/><Relationship Id="rId10" Type="http://schemas.openxmlformats.org/officeDocument/2006/relationships/image" Target="../media/image20.png"/><Relationship Id="rId9"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8.png"/><Relationship Id="rId9"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7.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1.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40.png"/><Relationship Id="rId6"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18.png"/><Relationship Id="rId9"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mailto:osullik@umd.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 Framework For Benchmarking Graph Based Artificial Intelligence </a:t>
            </a:r>
            <a:endParaRPr/>
          </a:p>
        </p:txBody>
      </p:sp>
      <p:sp>
        <p:nvSpPr>
          <p:cNvPr id="55" name="Google Shape;55;p13"/>
          <p:cNvSpPr txBox="1"/>
          <p:nvPr>
            <p:ph idx="1" type="subTitle"/>
          </p:nvPr>
        </p:nvSpPr>
        <p:spPr>
          <a:xfrm>
            <a:off x="311700" y="2957175"/>
            <a:ext cx="8520600" cy="1805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b="1" lang="en"/>
              <a:t>Thesis Defence</a:t>
            </a:r>
            <a:endParaRPr b="1"/>
          </a:p>
          <a:p>
            <a:pPr indent="0" lvl="0" marL="0" rtl="0" algn="ctr">
              <a:spcBef>
                <a:spcPts val="0"/>
              </a:spcBef>
              <a:spcAft>
                <a:spcPts val="0"/>
              </a:spcAft>
              <a:buNone/>
            </a:pPr>
            <a:r>
              <a:rPr b="1" lang="en"/>
              <a:t>Kent O’Sullivan</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sz="1800"/>
              <a:t>Advisor: Prof Bill Regli</a:t>
            </a:r>
            <a:endParaRPr b="1" sz="1800"/>
          </a:p>
          <a:p>
            <a:pPr indent="0" lvl="0" marL="0" rtl="0" algn="ctr">
              <a:spcBef>
                <a:spcPts val="0"/>
              </a:spcBef>
              <a:spcAft>
                <a:spcPts val="0"/>
              </a:spcAft>
              <a:buNone/>
            </a:pPr>
            <a:r>
              <a:rPr b="1" lang="en" sz="1800"/>
              <a:t>17 Apr 24</a:t>
            </a:r>
            <a:endParaRPr b="1"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Framework for GraphAI Benchmarking</a:t>
            </a:r>
            <a:endParaRPr/>
          </a:p>
        </p:txBody>
      </p:sp>
      <p:sp>
        <p:nvSpPr>
          <p:cNvPr id="61" name="Google Shape;61;p14"/>
          <p:cNvSpPr txBox="1"/>
          <p:nvPr/>
        </p:nvSpPr>
        <p:spPr>
          <a:xfrm>
            <a:off x="455775" y="35364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GraphAI</a:t>
            </a:r>
            <a:endParaRPr sz="1600">
              <a:solidFill>
                <a:schemeClr val="dk1"/>
              </a:solidFill>
            </a:endParaRPr>
          </a:p>
          <a:p>
            <a:pPr indent="0" lvl="0" marL="0" rtl="0" algn="ctr">
              <a:spcBef>
                <a:spcPts val="0"/>
              </a:spcBef>
              <a:spcAft>
                <a:spcPts val="0"/>
              </a:spcAft>
              <a:buNone/>
            </a:pPr>
            <a:r>
              <a:rPr lang="en" sz="1600">
                <a:solidFill>
                  <a:schemeClr val="dk1"/>
                </a:solidFill>
              </a:rPr>
              <a:t>Taxonomy</a:t>
            </a:r>
            <a:endParaRPr sz="1600">
              <a:solidFill>
                <a:schemeClr val="dk1"/>
              </a:solidFill>
            </a:endParaRPr>
          </a:p>
        </p:txBody>
      </p:sp>
      <p:sp>
        <p:nvSpPr>
          <p:cNvPr id="62" name="Google Shape;62;p14"/>
          <p:cNvSpPr txBox="1"/>
          <p:nvPr/>
        </p:nvSpPr>
        <p:spPr>
          <a:xfrm>
            <a:off x="2708078" y="35364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Benchmark</a:t>
            </a:r>
            <a:endParaRPr sz="1600">
              <a:solidFill>
                <a:schemeClr val="dk1"/>
              </a:solidFill>
            </a:endParaRPr>
          </a:p>
          <a:p>
            <a:pPr indent="0" lvl="0" marL="0" rtl="0" algn="ctr">
              <a:spcBef>
                <a:spcPts val="0"/>
              </a:spcBef>
              <a:spcAft>
                <a:spcPts val="0"/>
              </a:spcAft>
              <a:buNone/>
            </a:pPr>
            <a:r>
              <a:rPr lang="en" sz="1600">
                <a:solidFill>
                  <a:schemeClr val="dk1"/>
                </a:solidFill>
              </a:rPr>
              <a:t>Methodology</a:t>
            </a:r>
            <a:endParaRPr sz="1600">
              <a:solidFill>
                <a:schemeClr val="dk1"/>
              </a:solidFill>
            </a:endParaRPr>
          </a:p>
        </p:txBody>
      </p:sp>
      <p:sp>
        <p:nvSpPr>
          <p:cNvPr id="63" name="Google Shape;63;p14"/>
          <p:cNvSpPr txBox="1"/>
          <p:nvPr/>
        </p:nvSpPr>
        <p:spPr>
          <a:xfrm>
            <a:off x="4960373" y="35364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Population Segmentation</a:t>
            </a:r>
            <a:endParaRPr sz="1600">
              <a:solidFill>
                <a:schemeClr val="dk1"/>
              </a:solidFill>
            </a:endParaRPr>
          </a:p>
          <a:p>
            <a:pPr indent="0" lvl="0" marL="0" rtl="0" algn="ctr">
              <a:spcBef>
                <a:spcPts val="0"/>
              </a:spcBef>
              <a:spcAft>
                <a:spcPts val="0"/>
              </a:spcAft>
              <a:buNone/>
            </a:pPr>
            <a:r>
              <a:rPr lang="en" sz="1600">
                <a:solidFill>
                  <a:schemeClr val="dk1"/>
                </a:solidFill>
              </a:rPr>
              <a:t>Benchmark</a:t>
            </a:r>
            <a:endParaRPr sz="1600">
              <a:solidFill>
                <a:schemeClr val="dk1"/>
              </a:solidFill>
            </a:endParaRPr>
          </a:p>
        </p:txBody>
      </p:sp>
      <p:sp>
        <p:nvSpPr>
          <p:cNvPr id="64" name="Google Shape;64;p14"/>
          <p:cNvSpPr txBox="1"/>
          <p:nvPr/>
        </p:nvSpPr>
        <p:spPr>
          <a:xfrm>
            <a:off x="7223550" y="35364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Effectiveness/</a:t>
            </a:r>
            <a:r>
              <a:rPr lang="en" sz="1600">
                <a:solidFill>
                  <a:schemeClr val="dk1"/>
                </a:solidFill>
              </a:rPr>
              <a:t>Efficiency</a:t>
            </a:r>
            <a:r>
              <a:rPr lang="en" sz="1600">
                <a:solidFill>
                  <a:schemeClr val="dk1"/>
                </a:solidFill>
              </a:rPr>
              <a:t> Analysis</a:t>
            </a:r>
            <a:endParaRPr sz="1600">
              <a:solidFill>
                <a:schemeClr val="dk1"/>
              </a:solidFill>
            </a:endParaRPr>
          </a:p>
        </p:txBody>
      </p:sp>
      <p:sp>
        <p:nvSpPr>
          <p:cNvPr id="65" name="Google Shape;65;p14"/>
          <p:cNvSpPr txBox="1"/>
          <p:nvPr/>
        </p:nvSpPr>
        <p:spPr>
          <a:xfrm>
            <a:off x="444875" y="1178100"/>
            <a:ext cx="825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The core contributions of this research are:</a:t>
            </a:r>
            <a:endParaRPr sz="1800">
              <a:solidFill>
                <a:schemeClr val="dk1"/>
              </a:solidFill>
            </a:endParaRPr>
          </a:p>
        </p:txBody>
      </p:sp>
      <p:pic>
        <p:nvPicPr>
          <p:cNvPr id="66" name="Google Shape;66;p14"/>
          <p:cNvPicPr preferRelativeResize="0"/>
          <p:nvPr/>
        </p:nvPicPr>
        <p:blipFill>
          <a:blip r:embed="rId3">
            <a:alphaModFix/>
          </a:blip>
          <a:stretch>
            <a:fillRect/>
          </a:stretch>
        </p:blipFill>
        <p:spPr>
          <a:xfrm>
            <a:off x="444900" y="1930943"/>
            <a:ext cx="1475575" cy="1492932"/>
          </a:xfrm>
          <a:prstGeom prst="rect">
            <a:avLst/>
          </a:prstGeom>
          <a:noFill/>
          <a:ln>
            <a:noFill/>
          </a:ln>
        </p:spPr>
      </p:pic>
      <p:pic>
        <p:nvPicPr>
          <p:cNvPr id="67" name="Google Shape;67;p14"/>
          <p:cNvPicPr preferRelativeResize="0"/>
          <p:nvPr/>
        </p:nvPicPr>
        <p:blipFill>
          <a:blip r:embed="rId4">
            <a:alphaModFix/>
          </a:blip>
          <a:stretch>
            <a:fillRect/>
          </a:stretch>
        </p:blipFill>
        <p:spPr>
          <a:xfrm>
            <a:off x="2708100" y="1964738"/>
            <a:ext cx="1495987" cy="1513587"/>
          </a:xfrm>
          <a:prstGeom prst="rect">
            <a:avLst/>
          </a:prstGeom>
          <a:noFill/>
          <a:ln>
            <a:noFill/>
          </a:ln>
        </p:spPr>
      </p:pic>
      <p:pic>
        <p:nvPicPr>
          <p:cNvPr id="68" name="Google Shape;68;p14"/>
          <p:cNvPicPr preferRelativeResize="0"/>
          <p:nvPr/>
        </p:nvPicPr>
        <p:blipFill>
          <a:blip r:embed="rId5">
            <a:alphaModFix/>
          </a:blip>
          <a:stretch>
            <a:fillRect/>
          </a:stretch>
        </p:blipFill>
        <p:spPr>
          <a:xfrm>
            <a:off x="4991700" y="1973640"/>
            <a:ext cx="1433375" cy="1450235"/>
          </a:xfrm>
          <a:prstGeom prst="rect">
            <a:avLst/>
          </a:prstGeom>
          <a:noFill/>
          <a:ln>
            <a:noFill/>
          </a:ln>
        </p:spPr>
      </p:pic>
      <p:pic>
        <p:nvPicPr>
          <p:cNvPr id="69" name="Google Shape;69;p14"/>
          <p:cNvPicPr preferRelativeResize="0"/>
          <p:nvPr/>
        </p:nvPicPr>
        <p:blipFill>
          <a:blip r:embed="rId6">
            <a:alphaModFix/>
          </a:blip>
          <a:stretch>
            <a:fillRect/>
          </a:stretch>
        </p:blipFill>
        <p:spPr>
          <a:xfrm>
            <a:off x="7265725" y="1973637"/>
            <a:ext cx="1433375" cy="145023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5"/>
          <p:cNvPicPr preferRelativeResize="0"/>
          <p:nvPr/>
        </p:nvPicPr>
        <p:blipFill>
          <a:blip r:embed="rId3">
            <a:alphaModFix/>
          </a:blip>
          <a:stretch>
            <a:fillRect/>
          </a:stretch>
        </p:blipFill>
        <p:spPr>
          <a:xfrm>
            <a:off x="232625" y="767025"/>
            <a:ext cx="4110776" cy="3609439"/>
          </a:xfrm>
          <a:prstGeom prst="rect">
            <a:avLst/>
          </a:prstGeom>
          <a:noFill/>
          <a:ln>
            <a:noFill/>
          </a:ln>
        </p:spPr>
      </p:pic>
      <p:sp>
        <p:nvSpPr>
          <p:cNvPr id="75" name="Google Shape;75;p15"/>
          <p:cNvSpPr txBox="1"/>
          <p:nvPr/>
        </p:nvSpPr>
        <p:spPr>
          <a:xfrm>
            <a:off x="4540700" y="262675"/>
            <a:ext cx="439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This is </a:t>
            </a:r>
            <a:r>
              <a:rPr b="1" lang="en" sz="1600">
                <a:solidFill>
                  <a:schemeClr val="dk1"/>
                </a:solidFill>
              </a:rPr>
              <a:t>a graph</a:t>
            </a:r>
            <a:endParaRPr sz="1600">
              <a:solidFill>
                <a:schemeClr val="dk1"/>
              </a:solidFill>
            </a:endParaRPr>
          </a:p>
        </p:txBody>
      </p:sp>
      <p:sp>
        <p:nvSpPr>
          <p:cNvPr id="76" name="Google Shape;76;p15"/>
          <p:cNvSpPr txBox="1"/>
          <p:nvPr/>
        </p:nvSpPr>
        <p:spPr>
          <a:xfrm>
            <a:off x="4540700" y="724377"/>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Phones are </a:t>
            </a:r>
            <a:r>
              <a:rPr b="1" lang="en" sz="1600">
                <a:solidFill>
                  <a:schemeClr val="dk1"/>
                </a:solidFill>
              </a:rPr>
              <a:t>vertices</a:t>
            </a:r>
            <a:r>
              <a:rPr lang="en" sz="1600">
                <a:solidFill>
                  <a:schemeClr val="dk1"/>
                </a:solidFill>
              </a:rPr>
              <a:t> and calls </a:t>
            </a:r>
            <a:r>
              <a:rPr b="1" lang="en" sz="1600">
                <a:solidFill>
                  <a:schemeClr val="dk1"/>
                </a:solidFill>
              </a:rPr>
              <a:t>edges</a:t>
            </a:r>
            <a:endParaRPr b="1" sz="1600">
              <a:solidFill>
                <a:schemeClr val="dk1"/>
              </a:solidFill>
            </a:endParaRPr>
          </a:p>
        </p:txBody>
      </p:sp>
      <p:sp>
        <p:nvSpPr>
          <p:cNvPr id="77" name="Google Shape;77;p15"/>
          <p:cNvSpPr txBox="1"/>
          <p:nvPr/>
        </p:nvSpPr>
        <p:spPr>
          <a:xfrm>
            <a:off x="4540700" y="1186079"/>
            <a:ext cx="476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Graphs (&amp; GraphAI) </a:t>
            </a:r>
            <a:r>
              <a:rPr b="1" lang="en" sz="1600">
                <a:solidFill>
                  <a:schemeClr val="dk1"/>
                </a:solidFill>
              </a:rPr>
              <a:t>solve many problems</a:t>
            </a:r>
            <a:endParaRPr b="1" sz="1600">
              <a:solidFill>
                <a:schemeClr val="dk1"/>
              </a:solidFill>
            </a:endParaRPr>
          </a:p>
        </p:txBody>
      </p:sp>
      <p:sp>
        <p:nvSpPr>
          <p:cNvPr id="78" name="Google Shape;78;p15"/>
          <p:cNvSpPr txBox="1"/>
          <p:nvPr/>
        </p:nvSpPr>
        <p:spPr>
          <a:xfrm>
            <a:off x="-72300" y="4850400"/>
            <a:ext cx="495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
                <a:solidFill>
                  <a:srgbClr val="0000FF"/>
                </a:solidFill>
              </a:rPr>
              <a:t>Image Sources</a:t>
            </a:r>
            <a:endParaRPr b="1" sz="400">
              <a:solidFill>
                <a:srgbClr val="0000FF"/>
              </a:solidFill>
            </a:endParaRPr>
          </a:p>
          <a:p>
            <a:pPr indent="0" lvl="0" marL="0" rtl="0" algn="l">
              <a:spcBef>
                <a:spcPts val="0"/>
              </a:spcBef>
              <a:spcAft>
                <a:spcPts val="0"/>
              </a:spcAft>
              <a:buNone/>
            </a:pPr>
            <a:r>
              <a:rPr lang="en" sz="400" u="sng">
                <a:solidFill>
                  <a:srgbClr val="0000FF"/>
                </a:solidFill>
                <a:hlinkClick r:id="rId4">
                  <a:extLst>
                    <a:ext uri="{A12FA001-AC4F-418D-AE19-62706E023703}">
                      <ahyp:hlinkClr val="tx"/>
                    </a:ext>
                  </a:extLst>
                </a:hlinkClick>
              </a:rPr>
              <a:t>https://www.researchgate.net/figure/Communication-network-diagram-between-construction-units-concerned_fig2_261094786</a:t>
            </a:r>
            <a:r>
              <a:rPr lang="en" sz="400">
                <a:solidFill>
                  <a:srgbClr val="0000FF"/>
                </a:solidFill>
              </a:rPr>
              <a:t> </a:t>
            </a:r>
            <a:endParaRPr sz="400">
              <a:solidFill>
                <a:srgbClr val="0000FF"/>
              </a:solidFill>
            </a:endParaRPr>
          </a:p>
          <a:p>
            <a:pPr indent="0" lvl="0" marL="0" rtl="0" algn="l">
              <a:spcBef>
                <a:spcPts val="0"/>
              </a:spcBef>
              <a:spcAft>
                <a:spcPts val="0"/>
              </a:spcAft>
              <a:buNone/>
            </a:pPr>
            <a:r>
              <a:rPr lang="en" sz="400" u="sng">
                <a:solidFill>
                  <a:srgbClr val="0000FF"/>
                </a:solidFill>
                <a:hlinkClick r:id="rId5">
                  <a:extLst>
                    <a:ext uri="{A12FA001-AC4F-418D-AE19-62706E023703}">
                      <ahyp:hlinkClr val="tx"/>
                    </a:ext>
                  </a:extLst>
                </a:hlinkClick>
              </a:rPr>
              <a:t>https://journalofbigdata.springeropen.com/articles/10.1186/s40537-019-0264-6</a:t>
            </a:r>
            <a:r>
              <a:rPr lang="en" sz="400">
                <a:solidFill>
                  <a:srgbClr val="0000FF"/>
                </a:solidFill>
              </a:rPr>
              <a:t> </a:t>
            </a:r>
            <a:endParaRPr sz="4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6"/>
          <p:cNvPicPr preferRelativeResize="0"/>
          <p:nvPr/>
        </p:nvPicPr>
        <p:blipFill>
          <a:blip r:embed="rId3">
            <a:alphaModFix/>
          </a:blip>
          <a:stretch>
            <a:fillRect/>
          </a:stretch>
        </p:blipFill>
        <p:spPr>
          <a:xfrm>
            <a:off x="232625" y="767025"/>
            <a:ext cx="4110776" cy="3609439"/>
          </a:xfrm>
          <a:prstGeom prst="rect">
            <a:avLst/>
          </a:prstGeom>
          <a:noFill/>
          <a:ln>
            <a:noFill/>
          </a:ln>
        </p:spPr>
      </p:pic>
      <p:grpSp>
        <p:nvGrpSpPr>
          <p:cNvPr id="84" name="Google Shape;84;p16"/>
          <p:cNvGrpSpPr/>
          <p:nvPr/>
        </p:nvGrpSpPr>
        <p:grpSpPr>
          <a:xfrm>
            <a:off x="322950" y="762000"/>
            <a:ext cx="4164601" cy="3619500"/>
            <a:chOff x="434300" y="762000"/>
            <a:chExt cx="4164601" cy="3619500"/>
          </a:xfrm>
        </p:grpSpPr>
        <p:sp>
          <p:nvSpPr>
            <p:cNvPr id="85" name="Google Shape;85;p16"/>
            <p:cNvSpPr/>
            <p:nvPr/>
          </p:nvSpPr>
          <p:spPr>
            <a:xfrm>
              <a:off x="461200" y="762000"/>
              <a:ext cx="4110900" cy="361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6"/>
            <p:cNvPicPr preferRelativeResize="0"/>
            <p:nvPr/>
          </p:nvPicPr>
          <p:blipFill>
            <a:blip r:embed="rId4">
              <a:alphaModFix/>
            </a:blip>
            <a:stretch>
              <a:fillRect/>
            </a:stretch>
          </p:blipFill>
          <p:spPr>
            <a:xfrm>
              <a:off x="434300" y="1442424"/>
              <a:ext cx="4164601" cy="2258675"/>
            </a:xfrm>
            <a:prstGeom prst="rect">
              <a:avLst/>
            </a:prstGeom>
            <a:noFill/>
            <a:ln>
              <a:noFill/>
            </a:ln>
          </p:spPr>
        </p:pic>
      </p:grpSp>
      <p:sp>
        <p:nvSpPr>
          <p:cNvPr id="87" name="Google Shape;87;p16"/>
          <p:cNvSpPr txBox="1"/>
          <p:nvPr/>
        </p:nvSpPr>
        <p:spPr>
          <a:xfrm>
            <a:off x="4540700" y="262675"/>
            <a:ext cx="439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This is </a:t>
            </a:r>
            <a:r>
              <a:rPr b="1" lang="en" sz="1600">
                <a:solidFill>
                  <a:schemeClr val="dk1"/>
                </a:solidFill>
              </a:rPr>
              <a:t>a graph</a:t>
            </a:r>
            <a:endParaRPr sz="1600">
              <a:solidFill>
                <a:schemeClr val="dk1"/>
              </a:solidFill>
            </a:endParaRPr>
          </a:p>
        </p:txBody>
      </p:sp>
      <p:sp>
        <p:nvSpPr>
          <p:cNvPr id="88" name="Google Shape;88;p16"/>
          <p:cNvSpPr txBox="1"/>
          <p:nvPr/>
        </p:nvSpPr>
        <p:spPr>
          <a:xfrm>
            <a:off x="4540700" y="724377"/>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Phones are </a:t>
            </a:r>
            <a:r>
              <a:rPr b="1" lang="en" sz="1600">
                <a:solidFill>
                  <a:schemeClr val="dk1"/>
                </a:solidFill>
              </a:rPr>
              <a:t>vertices</a:t>
            </a:r>
            <a:r>
              <a:rPr lang="en" sz="1600">
                <a:solidFill>
                  <a:schemeClr val="dk1"/>
                </a:solidFill>
              </a:rPr>
              <a:t> and calls </a:t>
            </a:r>
            <a:r>
              <a:rPr b="1" lang="en" sz="1600">
                <a:solidFill>
                  <a:schemeClr val="dk1"/>
                </a:solidFill>
              </a:rPr>
              <a:t>edges</a:t>
            </a:r>
            <a:endParaRPr b="1" sz="1600">
              <a:solidFill>
                <a:schemeClr val="dk1"/>
              </a:solidFill>
            </a:endParaRPr>
          </a:p>
        </p:txBody>
      </p:sp>
      <p:sp>
        <p:nvSpPr>
          <p:cNvPr id="89" name="Google Shape;89;p16"/>
          <p:cNvSpPr txBox="1"/>
          <p:nvPr/>
        </p:nvSpPr>
        <p:spPr>
          <a:xfrm>
            <a:off x="4540700" y="1186079"/>
            <a:ext cx="476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Graphs (&amp; GraphAI) </a:t>
            </a:r>
            <a:r>
              <a:rPr b="1" lang="en" sz="1600">
                <a:solidFill>
                  <a:schemeClr val="dk1"/>
                </a:solidFill>
              </a:rPr>
              <a:t>solve many problems</a:t>
            </a:r>
            <a:endParaRPr b="1" sz="1600">
              <a:solidFill>
                <a:schemeClr val="dk1"/>
              </a:solidFill>
            </a:endParaRPr>
          </a:p>
        </p:txBody>
      </p:sp>
      <p:sp>
        <p:nvSpPr>
          <p:cNvPr id="90" name="Google Shape;90;p16"/>
          <p:cNvSpPr txBox="1"/>
          <p:nvPr/>
        </p:nvSpPr>
        <p:spPr>
          <a:xfrm>
            <a:off x="4540700" y="1660356"/>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But. Graphs get </a:t>
            </a:r>
            <a:r>
              <a:rPr b="1" lang="en" sz="1600">
                <a:solidFill>
                  <a:schemeClr val="dk1"/>
                </a:solidFill>
              </a:rPr>
              <a:t>big</a:t>
            </a:r>
            <a:r>
              <a:rPr lang="en" sz="1600">
                <a:solidFill>
                  <a:schemeClr val="dk1"/>
                </a:solidFill>
              </a:rPr>
              <a:t> and complex</a:t>
            </a:r>
            <a:endParaRPr sz="1600">
              <a:solidFill>
                <a:schemeClr val="dk1"/>
              </a:solidFill>
            </a:endParaRPr>
          </a:p>
        </p:txBody>
      </p:sp>
      <p:sp>
        <p:nvSpPr>
          <p:cNvPr id="91" name="Google Shape;91;p16"/>
          <p:cNvSpPr txBox="1"/>
          <p:nvPr/>
        </p:nvSpPr>
        <p:spPr>
          <a:xfrm>
            <a:off x="-72300" y="4850400"/>
            <a:ext cx="495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
                <a:solidFill>
                  <a:srgbClr val="0000FF"/>
                </a:solidFill>
              </a:rPr>
              <a:t>Image Sources</a:t>
            </a:r>
            <a:endParaRPr b="1" sz="400">
              <a:solidFill>
                <a:srgbClr val="0000FF"/>
              </a:solidFill>
            </a:endParaRPr>
          </a:p>
          <a:p>
            <a:pPr indent="0" lvl="0" marL="0" rtl="0" algn="l">
              <a:spcBef>
                <a:spcPts val="0"/>
              </a:spcBef>
              <a:spcAft>
                <a:spcPts val="0"/>
              </a:spcAft>
              <a:buNone/>
            </a:pPr>
            <a:r>
              <a:rPr lang="en" sz="400" u="sng">
                <a:solidFill>
                  <a:srgbClr val="0000FF"/>
                </a:solidFill>
                <a:hlinkClick r:id="rId5">
                  <a:extLst>
                    <a:ext uri="{A12FA001-AC4F-418D-AE19-62706E023703}">
                      <ahyp:hlinkClr val="tx"/>
                    </a:ext>
                  </a:extLst>
                </a:hlinkClick>
              </a:rPr>
              <a:t>https://www.researchgate.net/figure/Communication-network-diagram-between-construction-units-concerned_fig2_261094786</a:t>
            </a:r>
            <a:r>
              <a:rPr lang="en" sz="400">
                <a:solidFill>
                  <a:srgbClr val="0000FF"/>
                </a:solidFill>
              </a:rPr>
              <a:t> </a:t>
            </a:r>
            <a:endParaRPr sz="400">
              <a:solidFill>
                <a:srgbClr val="0000FF"/>
              </a:solidFill>
            </a:endParaRPr>
          </a:p>
          <a:p>
            <a:pPr indent="0" lvl="0" marL="0" rtl="0" algn="l">
              <a:spcBef>
                <a:spcPts val="0"/>
              </a:spcBef>
              <a:spcAft>
                <a:spcPts val="0"/>
              </a:spcAft>
              <a:buNone/>
            </a:pPr>
            <a:r>
              <a:rPr lang="en" sz="400" u="sng">
                <a:solidFill>
                  <a:srgbClr val="0000FF"/>
                </a:solidFill>
                <a:hlinkClick r:id="rId6">
                  <a:extLst>
                    <a:ext uri="{A12FA001-AC4F-418D-AE19-62706E023703}">
                      <ahyp:hlinkClr val="tx"/>
                    </a:ext>
                  </a:extLst>
                </a:hlinkClick>
              </a:rPr>
              <a:t>https://journalofbigdata.springeropen.com/articles/10.1186/s40537-019-0264-6</a:t>
            </a:r>
            <a:r>
              <a:rPr lang="en" sz="400">
                <a:solidFill>
                  <a:srgbClr val="0000FF"/>
                </a:solidFill>
              </a:rPr>
              <a:t> </a:t>
            </a:r>
            <a:endParaRPr sz="4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par>
                                <p:cTn fill="hold" nodeType="withEffect" presetClass="exit" presetID="23" presetSubtype="32">
                                  <p:stCondLst>
                                    <p:cond delay="0"/>
                                  </p:stCondLst>
                                  <p:childTnLst>
                                    <p:anim calcmode="lin" valueType="num">
                                      <p:cBhvr additive="base">
                                        <p:cTn dur="1000"/>
                                        <p:tgtEl>
                                          <p:spTgt spid="83"/>
                                        </p:tgtEl>
                                        <p:attrNameLst>
                                          <p:attrName>ppt_w</p:attrName>
                                        </p:attrNameLst>
                                      </p:cBhvr>
                                      <p:tavLst>
                                        <p:tav fmla="" tm="0">
                                          <p:val>
                                            <p:strVal val="#ppt_w"/>
                                          </p:val>
                                        </p:tav>
                                        <p:tav fmla="" tm="100000">
                                          <p:val>
                                            <p:strVal val="0"/>
                                          </p:val>
                                        </p:tav>
                                      </p:tavLst>
                                    </p:anim>
                                    <p:anim calcmode="lin" valueType="num">
                                      <p:cBhvr additive="base">
                                        <p:cTn dur="1000"/>
                                        <p:tgtEl>
                                          <p:spTgt spid="83"/>
                                        </p:tgtEl>
                                        <p:attrNameLst>
                                          <p:attrName>ppt_h</p:attrName>
                                        </p:attrNameLst>
                                      </p:cBhvr>
                                      <p:tavLst>
                                        <p:tav fmla="" tm="0">
                                          <p:val>
                                            <p:strVal val="#ppt_h"/>
                                          </p:val>
                                        </p:tav>
                                        <p:tav fmla="" tm="100000">
                                          <p:val>
                                            <p:strVal val="0"/>
                                          </p:val>
                                        </p:tav>
                                      </p:tavLst>
                                    </p:anim>
                                    <p:set>
                                      <p:cBhvr>
                                        <p:cTn dur="1" fill="hold">
                                          <p:stCondLst>
                                            <p:cond delay="1000"/>
                                          </p:stCondLst>
                                        </p:cTn>
                                        <p:tgtEl>
                                          <p:spTgt spid="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17"/>
          <p:cNvGrpSpPr/>
          <p:nvPr/>
        </p:nvGrpSpPr>
        <p:grpSpPr>
          <a:xfrm>
            <a:off x="322950" y="762000"/>
            <a:ext cx="4164601" cy="3619500"/>
            <a:chOff x="434300" y="762000"/>
            <a:chExt cx="4164601" cy="3619500"/>
          </a:xfrm>
        </p:grpSpPr>
        <p:sp>
          <p:nvSpPr>
            <p:cNvPr id="97" name="Google Shape;97;p17"/>
            <p:cNvSpPr/>
            <p:nvPr/>
          </p:nvSpPr>
          <p:spPr>
            <a:xfrm>
              <a:off x="461200" y="762000"/>
              <a:ext cx="4110900" cy="361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 name="Google Shape;98;p17"/>
            <p:cNvPicPr preferRelativeResize="0"/>
            <p:nvPr/>
          </p:nvPicPr>
          <p:blipFill>
            <a:blip r:embed="rId3">
              <a:alphaModFix/>
            </a:blip>
            <a:stretch>
              <a:fillRect/>
            </a:stretch>
          </p:blipFill>
          <p:spPr>
            <a:xfrm>
              <a:off x="434300" y="1442424"/>
              <a:ext cx="4164601" cy="2258675"/>
            </a:xfrm>
            <a:prstGeom prst="rect">
              <a:avLst/>
            </a:prstGeom>
            <a:noFill/>
            <a:ln>
              <a:noFill/>
            </a:ln>
          </p:spPr>
        </p:pic>
      </p:grpSp>
      <p:pic>
        <p:nvPicPr>
          <p:cNvPr id="99" name="Google Shape;99;p17"/>
          <p:cNvPicPr preferRelativeResize="0"/>
          <p:nvPr/>
        </p:nvPicPr>
        <p:blipFill>
          <a:blip r:embed="rId4">
            <a:alphaModFix/>
          </a:blip>
          <a:stretch>
            <a:fillRect/>
          </a:stretch>
        </p:blipFill>
        <p:spPr>
          <a:xfrm>
            <a:off x="322950" y="598888"/>
            <a:ext cx="4164600" cy="3945716"/>
          </a:xfrm>
          <a:prstGeom prst="rect">
            <a:avLst/>
          </a:prstGeom>
          <a:noFill/>
          <a:ln>
            <a:noFill/>
          </a:ln>
        </p:spPr>
      </p:pic>
      <p:sp>
        <p:nvSpPr>
          <p:cNvPr id="100" name="Google Shape;100;p17"/>
          <p:cNvSpPr txBox="1"/>
          <p:nvPr/>
        </p:nvSpPr>
        <p:spPr>
          <a:xfrm>
            <a:off x="4540700" y="262675"/>
            <a:ext cx="439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This is </a:t>
            </a:r>
            <a:r>
              <a:rPr b="1" lang="en" sz="1600">
                <a:solidFill>
                  <a:schemeClr val="dk1"/>
                </a:solidFill>
              </a:rPr>
              <a:t>a graph</a:t>
            </a:r>
            <a:endParaRPr sz="1600">
              <a:solidFill>
                <a:schemeClr val="dk1"/>
              </a:solidFill>
            </a:endParaRPr>
          </a:p>
        </p:txBody>
      </p:sp>
      <p:sp>
        <p:nvSpPr>
          <p:cNvPr id="101" name="Google Shape;101;p17"/>
          <p:cNvSpPr txBox="1"/>
          <p:nvPr/>
        </p:nvSpPr>
        <p:spPr>
          <a:xfrm>
            <a:off x="4540700" y="724377"/>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Phones are </a:t>
            </a:r>
            <a:r>
              <a:rPr b="1" lang="en" sz="1600">
                <a:solidFill>
                  <a:schemeClr val="dk1"/>
                </a:solidFill>
              </a:rPr>
              <a:t>vertices</a:t>
            </a:r>
            <a:r>
              <a:rPr lang="en" sz="1600">
                <a:solidFill>
                  <a:schemeClr val="dk1"/>
                </a:solidFill>
              </a:rPr>
              <a:t> and calls </a:t>
            </a:r>
            <a:r>
              <a:rPr b="1" lang="en" sz="1600">
                <a:solidFill>
                  <a:schemeClr val="dk1"/>
                </a:solidFill>
              </a:rPr>
              <a:t>edges</a:t>
            </a:r>
            <a:endParaRPr b="1" sz="1600">
              <a:solidFill>
                <a:schemeClr val="dk1"/>
              </a:solidFill>
            </a:endParaRPr>
          </a:p>
        </p:txBody>
      </p:sp>
      <p:sp>
        <p:nvSpPr>
          <p:cNvPr id="102" name="Google Shape;102;p17"/>
          <p:cNvSpPr txBox="1"/>
          <p:nvPr/>
        </p:nvSpPr>
        <p:spPr>
          <a:xfrm>
            <a:off x="4540700" y="1186079"/>
            <a:ext cx="476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Graphs (&amp; GraphAI) </a:t>
            </a:r>
            <a:r>
              <a:rPr b="1" lang="en" sz="1600">
                <a:solidFill>
                  <a:schemeClr val="dk1"/>
                </a:solidFill>
              </a:rPr>
              <a:t>solve many problems</a:t>
            </a:r>
            <a:endParaRPr b="1" sz="1600">
              <a:solidFill>
                <a:schemeClr val="dk1"/>
              </a:solidFill>
            </a:endParaRPr>
          </a:p>
        </p:txBody>
      </p:sp>
      <p:sp>
        <p:nvSpPr>
          <p:cNvPr id="103" name="Google Shape;103;p17"/>
          <p:cNvSpPr txBox="1"/>
          <p:nvPr/>
        </p:nvSpPr>
        <p:spPr>
          <a:xfrm>
            <a:off x="4540700" y="1660356"/>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But. Graphs get </a:t>
            </a:r>
            <a:r>
              <a:rPr b="1" lang="en" sz="1600">
                <a:solidFill>
                  <a:schemeClr val="dk1"/>
                </a:solidFill>
              </a:rPr>
              <a:t>big</a:t>
            </a:r>
            <a:r>
              <a:rPr lang="en" sz="1600">
                <a:solidFill>
                  <a:schemeClr val="dk1"/>
                </a:solidFill>
              </a:rPr>
              <a:t> and complex</a:t>
            </a:r>
            <a:endParaRPr sz="1600">
              <a:solidFill>
                <a:schemeClr val="dk1"/>
              </a:solidFill>
            </a:endParaRPr>
          </a:p>
        </p:txBody>
      </p:sp>
      <p:sp>
        <p:nvSpPr>
          <p:cNvPr id="104" name="Google Shape;104;p17"/>
          <p:cNvSpPr txBox="1"/>
          <p:nvPr/>
        </p:nvSpPr>
        <p:spPr>
          <a:xfrm>
            <a:off x="4540700" y="2109471"/>
            <a:ext cx="4596000" cy="431100"/>
          </a:xfrm>
          <a:prstGeom prst="rect">
            <a:avLst/>
          </a:prstGeom>
          <a:noFill/>
          <a:ln>
            <a:noFill/>
          </a:ln>
        </p:spPr>
        <p:txBody>
          <a:bodyPr anchorCtr="0" anchor="t" bIns="91425" lIns="91425" spcFirstLastPara="1" rIns="91425" wrap="square" tIns="91425">
            <a:spAutoFit/>
          </a:bodyPr>
          <a:lstStyle/>
          <a:p>
            <a:pPr indent="457200" lvl="0" marL="2743200" rtl="0" algn="l">
              <a:spcBef>
                <a:spcPts val="0"/>
              </a:spcBef>
              <a:spcAft>
                <a:spcPts val="0"/>
              </a:spcAft>
              <a:buNone/>
            </a:pPr>
            <a:r>
              <a:rPr b="1" lang="en" sz="1600">
                <a:solidFill>
                  <a:schemeClr val="dk1"/>
                </a:solidFill>
              </a:rPr>
              <a:t>… really</a:t>
            </a:r>
            <a:r>
              <a:rPr lang="en" sz="1600">
                <a:solidFill>
                  <a:schemeClr val="dk1"/>
                </a:solidFill>
              </a:rPr>
              <a:t> </a:t>
            </a:r>
            <a:r>
              <a:rPr b="1" lang="en" sz="1600">
                <a:solidFill>
                  <a:schemeClr val="dk1"/>
                </a:solidFill>
              </a:rPr>
              <a:t>big</a:t>
            </a:r>
            <a:endParaRPr b="1" sz="1600">
              <a:solidFill>
                <a:schemeClr val="dk1"/>
              </a:solidFill>
            </a:endParaRPr>
          </a:p>
        </p:txBody>
      </p:sp>
      <p:sp>
        <p:nvSpPr>
          <p:cNvPr id="105" name="Google Shape;105;p17"/>
          <p:cNvSpPr txBox="1"/>
          <p:nvPr/>
        </p:nvSpPr>
        <p:spPr>
          <a:xfrm>
            <a:off x="4540700" y="2494973"/>
            <a:ext cx="459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Solving problems gets </a:t>
            </a:r>
            <a:r>
              <a:rPr b="1" lang="en" sz="1600">
                <a:solidFill>
                  <a:schemeClr val="dk1"/>
                </a:solidFill>
              </a:rPr>
              <a:t>slow </a:t>
            </a:r>
            <a:r>
              <a:rPr lang="en" sz="1600">
                <a:solidFill>
                  <a:schemeClr val="dk1"/>
                </a:solidFill>
              </a:rPr>
              <a:t>on big graphs</a:t>
            </a:r>
            <a:endParaRPr sz="1600">
              <a:solidFill>
                <a:schemeClr val="dk1"/>
              </a:solidFill>
            </a:endParaRPr>
          </a:p>
        </p:txBody>
      </p:sp>
      <p:sp>
        <p:nvSpPr>
          <p:cNvPr id="106" name="Google Shape;106;p17"/>
          <p:cNvSpPr txBox="1"/>
          <p:nvPr/>
        </p:nvSpPr>
        <p:spPr>
          <a:xfrm>
            <a:off x="-72300" y="4850400"/>
            <a:ext cx="4955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
                <a:solidFill>
                  <a:srgbClr val="0000FF"/>
                </a:solidFill>
              </a:rPr>
              <a:t>Image Sources</a:t>
            </a:r>
            <a:endParaRPr b="1" sz="400">
              <a:solidFill>
                <a:srgbClr val="0000FF"/>
              </a:solidFill>
            </a:endParaRPr>
          </a:p>
          <a:p>
            <a:pPr indent="0" lvl="0" marL="0" rtl="0" algn="l">
              <a:spcBef>
                <a:spcPts val="0"/>
              </a:spcBef>
              <a:spcAft>
                <a:spcPts val="0"/>
              </a:spcAft>
              <a:buNone/>
            </a:pPr>
            <a:r>
              <a:rPr lang="en" sz="400" u="sng">
                <a:solidFill>
                  <a:srgbClr val="0000FF"/>
                </a:solidFill>
                <a:hlinkClick r:id="rId5">
                  <a:extLst>
                    <a:ext uri="{A12FA001-AC4F-418D-AE19-62706E023703}">
                      <ahyp:hlinkClr val="tx"/>
                    </a:ext>
                  </a:extLst>
                </a:hlinkClick>
              </a:rPr>
              <a:t>https://www.researchgate.net/figure/Communication-network-diagram-between-construction-units-concerned_fig2_261094786</a:t>
            </a:r>
            <a:r>
              <a:rPr lang="en" sz="400">
                <a:solidFill>
                  <a:srgbClr val="0000FF"/>
                </a:solidFill>
              </a:rPr>
              <a:t> </a:t>
            </a:r>
            <a:endParaRPr sz="400">
              <a:solidFill>
                <a:srgbClr val="0000FF"/>
              </a:solidFill>
            </a:endParaRPr>
          </a:p>
          <a:p>
            <a:pPr indent="0" lvl="0" marL="0" rtl="0" algn="l">
              <a:spcBef>
                <a:spcPts val="0"/>
              </a:spcBef>
              <a:spcAft>
                <a:spcPts val="0"/>
              </a:spcAft>
              <a:buNone/>
            </a:pPr>
            <a:r>
              <a:rPr lang="en" sz="400" u="sng">
                <a:solidFill>
                  <a:srgbClr val="0000FF"/>
                </a:solidFill>
                <a:hlinkClick r:id="rId6">
                  <a:extLst>
                    <a:ext uri="{A12FA001-AC4F-418D-AE19-62706E023703}">
                      <ahyp:hlinkClr val="tx"/>
                    </a:ext>
                  </a:extLst>
                </a:hlinkClick>
              </a:rPr>
              <a:t>https://journalofbigdata.springeropen.com/articles/10.1186/s40537-019-0264-6</a:t>
            </a:r>
            <a:r>
              <a:rPr lang="en" sz="400">
                <a:solidFill>
                  <a:srgbClr val="0000FF"/>
                </a:solidFill>
              </a:rPr>
              <a:t> </a:t>
            </a:r>
            <a:endParaRPr sz="400">
              <a:solidFill>
                <a:srgbClr val="0000FF"/>
              </a:solidFill>
            </a:endParaRPr>
          </a:p>
        </p:txBody>
      </p:sp>
      <p:sp>
        <p:nvSpPr>
          <p:cNvPr id="107" name="Google Shape;107;p17"/>
          <p:cNvSpPr txBox="1"/>
          <p:nvPr/>
        </p:nvSpPr>
        <p:spPr>
          <a:xfrm>
            <a:off x="4570720" y="3032875"/>
            <a:ext cx="4596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We can </a:t>
            </a:r>
            <a:r>
              <a:rPr b="1" lang="en" sz="1600">
                <a:solidFill>
                  <a:schemeClr val="dk1"/>
                </a:solidFill>
              </a:rPr>
              <a:t>speed up</a:t>
            </a:r>
            <a:r>
              <a:rPr lang="en" sz="1600">
                <a:solidFill>
                  <a:schemeClr val="dk1"/>
                </a:solidFill>
              </a:rPr>
              <a:t> problem solving by:</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Distributing</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Parallelizing</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Compressing</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Upgrading hardware</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Adding accelerators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Approximating</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par>
                                <p:cTn fill="hold" nodeType="withEffect" presetClass="exit" presetID="23" presetSubtype="32">
                                  <p:stCondLst>
                                    <p:cond delay="0"/>
                                  </p:stCondLst>
                                  <p:childTnLst>
                                    <p:anim calcmode="lin" valueType="num">
                                      <p:cBhvr additive="base">
                                        <p:cTn dur="1000"/>
                                        <p:tgtEl>
                                          <p:spTgt spid="96"/>
                                        </p:tgtEl>
                                        <p:attrNameLst>
                                          <p:attrName>ppt_w</p:attrName>
                                        </p:attrNameLst>
                                      </p:cBhvr>
                                      <p:tavLst>
                                        <p:tav fmla="" tm="0">
                                          <p:val>
                                            <p:strVal val="#ppt_w"/>
                                          </p:val>
                                        </p:tav>
                                        <p:tav fmla="" tm="100000">
                                          <p:val>
                                            <p:strVal val="0"/>
                                          </p:val>
                                        </p:tav>
                                      </p:tavLst>
                                    </p:anim>
                                    <p:anim calcmode="lin" valueType="num">
                                      <p:cBhvr additive="base">
                                        <p:cTn dur="1000"/>
                                        <p:tgtEl>
                                          <p:spTgt spid="96"/>
                                        </p:tgtEl>
                                        <p:attrNameLst>
                                          <p:attrName>ppt_h</p:attrName>
                                        </p:attrNameLst>
                                      </p:cBhvr>
                                      <p:tavLst>
                                        <p:tav fmla="" tm="0">
                                          <p:val>
                                            <p:strVal val="#ppt_h"/>
                                          </p:val>
                                        </p:tav>
                                        <p:tav fmla="" tm="100000">
                                          <p:val>
                                            <p:strVal val="0"/>
                                          </p:val>
                                        </p:tav>
                                      </p:tavLst>
                                    </p:anim>
                                    <p:set>
                                      <p:cBhvr>
                                        <p:cTn dur="1" fill="hold">
                                          <p:stCondLst>
                                            <p:cond delay="1000"/>
                                          </p:stCondLst>
                                        </p:cTn>
                                        <p:tgtEl>
                                          <p:spTgt spid="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18"/>
          <p:cNvPicPr preferRelativeResize="0"/>
          <p:nvPr/>
        </p:nvPicPr>
        <p:blipFill>
          <a:blip r:embed="rId3">
            <a:alphaModFix/>
          </a:blip>
          <a:stretch>
            <a:fillRect/>
          </a:stretch>
        </p:blipFill>
        <p:spPr>
          <a:xfrm>
            <a:off x="0" y="0"/>
            <a:ext cx="9144003" cy="5143499"/>
          </a:xfrm>
          <a:prstGeom prst="rect">
            <a:avLst/>
          </a:prstGeom>
          <a:noFill/>
          <a:ln>
            <a:noFill/>
          </a:ln>
        </p:spPr>
      </p:pic>
      <p:sp>
        <p:nvSpPr>
          <p:cNvPr id="113" name="Google Shape;113;p18"/>
          <p:cNvSpPr txBox="1"/>
          <p:nvPr/>
        </p:nvSpPr>
        <p:spPr>
          <a:xfrm>
            <a:off x="6334225" y="4911900"/>
            <a:ext cx="3259500" cy="246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400">
                <a:solidFill>
                  <a:schemeClr val="lt1"/>
                </a:solidFill>
              </a:rPr>
              <a:t>Image </a:t>
            </a:r>
            <a:r>
              <a:rPr b="1" lang="en" sz="400">
                <a:solidFill>
                  <a:schemeClr val="lt1"/>
                </a:solidFill>
              </a:rPr>
              <a:t>Source: </a:t>
            </a:r>
            <a:r>
              <a:rPr lang="en" sz="400" u="sng">
                <a:solidFill>
                  <a:schemeClr val="lt1"/>
                </a:solidFill>
                <a:hlinkClick r:id="rId4">
                  <a:extLst>
                    <a:ext uri="{A12FA001-AC4F-418D-AE19-62706E023703}">
                      <ahyp:hlinkClr val="tx"/>
                    </a:ext>
                  </a:extLst>
                </a:hlinkClick>
              </a:rPr>
              <a:t>https://www.youtube.com/watch?v=JheGL6uSF-4</a:t>
            </a:r>
            <a:r>
              <a:rPr lang="en" sz="400">
                <a:solidFill>
                  <a:schemeClr val="lt1"/>
                </a:solidFill>
              </a:rPr>
              <a:t> </a:t>
            </a:r>
            <a:endParaRPr sz="400">
              <a:solidFill>
                <a:schemeClr val="lt1"/>
              </a:solidFill>
            </a:endParaRPr>
          </a:p>
        </p:txBody>
      </p:sp>
      <p:sp>
        <p:nvSpPr>
          <p:cNvPr id="114" name="Google Shape;114;p18"/>
          <p:cNvSpPr/>
          <p:nvPr/>
        </p:nvSpPr>
        <p:spPr>
          <a:xfrm>
            <a:off x="442650" y="249000"/>
            <a:ext cx="8258700" cy="4645500"/>
          </a:xfrm>
          <a:prstGeom prst="rect">
            <a:avLst/>
          </a:prstGeom>
          <a:solidFill>
            <a:srgbClr val="FFFFFF">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What if there was a way to </a:t>
            </a:r>
            <a:r>
              <a:rPr b="1" lang="en" sz="1800"/>
              <a:t>compare</a:t>
            </a:r>
            <a:r>
              <a:rPr b="1" lang="en" sz="1800"/>
              <a:t> the impact each improvement has on a system that solves problems with GraphAI?</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rPr b="1" lang="en" sz="1800">
                <a:solidFill>
                  <a:schemeClr val="dk1"/>
                </a:solidFill>
              </a:rPr>
              <a:t>So that we can consistently improve GraphAI performance while justifying our investments empirically.</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1800"/>
          </a:p>
          <a:p>
            <a:pPr indent="0" lvl="0" marL="0" rtl="0" algn="ctr">
              <a:spcBef>
                <a:spcPts val="0"/>
              </a:spcBef>
              <a:spcAft>
                <a:spcPts val="0"/>
              </a:spcAft>
              <a:buClr>
                <a:schemeClr val="dk1"/>
              </a:buClr>
              <a:buSzPts val="1100"/>
              <a:buFont typeface="Arial"/>
              <a:buNone/>
            </a:pPr>
            <a:r>
              <a:rPr b="1" lang="en" sz="1800">
                <a:solidFill>
                  <a:schemeClr val="dk1"/>
                </a:solidFill>
              </a:rPr>
              <a:t>For example, determining the cost effectiveness of adding hardware accelerators versus distributing the work to reduce processing time.</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ctr">
              <a:spcBef>
                <a:spcPts val="0"/>
              </a:spcBef>
              <a:spcAft>
                <a:spcPts val="0"/>
              </a:spcAft>
              <a:buNone/>
            </a:pPr>
            <a:r>
              <a:rPr b="1" lang="en" sz="1800">
                <a:solidFill>
                  <a:schemeClr val="dk1"/>
                </a:solidFill>
              </a:rPr>
              <a:t>Further, a repeatable process can be easily extended to all problems in the GraphAI taxonomy. </a:t>
            </a:r>
            <a:endParaRPr b="1"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solidFill>
                <a:srgbClr val="FF0000"/>
              </a:solidFill>
            </a:endParaRPr>
          </a:p>
        </p:txBody>
      </p:sp>
      <p:sp>
        <p:nvSpPr>
          <p:cNvPr id="120" name="Google Shape;120;p19"/>
          <p:cNvSpPr txBox="1"/>
          <p:nvPr>
            <p:ph idx="1" type="body"/>
          </p:nvPr>
        </p:nvSpPr>
        <p:spPr>
          <a:xfrm>
            <a:off x="304800" y="1152475"/>
            <a:ext cx="8382900" cy="3654300"/>
          </a:xfrm>
          <a:prstGeom prst="rect">
            <a:avLst/>
          </a:prstGeom>
        </p:spPr>
        <p:txBody>
          <a:bodyPr anchorCtr="0" anchor="t" bIns="91425" lIns="91425" spcFirstLastPara="1" rIns="91425" wrap="square" tIns="91425">
            <a:normAutofit fontScale="92500" lnSpcReduction="20000"/>
          </a:bodyPr>
          <a:lstStyle/>
          <a:p>
            <a:pPr indent="-316706" lvl="0" marL="457200" rtl="0" algn="l">
              <a:spcBef>
                <a:spcPts val="0"/>
              </a:spcBef>
              <a:spcAft>
                <a:spcPts val="0"/>
              </a:spcAft>
              <a:buClr>
                <a:schemeClr val="dk1"/>
              </a:buClr>
              <a:buSzPct val="100000"/>
              <a:buAutoNum type="arabicPeriod"/>
            </a:pPr>
            <a:r>
              <a:rPr lang="en" sz="1500">
                <a:solidFill>
                  <a:schemeClr val="dk1"/>
                </a:solidFill>
              </a:rPr>
              <a:t>Introduction</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Problem Definition</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Prior Work</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Novelty</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Impact</a:t>
            </a:r>
            <a:br>
              <a:rPr lang="en" sz="1500">
                <a:solidFill>
                  <a:schemeClr val="dk1"/>
                </a:solidFill>
              </a:rPr>
            </a:br>
            <a:endParaRPr sz="1500">
              <a:solidFill>
                <a:schemeClr val="dk1"/>
              </a:solidFill>
            </a:endParaRPr>
          </a:p>
          <a:p>
            <a:pPr indent="-316706" lvl="0" marL="457200" rtl="0" algn="l">
              <a:spcBef>
                <a:spcPts val="0"/>
              </a:spcBef>
              <a:spcAft>
                <a:spcPts val="0"/>
              </a:spcAft>
              <a:buClr>
                <a:schemeClr val="dk1"/>
              </a:buClr>
              <a:buSzPct val="100000"/>
              <a:buAutoNum type="arabicPeriod"/>
            </a:pPr>
            <a:r>
              <a:rPr lang="en" sz="1500">
                <a:solidFill>
                  <a:schemeClr val="dk1"/>
                </a:solidFill>
              </a:rPr>
              <a:t>GraphAI Benchmarking</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GraphAI Taxonomy</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GraphAI Challenges </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The GraphAI Benchmarking Framework</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The GraphAI Benchmark Problem Development Methodology </a:t>
            </a:r>
            <a:br>
              <a:rPr lang="en" sz="1500">
                <a:solidFill>
                  <a:schemeClr val="dk1"/>
                </a:solidFill>
              </a:rPr>
            </a:br>
            <a:endParaRPr sz="1500">
              <a:solidFill>
                <a:schemeClr val="dk1"/>
              </a:solidFill>
            </a:endParaRPr>
          </a:p>
          <a:p>
            <a:pPr indent="-316706" lvl="0" marL="457200" rtl="0" algn="l">
              <a:spcBef>
                <a:spcPts val="0"/>
              </a:spcBef>
              <a:spcAft>
                <a:spcPts val="0"/>
              </a:spcAft>
              <a:buClr>
                <a:schemeClr val="dk1"/>
              </a:buClr>
              <a:buSzPct val="100000"/>
              <a:buAutoNum type="arabicPeriod"/>
            </a:pPr>
            <a:r>
              <a:rPr lang="en" sz="1500">
                <a:solidFill>
                  <a:schemeClr val="dk1"/>
                </a:solidFill>
              </a:rPr>
              <a:t>Case Study</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Developing a Population Segmentation Problem Benchmark</a:t>
            </a:r>
            <a:endParaRPr sz="1500">
              <a:solidFill>
                <a:schemeClr val="dk1"/>
              </a:solidFill>
            </a:endParaRPr>
          </a:p>
          <a:p>
            <a:pPr indent="-316706" lvl="1" marL="914400" rtl="0" algn="l">
              <a:spcBef>
                <a:spcPts val="0"/>
              </a:spcBef>
              <a:spcAft>
                <a:spcPts val="0"/>
              </a:spcAft>
              <a:buClr>
                <a:schemeClr val="dk1"/>
              </a:buClr>
              <a:buSzPct val="100000"/>
              <a:buAutoNum type="alphaLcPeriod"/>
            </a:pPr>
            <a:r>
              <a:rPr lang="en" sz="1500">
                <a:solidFill>
                  <a:schemeClr val="dk1"/>
                </a:solidFill>
              </a:rPr>
              <a:t>Findings</a:t>
            </a:r>
            <a:br>
              <a:rPr lang="en" sz="1500">
                <a:solidFill>
                  <a:schemeClr val="dk1"/>
                </a:solidFill>
              </a:rPr>
            </a:br>
            <a:endParaRPr sz="1500">
              <a:solidFill>
                <a:schemeClr val="dk1"/>
              </a:solidFill>
            </a:endParaRPr>
          </a:p>
          <a:p>
            <a:pPr indent="-316706" lvl="0" marL="457200" rtl="0" algn="l">
              <a:spcBef>
                <a:spcPts val="0"/>
              </a:spcBef>
              <a:spcAft>
                <a:spcPts val="0"/>
              </a:spcAft>
              <a:buClr>
                <a:schemeClr val="dk1"/>
              </a:buClr>
              <a:buSzPct val="100000"/>
              <a:buAutoNum type="arabicPeriod"/>
            </a:pPr>
            <a:r>
              <a:rPr lang="en" sz="1500">
                <a:solidFill>
                  <a:schemeClr val="dk1"/>
                </a:solidFill>
              </a:rPr>
              <a:t>Future Work </a:t>
            </a: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INTRODUCTION</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Problem Definition</a:t>
            </a:r>
            <a:endParaRPr/>
          </a:p>
        </p:txBody>
      </p:sp>
      <p:sp>
        <p:nvSpPr>
          <p:cNvPr id="131" name="Google Shape;131;p21"/>
          <p:cNvSpPr txBox="1"/>
          <p:nvPr>
            <p:ph idx="1" type="body"/>
          </p:nvPr>
        </p:nvSpPr>
        <p:spPr>
          <a:xfrm>
            <a:off x="311700" y="1152475"/>
            <a:ext cx="8520600" cy="22371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en">
                <a:solidFill>
                  <a:schemeClr val="dk1"/>
                </a:solidFill>
              </a:rPr>
              <a:t>This thesis aims to determine </a:t>
            </a:r>
            <a:r>
              <a:rPr b="1" i="1" lang="en">
                <a:solidFill>
                  <a:schemeClr val="dk1"/>
                </a:solidFill>
              </a:rPr>
              <a:t>if</a:t>
            </a:r>
            <a:r>
              <a:rPr b="1" lang="en">
                <a:solidFill>
                  <a:schemeClr val="dk1"/>
                </a:solidFill>
              </a:rPr>
              <a:t>, </a:t>
            </a:r>
            <a:r>
              <a:rPr b="1" i="1" lang="en">
                <a:solidFill>
                  <a:schemeClr val="dk1"/>
                </a:solidFill>
              </a:rPr>
              <a:t>how</a:t>
            </a:r>
            <a:r>
              <a:rPr b="1" lang="en">
                <a:solidFill>
                  <a:schemeClr val="dk1"/>
                </a:solidFill>
              </a:rPr>
              <a:t> and </a:t>
            </a:r>
            <a:r>
              <a:rPr b="1" i="1" lang="en">
                <a:solidFill>
                  <a:schemeClr val="dk1"/>
                </a:solidFill>
              </a:rPr>
              <a:t>when</a:t>
            </a:r>
            <a:r>
              <a:rPr b="1" lang="en">
                <a:solidFill>
                  <a:schemeClr val="dk1"/>
                </a:solidFill>
              </a:rPr>
              <a:t> to speed up problem solving on linked data given a set of operating </a:t>
            </a:r>
            <a:r>
              <a:rPr b="1" i="1" lang="en">
                <a:solidFill>
                  <a:schemeClr val="dk1"/>
                </a:solidFill>
              </a:rPr>
              <a:t>constraints</a:t>
            </a:r>
            <a:r>
              <a:rPr b="1" lang="en">
                <a:solidFill>
                  <a:schemeClr val="dk1"/>
                </a:solidFill>
              </a:rPr>
              <a:t>.</a:t>
            </a:r>
            <a:endParaRPr b="1">
              <a:solidFill>
                <a:schemeClr val="dk1"/>
              </a:solidFill>
            </a:endParaRPr>
          </a:p>
        </p:txBody>
      </p:sp>
      <p:sp>
        <p:nvSpPr>
          <p:cNvPr id="132" name="Google Shape;132;p21"/>
          <p:cNvSpPr txBox="1"/>
          <p:nvPr>
            <p:ph idx="1" type="body"/>
          </p:nvPr>
        </p:nvSpPr>
        <p:spPr>
          <a:xfrm>
            <a:off x="1022675" y="2636675"/>
            <a:ext cx="7246800" cy="1670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How</a:t>
            </a:r>
            <a:r>
              <a:rPr i="1" lang="en" sz="1500">
                <a:solidFill>
                  <a:schemeClr val="dk1"/>
                </a:solidFill>
              </a:rPr>
              <a:t>:</a:t>
            </a:r>
            <a:r>
              <a:rPr lang="en" sz="1500">
                <a:solidFill>
                  <a:schemeClr val="dk1"/>
                </a:solidFill>
              </a:rPr>
              <a:t> to effectively combine the representations, hardware accelerators and algorithms.</a:t>
            </a:r>
            <a:endParaRPr sz="1500">
              <a:solidFill>
                <a:schemeClr val="dk1"/>
              </a:solidFill>
            </a:endParaRPr>
          </a:p>
          <a:p>
            <a:pPr indent="0" lvl="0" marL="0" rtl="0" algn="l">
              <a:spcBef>
                <a:spcPts val="1200"/>
              </a:spcBef>
              <a:spcAft>
                <a:spcPts val="0"/>
              </a:spcAft>
              <a:buNone/>
            </a:pPr>
            <a:r>
              <a:rPr b="1" lang="en" sz="1500">
                <a:solidFill>
                  <a:schemeClr val="dk1"/>
                </a:solidFill>
              </a:rPr>
              <a:t>If &amp; When</a:t>
            </a:r>
            <a:r>
              <a:rPr i="1" lang="en" sz="1500">
                <a:solidFill>
                  <a:schemeClr val="dk1"/>
                </a:solidFill>
              </a:rPr>
              <a:t>:</a:t>
            </a:r>
            <a:r>
              <a:rPr b="1" i="1" lang="en" sz="1500">
                <a:solidFill>
                  <a:schemeClr val="dk1"/>
                </a:solidFill>
              </a:rPr>
              <a:t> </a:t>
            </a:r>
            <a:r>
              <a:rPr lang="en" sz="1500">
                <a:solidFill>
                  <a:schemeClr val="dk1"/>
                </a:solidFill>
              </a:rPr>
              <a:t>it is appropriate to exploit acceleration to speed up the time to solution.</a:t>
            </a:r>
            <a:endParaRPr sz="1500">
              <a:solidFill>
                <a:schemeClr val="dk1"/>
              </a:solidFill>
            </a:endParaRPr>
          </a:p>
          <a:p>
            <a:pPr indent="0" lvl="0" marL="0" rtl="0" algn="l">
              <a:spcBef>
                <a:spcPts val="1200"/>
              </a:spcBef>
              <a:spcAft>
                <a:spcPts val="1200"/>
              </a:spcAft>
              <a:buNone/>
            </a:pPr>
            <a:r>
              <a:rPr b="1" lang="en" sz="1500">
                <a:solidFill>
                  <a:schemeClr val="dk1"/>
                </a:solidFill>
              </a:rPr>
              <a:t>Constraints:</a:t>
            </a:r>
            <a:r>
              <a:rPr lang="en" sz="1500">
                <a:solidFill>
                  <a:schemeClr val="dk1"/>
                </a:solidFill>
              </a:rPr>
              <a:t> on the </a:t>
            </a:r>
            <a:r>
              <a:rPr i="1" lang="en" sz="1500">
                <a:solidFill>
                  <a:schemeClr val="dk1"/>
                </a:solidFill>
              </a:rPr>
              <a:t>efficiency, effectiveness </a:t>
            </a:r>
            <a:r>
              <a:rPr lang="en" sz="1500">
                <a:solidFill>
                  <a:schemeClr val="dk1"/>
                </a:solidFill>
              </a:rPr>
              <a:t>and</a:t>
            </a:r>
            <a:r>
              <a:rPr i="1" lang="en" sz="1500">
                <a:solidFill>
                  <a:schemeClr val="dk1"/>
                </a:solidFill>
              </a:rPr>
              <a:t>/</a:t>
            </a:r>
            <a:r>
              <a:rPr lang="en" sz="1500">
                <a:solidFill>
                  <a:schemeClr val="dk1"/>
                </a:solidFill>
              </a:rPr>
              <a:t>or</a:t>
            </a:r>
            <a:r>
              <a:rPr i="1" lang="en" sz="1500">
                <a:solidFill>
                  <a:schemeClr val="dk1"/>
                </a:solidFill>
              </a:rPr>
              <a:t> cost</a:t>
            </a:r>
            <a:r>
              <a:rPr lang="en" sz="1500">
                <a:solidFill>
                  <a:schemeClr val="dk1"/>
                </a:solidFill>
              </a:rPr>
              <a:t> of a solution.</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Example Acceleration</a:t>
            </a:r>
            <a:endParaRPr/>
          </a:p>
        </p:txBody>
      </p:sp>
      <p:sp>
        <p:nvSpPr>
          <p:cNvPr id="138" name="Google Shape;138;p22"/>
          <p:cNvSpPr txBox="1"/>
          <p:nvPr>
            <p:ph idx="1" type="body"/>
          </p:nvPr>
        </p:nvSpPr>
        <p:spPr>
          <a:xfrm>
            <a:off x="311700" y="4452850"/>
            <a:ext cx="8520600" cy="57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rPr lang="en" sz="5400"/>
              <a:t>Prototype Graph Hardware Accelerators (right) aim to address </a:t>
            </a:r>
            <a:br>
              <a:rPr lang="en" sz="5400"/>
            </a:br>
            <a:r>
              <a:rPr lang="en" sz="5400"/>
              <a:t>some of the causes of slowdown – but how well?</a:t>
            </a:r>
            <a:endParaRPr sz="5400"/>
          </a:p>
        </p:txBody>
      </p:sp>
      <p:pic>
        <p:nvPicPr>
          <p:cNvPr id="139" name="Google Shape;139;p22"/>
          <p:cNvPicPr preferRelativeResize="0"/>
          <p:nvPr/>
        </p:nvPicPr>
        <p:blipFill rotWithShape="1">
          <a:blip r:embed="rId3">
            <a:alphaModFix/>
          </a:blip>
          <a:srcRect b="24455" l="21820" r="13294" t="19709"/>
          <a:stretch/>
        </p:blipFill>
        <p:spPr>
          <a:xfrm>
            <a:off x="5606413" y="2665786"/>
            <a:ext cx="3225888" cy="2082041"/>
          </a:xfrm>
          <a:prstGeom prst="rect">
            <a:avLst/>
          </a:prstGeom>
          <a:noFill/>
          <a:ln>
            <a:noFill/>
          </a:ln>
        </p:spPr>
      </p:pic>
      <p:pic>
        <p:nvPicPr>
          <p:cNvPr id="140" name="Google Shape;140;p22"/>
          <p:cNvPicPr preferRelativeResize="0"/>
          <p:nvPr/>
        </p:nvPicPr>
        <p:blipFill rotWithShape="1">
          <a:blip r:embed="rId4">
            <a:alphaModFix/>
          </a:blip>
          <a:srcRect b="28330" l="10201" r="6520" t="0"/>
          <a:stretch/>
        </p:blipFill>
        <p:spPr>
          <a:xfrm>
            <a:off x="5606413" y="582752"/>
            <a:ext cx="3225888" cy="2082055"/>
          </a:xfrm>
          <a:prstGeom prst="rect">
            <a:avLst/>
          </a:prstGeom>
          <a:noFill/>
          <a:ln>
            <a:noFill/>
          </a:ln>
        </p:spPr>
      </p:pic>
      <p:pic>
        <p:nvPicPr>
          <p:cNvPr id="141" name="Google Shape;141;p22"/>
          <p:cNvPicPr preferRelativeResize="0"/>
          <p:nvPr/>
        </p:nvPicPr>
        <p:blipFill>
          <a:blip r:embed="rId5">
            <a:alphaModFix/>
          </a:blip>
          <a:stretch>
            <a:fillRect/>
          </a:stretch>
        </p:blipFill>
        <p:spPr>
          <a:xfrm>
            <a:off x="897550" y="1097463"/>
            <a:ext cx="3511143" cy="3130325"/>
          </a:xfrm>
          <a:prstGeom prst="rect">
            <a:avLst/>
          </a:prstGeom>
          <a:noFill/>
          <a:ln>
            <a:noFill/>
          </a:ln>
        </p:spPr>
      </p:pic>
      <p:sp>
        <p:nvSpPr>
          <p:cNvPr id="142" name="Google Shape;142;p22"/>
          <p:cNvSpPr txBox="1"/>
          <p:nvPr/>
        </p:nvSpPr>
        <p:spPr>
          <a:xfrm>
            <a:off x="5606400" y="2402400"/>
            <a:ext cx="32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highlight>
                  <a:srgbClr val="633017"/>
                </a:highlight>
              </a:rPr>
              <a:t>The Intel PiUMA Software Development Vehicle</a:t>
            </a:r>
            <a:endParaRPr b="1" sz="1000">
              <a:solidFill>
                <a:srgbClr val="FF0000"/>
              </a:solidFill>
              <a:highlight>
                <a:srgbClr val="633017"/>
              </a:highlight>
            </a:endParaRPr>
          </a:p>
        </p:txBody>
      </p:sp>
      <p:sp>
        <p:nvSpPr>
          <p:cNvPr id="143" name="Google Shape;143;p22"/>
          <p:cNvSpPr txBox="1"/>
          <p:nvPr/>
        </p:nvSpPr>
        <p:spPr>
          <a:xfrm>
            <a:off x="5606400" y="4452850"/>
            <a:ext cx="3225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highlight>
                  <a:srgbClr val="E5CDAD"/>
                </a:highlight>
              </a:rPr>
              <a:t>The Intel PiUMA Optical </a:t>
            </a:r>
            <a:r>
              <a:rPr b="1" lang="en" sz="1000">
                <a:solidFill>
                  <a:srgbClr val="FF0000"/>
                </a:solidFill>
                <a:highlight>
                  <a:srgbClr val="E5CDAD"/>
                </a:highlight>
              </a:rPr>
              <a:t>Interconnect</a:t>
            </a:r>
            <a:r>
              <a:rPr b="1" lang="en" sz="1000">
                <a:solidFill>
                  <a:srgbClr val="FF0000"/>
                </a:solidFill>
                <a:highlight>
                  <a:srgbClr val="E5CDAD"/>
                </a:highlight>
              </a:rPr>
              <a:t> System</a:t>
            </a:r>
            <a:endParaRPr b="1" sz="1000">
              <a:solidFill>
                <a:srgbClr val="FF0000"/>
              </a:solidFill>
              <a:highlight>
                <a:srgbClr val="E5CDAD"/>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Prior Work </a:t>
            </a:r>
            <a:endParaRPr/>
          </a:p>
        </p:txBody>
      </p:sp>
      <p:sp>
        <p:nvSpPr>
          <p:cNvPr id="149" name="Google Shape;149;p23"/>
          <p:cNvSpPr txBox="1"/>
          <p:nvPr/>
        </p:nvSpPr>
        <p:spPr>
          <a:xfrm>
            <a:off x="2635350" y="1174375"/>
            <a:ext cx="6088500" cy="14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Race to maximize </a:t>
            </a:r>
            <a:r>
              <a:rPr i="1" lang="en" sz="1800">
                <a:solidFill>
                  <a:schemeClr val="dk1"/>
                </a:solidFill>
              </a:rPr>
              <a:t>effectiveness</a:t>
            </a:r>
            <a:r>
              <a:rPr lang="en" sz="1800">
                <a:solidFill>
                  <a:schemeClr val="dk1"/>
                </a:solidFill>
              </a:rPr>
              <a:t> or </a:t>
            </a:r>
            <a:r>
              <a:rPr i="1" lang="en" sz="1800">
                <a:solidFill>
                  <a:schemeClr val="dk1"/>
                </a:solidFill>
              </a:rPr>
              <a:t>efficiency.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Focus on the </a:t>
            </a:r>
            <a:r>
              <a:rPr i="1" lang="en" sz="1800">
                <a:solidFill>
                  <a:schemeClr val="dk1"/>
                </a:solidFill>
              </a:rPr>
              <a:t>kernels</a:t>
            </a:r>
            <a:r>
              <a:rPr lang="en" sz="1800">
                <a:solidFill>
                  <a:schemeClr val="dk1"/>
                </a:solidFill>
              </a:rPr>
              <a:t>, and </a:t>
            </a:r>
            <a:r>
              <a:rPr i="1" lang="en" sz="1800">
                <a:solidFill>
                  <a:schemeClr val="dk1"/>
                </a:solidFill>
              </a:rPr>
              <a:t>datasets </a:t>
            </a:r>
            <a:r>
              <a:rPr lang="en" sz="1800">
                <a:solidFill>
                  <a:schemeClr val="dk1"/>
                </a:solidFill>
              </a:rPr>
              <a:t>rather than </a:t>
            </a:r>
            <a:r>
              <a:rPr i="1" lang="en" sz="1800">
                <a:solidFill>
                  <a:schemeClr val="dk1"/>
                </a:solidFill>
              </a:rPr>
              <a:t>problems.</a:t>
            </a:r>
            <a:endParaRPr i="1" sz="1800">
              <a:solidFill>
                <a:schemeClr val="dk1"/>
              </a:solidFill>
            </a:endParaRPr>
          </a:p>
          <a:p>
            <a:pPr indent="0" lvl="0" marL="0" rtl="0" algn="l">
              <a:spcBef>
                <a:spcPts val="0"/>
              </a:spcBef>
              <a:spcAft>
                <a:spcPts val="0"/>
              </a:spcAft>
              <a:buNone/>
            </a:pPr>
            <a:r>
              <a:t/>
            </a:r>
            <a:endParaRPr i="1" sz="1800">
              <a:solidFill>
                <a:schemeClr val="dk1"/>
              </a:solidFill>
            </a:endParaRPr>
          </a:p>
          <a:p>
            <a:pPr indent="0" lvl="0" marL="0" rtl="0" algn="l">
              <a:spcBef>
                <a:spcPts val="0"/>
              </a:spcBef>
              <a:spcAft>
                <a:spcPts val="0"/>
              </a:spcAft>
              <a:buNone/>
            </a:pPr>
            <a:r>
              <a:rPr lang="en" sz="1800">
                <a:solidFill>
                  <a:schemeClr val="dk1"/>
                </a:solidFill>
              </a:rPr>
              <a:t>Lack variety of </a:t>
            </a:r>
            <a:r>
              <a:rPr i="1" lang="en" sz="1800">
                <a:solidFill>
                  <a:schemeClr val="dk1"/>
                </a:solidFill>
              </a:rPr>
              <a:t>shapes</a:t>
            </a:r>
            <a:r>
              <a:rPr lang="en" sz="1800">
                <a:solidFill>
                  <a:schemeClr val="dk1"/>
                </a:solidFill>
              </a:rPr>
              <a:t> &amp; support for </a:t>
            </a:r>
            <a:r>
              <a:rPr i="1" lang="en" sz="1800">
                <a:solidFill>
                  <a:schemeClr val="dk1"/>
                </a:solidFill>
              </a:rPr>
              <a:t>dynamic</a:t>
            </a:r>
            <a:r>
              <a:rPr lang="en" sz="1800">
                <a:solidFill>
                  <a:schemeClr val="dk1"/>
                </a:solidFill>
              </a:rPr>
              <a:t> graphs</a:t>
            </a:r>
            <a:endParaRPr i="1" sz="1800">
              <a:solidFill>
                <a:schemeClr val="dk1"/>
              </a:solidFill>
            </a:endParaRPr>
          </a:p>
        </p:txBody>
      </p:sp>
      <p:grpSp>
        <p:nvGrpSpPr>
          <p:cNvPr id="150" name="Google Shape;150;p23"/>
          <p:cNvGrpSpPr/>
          <p:nvPr/>
        </p:nvGrpSpPr>
        <p:grpSpPr>
          <a:xfrm>
            <a:off x="642775" y="1174375"/>
            <a:ext cx="1390275" cy="1902650"/>
            <a:chOff x="642775" y="1326775"/>
            <a:chExt cx="1390275" cy="1902650"/>
          </a:xfrm>
        </p:grpSpPr>
        <p:pic>
          <p:nvPicPr>
            <p:cNvPr id="151" name="Google Shape;151;p23"/>
            <p:cNvPicPr preferRelativeResize="0"/>
            <p:nvPr/>
          </p:nvPicPr>
          <p:blipFill>
            <a:blip r:embed="rId3">
              <a:alphaModFix/>
            </a:blip>
            <a:stretch>
              <a:fillRect/>
            </a:stretch>
          </p:blipFill>
          <p:spPr>
            <a:xfrm>
              <a:off x="642775" y="1326775"/>
              <a:ext cx="1390100" cy="1406422"/>
            </a:xfrm>
            <a:prstGeom prst="rect">
              <a:avLst/>
            </a:prstGeom>
            <a:noFill/>
            <a:ln>
              <a:noFill/>
            </a:ln>
          </p:spPr>
        </p:pic>
        <p:sp>
          <p:nvSpPr>
            <p:cNvPr id="152" name="Google Shape;152;p23"/>
            <p:cNvSpPr txBox="1"/>
            <p:nvPr/>
          </p:nvSpPr>
          <p:spPr>
            <a:xfrm>
              <a:off x="642850" y="2582925"/>
              <a:ext cx="1390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rPr>
                <a:t>`Black-Box’</a:t>
              </a:r>
              <a:br>
                <a:rPr b="1" lang="en" sz="1500">
                  <a:solidFill>
                    <a:schemeClr val="dk1"/>
                  </a:solidFill>
                </a:rPr>
              </a:br>
              <a:r>
                <a:rPr b="1" lang="en" sz="1500">
                  <a:solidFill>
                    <a:schemeClr val="dk1"/>
                  </a:solidFill>
                </a:rPr>
                <a:t>Benchmarks</a:t>
              </a:r>
              <a:endParaRPr b="1" sz="1500">
                <a:solidFill>
                  <a:schemeClr val="dk1"/>
                </a:solidFill>
              </a:endParaRPr>
            </a:p>
          </p:txBody>
        </p:sp>
      </p:grpSp>
      <p:grpSp>
        <p:nvGrpSpPr>
          <p:cNvPr id="153" name="Google Shape;153;p23"/>
          <p:cNvGrpSpPr/>
          <p:nvPr/>
        </p:nvGrpSpPr>
        <p:grpSpPr>
          <a:xfrm>
            <a:off x="642813" y="3070153"/>
            <a:ext cx="8081038" cy="2131247"/>
            <a:chOff x="642813" y="3070153"/>
            <a:chExt cx="8081038" cy="2131247"/>
          </a:xfrm>
        </p:grpSpPr>
        <p:sp>
          <p:nvSpPr>
            <p:cNvPr id="154" name="Google Shape;154;p23"/>
            <p:cNvSpPr txBox="1"/>
            <p:nvPr/>
          </p:nvSpPr>
          <p:spPr>
            <a:xfrm>
              <a:off x="2635350" y="3198875"/>
              <a:ext cx="6088500" cy="14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Monitor internal system state to find </a:t>
              </a:r>
              <a:r>
                <a:rPr i="1" lang="en" sz="1800">
                  <a:solidFill>
                    <a:schemeClr val="dk1"/>
                  </a:solidFill>
                </a:rPr>
                <a:t>bottlenecks</a:t>
              </a:r>
              <a:endParaRPr i="1"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Require invasive system </a:t>
              </a:r>
              <a:r>
                <a:rPr i="1" lang="en" sz="1800">
                  <a:solidFill>
                    <a:schemeClr val="dk1"/>
                  </a:solidFill>
                </a:rPr>
                <a:t>profiling</a:t>
              </a:r>
              <a:r>
                <a:rPr lang="en" sz="1800">
                  <a:solidFill>
                    <a:schemeClr val="dk1"/>
                  </a:solidFill>
                </a:rPr>
                <a:t> &amp; code </a:t>
              </a:r>
              <a:r>
                <a:rPr i="1" lang="en" sz="1800">
                  <a:solidFill>
                    <a:schemeClr val="dk1"/>
                  </a:solidFill>
                </a:rPr>
                <a:t>instrumentation</a:t>
              </a:r>
              <a:endParaRPr i="1"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Lack </a:t>
              </a:r>
              <a:r>
                <a:rPr i="1" lang="en" sz="1800">
                  <a:solidFill>
                    <a:schemeClr val="dk1"/>
                  </a:solidFill>
                </a:rPr>
                <a:t>scalability</a:t>
              </a:r>
              <a:endParaRPr i="1" sz="1800">
                <a:solidFill>
                  <a:schemeClr val="dk1"/>
                </a:solidFill>
              </a:endParaRPr>
            </a:p>
          </p:txBody>
        </p:sp>
        <p:grpSp>
          <p:nvGrpSpPr>
            <p:cNvPr id="155" name="Google Shape;155;p23"/>
            <p:cNvGrpSpPr/>
            <p:nvPr/>
          </p:nvGrpSpPr>
          <p:grpSpPr>
            <a:xfrm>
              <a:off x="642813" y="3070153"/>
              <a:ext cx="1402663" cy="2131247"/>
              <a:chOff x="642813" y="2993953"/>
              <a:chExt cx="1402663" cy="2131247"/>
            </a:xfrm>
          </p:grpSpPr>
          <p:pic>
            <p:nvPicPr>
              <p:cNvPr id="156" name="Google Shape;156;p23"/>
              <p:cNvPicPr preferRelativeResize="0"/>
              <p:nvPr/>
            </p:nvPicPr>
            <p:blipFill>
              <a:blip r:embed="rId4">
                <a:alphaModFix/>
              </a:blip>
              <a:stretch>
                <a:fillRect/>
              </a:stretch>
            </p:blipFill>
            <p:spPr>
              <a:xfrm>
                <a:off x="655375" y="2993953"/>
                <a:ext cx="1390100" cy="1406447"/>
              </a:xfrm>
              <a:prstGeom prst="rect">
                <a:avLst/>
              </a:prstGeom>
              <a:noFill/>
              <a:ln>
                <a:noFill/>
              </a:ln>
            </p:spPr>
          </p:pic>
          <p:sp>
            <p:nvSpPr>
              <p:cNvPr id="157" name="Google Shape;157;p23"/>
              <p:cNvSpPr txBox="1"/>
              <p:nvPr/>
            </p:nvSpPr>
            <p:spPr>
              <a:xfrm>
                <a:off x="642813" y="4248000"/>
                <a:ext cx="13902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rPr>
                  <a:t>`White-Box’</a:t>
                </a:r>
                <a:endParaRPr b="1" sz="1500">
                  <a:solidFill>
                    <a:schemeClr val="dk1"/>
                  </a:solidFill>
                </a:endParaRPr>
              </a:p>
              <a:p>
                <a:pPr indent="0" lvl="0" marL="0" rtl="0" algn="ctr">
                  <a:spcBef>
                    <a:spcPts val="0"/>
                  </a:spcBef>
                  <a:spcAft>
                    <a:spcPts val="0"/>
                  </a:spcAft>
                  <a:buNone/>
                </a:pPr>
                <a:r>
                  <a:rPr b="1" lang="en" sz="1500">
                    <a:solidFill>
                      <a:schemeClr val="dk1"/>
                    </a:solidFill>
                  </a:rPr>
                  <a:t>Workload</a:t>
                </a:r>
                <a:br>
                  <a:rPr b="1" lang="en" sz="1500">
                    <a:solidFill>
                      <a:schemeClr val="dk1"/>
                    </a:solidFill>
                  </a:rPr>
                </a:br>
                <a:r>
                  <a:rPr b="1" lang="en" sz="1500">
                    <a:solidFill>
                      <a:schemeClr val="dk1"/>
                    </a:solidFill>
                  </a:rPr>
                  <a:t>Analyses</a:t>
                </a:r>
                <a:endParaRPr b="1" sz="1500">
                  <a:solidFill>
                    <a:schemeClr val="dk1"/>
                  </a:solidFil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Novelty</a:t>
            </a:r>
            <a:endParaRPr/>
          </a:p>
        </p:txBody>
      </p:sp>
      <p:sp>
        <p:nvSpPr>
          <p:cNvPr id="163" name="Google Shape;163;p24"/>
          <p:cNvSpPr txBox="1"/>
          <p:nvPr/>
        </p:nvSpPr>
        <p:spPr>
          <a:xfrm>
            <a:off x="444875" y="1178100"/>
            <a:ext cx="825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Our</a:t>
            </a:r>
            <a:r>
              <a:rPr lang="en" sz="1800">
                <a:solidFill>
                  <a:schemeClr val="dk1"/>
                </a:solidFill>
              </a:rPr>
              <a:t> GraphAI benchmark framework builds on prior work by offering:</a:t>
            </a:r>
            <a:endParaRPr sz="1800">
              <a:solidFill>
                <a:schemeClr val="dk1"/>
              </a:solidFill>
            </a:endParaRPr>
          </a:p>
        </p:txBody>
      </p:sp>
      <p:grpSp>
        <p:nvGrpSpPr>
          <p:cNvPr id="164" name="Google Shape;164;p24"/>
          <p:cNvGrpSpPr/>
          <p:nvPr/>
        </p:nvGrpSpPr>
        <p:grpSpPr>
          <a:xfrm>
            <a:off x="4960373" y="2128761"/>
            <a:ext cx="1472490" cy="2519764"/>
            <a:chOff x="4960373" y="2128761"/>
            <a:chExt cx="1472490" cy="2519764"/>
          </a:xfrm>
        </p:grpSpPr>
        <p:sp>
          <p:nvSpPr>
            <p:cNvPr id="165" name="Google Shape;165;p24"/>
            <p:cNvSpPr txBox="1"/>
            <p:nvPr/>
          </p:nvSpPr>
          <p:spPr>
            <a:xfrm>
              <a:off x="4960373" y="37650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Accelerator Agnostic</a:t>
              </a:r>
              <a:endParaRPr sz="1600">
                <a:solidFill>
                  <a:schemeClr val="dk1"/>
                </a:solidFill>
              </a:endParaRPr>
            </a:p>
          </p:txBody>
        </p:sp>
        <p:pic>
          <p:nvPicPr>
            <p:cNvPr id="166" name="Google Shape;166;p24"/>
            <p:cNvPicPr preferRelativeResize="0"/>
            <p:nvPr/>
          </p:nvPicPr>
          <p:blipFill rotWithShape="1">
            <a:blip r:embed="rId3">
              <a:alphaModFix/>
            </a:blip>
            <a:srcRect b="0" l="10706" r="0" t="0"/>
            <a:stretch/>
          </p:blipFill>
          <p:spPr>
            <a:xfrm>
              <a:off x="4979063" y="2128761"/>
              <a:ext cx="1453800" cy="1504427"/>
            </a:xfrm>
            <a:prstGeom prst="rect">
              <a:avLst/>
            </a:prstGeom>
            <a:noFill/>
            <a:ln>
              <a:noFill/>
            </a:ln>
          </p:spPr>
        </p:pic>
      </p:grpSp>
      <p:grpSp>
        <p:nvGrpSpPr>
          <p:cNvPr id="167" name="Google Shape;167;p24"/>
          <p:cNvGrpSpPr/>
          <p:nvPr/>
        </p:nvGrpSpPr>
        <p:grpSpPr>
          <a:xfrm>
            <a:off x="2708078" y="2144379"/>
            <a:ext cx="1453809" cy="2265946"/>
            <a:chOff x="2708078" y="2144379"/>
            <a:chExt cx="1453809" cy="2265946"/>
          </a:xfrm>
        </p:grpSpPr>
        <p:sp>
          <p:nvSpPr>
            <p:cNvPr id="168" name="Google Shape;168;p24"/>
            <p:cNvSpPr txBox="1"/>
            <p:nvPr/>
          </p:nvSpPr>
          <p:spPr>
            <a:xfrm>
              <a:off x="2708078" y="37650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Problem Centric</a:t>
              </a:r>
              <a:endParaRPr sz="1600">
                <a:solidFill>
                  <a:schemeClr val="dk1"/>
                </a:solidFill>
              </a:endParaRPr>
            </a:p>
          </p:txBody>
        </p:sp>
        <p:pic>
          <p:nvPicPr>
            <p:cNvPr id="169" name="Google Shape;169;p24"/>
            <p:cNvPicPr preferRelativeResize="0"/>
            <p:nvPr/>
          </p:nvPicPr>
          <p:blipFill>
            <a:blip r:embed="rId4">
              <a:alphaModFix/>
            </a:blip>
            <a:stretch>
              <a:fillRect/>
            </a:stretch>
          </p:blipFill>
          <p:spPr>
            <a:xfrm>
              <a:off x="2708088" y="2144379"/>
              <a:ext cx="1453800" cy="1473196"/>
            </a:xfrm>
            <a:prstGeom prst="rect">
              <a:avLst/>
            </a:prstGeom>
            <a:noFill/>
            <a:ln>
              <a:noFill/>
            </a:ln>
          </p:spPr>
        </p:pic>
      </p:grpSp>
      <p:grpSp>
        <p:nvGrpSpPr>
          <p:cNvPr id="170" name="Google Shape;170;p24"/>
          <p:cNvGrpSpPr/>
          <p:nvPr/>
        </p:nvGrpSpPr>
        <p:grpSpPr>
          <a:xfrm>
            <a:off x="455775" y="2171213"/>
            <a:ext cx="1453800" cy="2239113"/>
            <a:chOff x="455775" y="2171213"/>
            <a:chExt cx="1453800" cy="2239113"/>
          </a:xfrm>
        </p:grpSpPr>
        <p:sp>
          <p:nvSpPr>
            <p:cNvPr id="171" name="Google Shape;171;p24"/>
            <p:cNvSpPr txBox="1"/>
            <p:nvPr/>
          </p:nvSpPr>
          <p:spPr>
            <a:xfrm>
              <a:off x="455775" y="37650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Balanced Benchmark</a:t>
              </a:r>
              <a:endParaRPr sz="1600">
                <a:solidFill>
                  <a:schemeClr val="dk1"/>
                </a:solidFill>
              </a:endParaRPr>
            </a:p>
          </p:txBody>
        </p:sp>
        <p:pic>
          <p:nvPicPr>
            <p:cNvPr id="172" name="Google Shape;172;p24"/>
            <p:cNvPicPr preferRelativeResize="0"/>
            <p:nvPr/>
          </p:nvPicPr>
          <p:blipFill>
            <a:blip r:embed="rId5">
              <a:alphaModFix/>
            </a:blip>
            <a:stretch>
              <a:fillRect/>
            </a:stretch>
          </p:blipFill>
          <p:spPr>
            <a:xfrm>
              <a:off x="482250" y="2171213"/>
              <a:ext cx="1400850" cy="1419531"/>
            </a:xfrm>
            <a:prstGeom prst="rect">
              <a:avLst/>
            </a:prstGeom>
            <a:noFill/>
            <a:ln>
              <a:noFill/>
            </a:ln>
          </p:spPr>
        </p:pic>
      </p:grpSp>
      <p:grpSp>
        <p:nvGrpSpPr>
          <p:cNvPr id="173" name="Google Shape;173;p24"/>
          <p:cNvGrpSpPr/>
          <p:nvPr/>
        </p:nvGrpSpPr>
        <p:grpSpPr>
          <a:xfrm>
            <a:off x="7223550" y="2213666"/>
            <a:ext cx="1453800" cy="2434859"/>
            <a:chOff x="7223550" y="2213666"/>
            <a:chExt cx="1453800" cy="2434859"/>
          </a:xfrm>
        </p:grpSpPr>
        <p:sp>
          <p:nvSpPr>
            <p:cNvPr id="174" name="Google Shape;174;p24"/>
            <p:cNvSpPr txBox="1"/>
            <p:nvPr/>
          </p:nvSpPr>
          <p:spPr>
            <a:xfrm>
              <a:off x="7223550" y="37650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Efficiency vs Effectiveness</a:t>
              </a:r>
              <a:endParaRPr sz="1600">
                <a:solidFill>
                  <a:schemeClr val="dk1"/>
                </a:solidFill>
              </a:endParaRPr>
            </a:p>
          </p:txBody>
        </p:sp>
        <p:pic>
          <p:nvPicPr>
            <p:cNvPr id="175" name="Google Shape;175;p24"/>
            <p:cNvPicPr preferRelativeResize="0"/>
            <p:nvPr/>
          </p:nvPicPr>
          <p:blipFill>
            <a:blip r:embed="rId6">
              <a:alphaModFix/>
            </a:blip>
            <a:stretch>
              <a:fillRect/>
            </a:stretch>
          </p:blipFill>
          <p:spPr>
            <a:xfrm>
              <a:off x="7250048" y="2213666"/>
              <a:ext cx="1400850" cy="141953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 Impact</a:t>
            </a:r>
            <a:endParaRPr/>
          </a:p>
        </p:txBody>
      </p:sp>
      <p:sp>
        <p:nvSpPr>
          <p:cNvPr id="181" name="Google Shape;181;p25"/>
          <p:cNvSpPr txBox="1"/>
          <p:nvPr/>
        </p:nvSpPr>
        <p:spPr>
          <a:xfrm>
            <a:off x="444875" y="1178100"/>
            <a:ext cx="825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The GraphAI Benchmark has broad utility to three key groups:</a:t>
            </a:r>
            <a:endParaRPr sz="1800">
              <a:solidFill>
                <a:schemeClr val="dk1"/>
              </a:solidFill>
            </a:endParaRPr>
          </a:p>
        </p:txBody>
      </p:sp>
      <p:grpSp>
        <p:nvGrpSpPr>
          <p:cNvPr id="182" name="Google Shape;182;p25"/>
          <p:cNvGrpSpPr/>
          <p:nvPr/>
        </p:nvGrpSpPr>
        <p:grpSpPr>
          <a:xfrm>
            <a:off x="3839650" y="2204886"/>
            <a:ext cx="1453825" cy="2281639"/>
            <a:chOff x="3839650" y="2204886"/>
            <a:chExt cx="1453825" cy="2281639"/>
          </a:xfrm>
        </p:grpSpPr>
        <p:sp>
          <p:nvSpPr>
            <p:cNvPr id="183" name="Google Shape;183;p25"/>
            <p:cNvSpPr txBox="1"/>
            <p:nvPr/>
          </p:nvSpPr>
          <p:spPr>
            <a:xfrm>
              <a:off x="3839667" y="38412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Engineers</a:t>
              </a:r>
              <a:endParaRPr sz="1600">
                <a:solidFill>
                  <a:schemeClr val="dk1"/>
                </a:solidFill>
              </a:endParaRPr>
            </a:p>
          </p:txBody>
        </p:sp>
        <p:pic>
          <p:nvPicPr>
            <p:cNvPr id="184" name="Google Shape;184;p25"/>
            <p:cNvPicPr preferRelativeResize="0"/>
            <p:nvPr/>
          </p:nvPicPr>
          <p:blipFill>
            <a:blip r:embed="rId3">
              <a:alphaModFix/>
            </a:blip>
            <a:stretch>
              <a:fillRect/>
            </a:stretch>
          </p:blipFill>
          <p:spPr>
            <a:xfrm>
              <a:off x="3839650" y="2204886"/>
              <a:ext cx="1453825" cy="1474590"/>
            </a:xfrm>
            <a:prstGeom prst="rect">
              <a:avLst/>
            </a:prstGeom>
            <a:noFill/>
            <a:ln>
              <a:noFill/>
            </a:ln>
          </p:spPr>
        </p:pic>
      </p:grpSp>
      <p:grpSp>
        <p:nvGrpSpPr>
          <p:cNvPr id="185" name="Google Shape;185;p25"/>
          <p:cNvGrpSpPr/>
          <p:nvPr/>
        </p:nvGrpSpPr>
        <p:grpSpPr>
          <a:xfrm>
            <a:off x="6537750" y="2204872"/>
            <a:ext cx="1453825" cy="2519853"/>
            <a:chOff x="6537750" y="2204872"/>
            <a:chExt cx="1453825" cy="2519853"/>
          </a:xfrm>
        </p:grpSpPr>
        <p:sp>
          <p:nvSpPr>
            <p:cNvPr id="186" name="Google Shape;186;p25"/>
            <p:cNvSpPr txBox="1"/>
            <p:nvPr/>
          </p:nvSpPr>
          <p:spPr>
            <a:xfrm>
              <a:off x="6537750" y="38412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Researchers</a:t>
              </a:r>
              <a:endParaRPr sz="1600">
                <a:solidFill>
                  <a:schemeClr val="dk1"/>
                </a:solidFill>
              </a:endParaRPr>
            </a:p>
          </p:txBody>
        </p:sp>
        <p:pic>
          <p:nvPicPr>
            <p:cNvPr id="187" name="Google Shape;187;p25"/>
            <p:cNvPicPr preferRelativeResize="0"/>
            <p:nvPr/>
          </p:nvPicPr>
          <p:blipFill>
            <a:blip r:embed="rId4">
              <a:alphaModFix/>
            </a:blip>
            <a:stretch>
              <a:fillRect/>
            </a:stretch>
          </p:blipFill>
          <p:spPr>
            <a:xfrm>
              <a:off x="6537750" y="2204872"/>
              <a:ext cx="1453825" cy="1474603"/>
            </a:xfrm>
            <a:prstGeom prst="rect">
              <a:avLst/>
            </a:prstGeom>
            <a:noFill/>
            <a:ln>
              <a:noFill/>
            </a:ln>
          </p:spPr>
        </p:pic>
      </p:grpSp>
      <p:grpSp>
        <p:nvGrpSpPr>
          <p:cNvPr id="188" name="Google Shape;188;p25"/>
          <p:cNvGrpSpPr/>
          <p:nvPr/>
        </p:nvGrpSpPr>
        <p:grpSpPr>
          <a:xfrm>
            <a:off x="1130675" y="2204881"/>
            <a:ext cx="1464700" cy="2281644"/>
            <a:chOff x="1130675" y="2204881"/>
            <a:chExt cx="1464700" cy="2281644"/>
          </a:xfrm>
        </p:grpSpPr>
        <p:sp>
          <p:nvSpPr>
            <p:cNvPr id="189" name="Google Shape;189;p25"/>
            <p:cNvSpPr txBox="1"/>
            <p:nvPr/>
          </p:nvSpPr>
          <p:spPr>
            <a:xfrm>
              <a:off x="1141575" y="38412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Analysts</a:t>
              </a:r>
              <a:endParaRPr sz="1600">
                <a:solidFill>
                  <a:schemeClr val="dk1"/>
                </a:solidFill>
              </a:endParaRPr>
            </a:p>
          </p:txBody>
        </p:sp>
        <p:pic>
          <p:nvPicPr>
            <p:cNvPr id="190" name="Google Shape;190;p25"/>
            <p:cNvPicPr preferRelativeResize="0"/>
            <p:nvPr/>
          </p:nvPicPr>
          <p:blipFill>
            <a:blip r:embed="rId5">
              <a:alphaModFix/>
            </a:blip>
            <a:stretch>
              <a:fillRect/>
            </a:stretch>
          </p:blipFill>
          <p:spPr>
            <a:xfrm>
              <a:off x="1130675" y="2204881"/>
              <a:ext cx="1453825" cy="147459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The GraphAI Benchmark Framework</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27"/>
          <p:cNvGrpSpPr/>
          <p:nvPr/>
        </p:nvGrpSpPr>
        <p:grpSpPr>
          <a:xfrm>
            <a:off x="459282" y="1983426"/>
            <a:ext cx="4112725" cy="2705166"/>
            <a:chOff x="459282" y="1983426"/>
            <a:chExt cx="4112725" cy="2705166"/>
          </a:xfrm>
        </p:grpSpPr>
        <p:grpSp>
          <p:nvGrpSpPr>
            <p:cNvPr id="201" name="Google Shape;201;p27"/>
            <p:cNvGrpSpPr/>
            <p:nvPr/>
          </p:nvGrpSpPr>
          <p:grpSpPr>
            <a:xfrm>
              <a:off x="459282" y="1983426"/>
              <a:ext cx="4112725" cy="2705166"/>
              <a:chOff x="459282" y="1983426"/>
              <a:chExt cx="4112725" cy="2705166"/>
            </a:xfrm>
          </p:grpSpPr>
          <p:sp>
            <p:nvSpPr>
              <p:cNvPr id="202" name="Google Shape;202;p27"/>
              <p:cNvSpPr/>
              <p:nvPr/>
            </p:nvSpPr>
            <p:spPr>
              <a:xfrm>
                <a:off x="459282" y="2303113"/>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900">
                    <a:solidFill>
                      <a:schemeClr val="dk1"/>
                    </a:solidFill>
                  </a:rPr>
                  <a:t>Graph Problem Solving</a:t>
                </a:r>
                <a:endParaRPr b="1" sz="900"/>
              </a:p>
            </p:txBody>
          </p:sp>
          <p:cxnSp>
            <p:nvCxnSpPr>
              <p:cNvPr id="203" name="Google Shape;203;p27"/>
              <p:cNvCxnSpPr>
                <a:stCxn id="204" idx="2"/>
                <a:endCxn id="202" idx="0"/>
              </p:cNvCxnSpPr>
              <p:nvPr/>
            </p:nvCxnSpPr>
            <p:spPr>
              <a:xfrm rot="5400000">
                <a:off x="2597107" y="328326"/>
                <a:ext cx="319800" cy="3630000"/>
              </a:xfrm>
              <a:prstGeom prst="bentConnector3">
                <a:avLst>
                  <a:gd fmla="val 49982" name="adj1"/>
                </a:avLst>
              </a:prstGeom>
              <a:noFill/>
              <a:ln cap="flat" cmpd="sng" w="9525">
                <a:solidFill>
                  <a:schemeClr val="dk2"/>
                </a:solidFill>
                <a:prstDash val="solid"/>
                <a:round/>
                <a:headEnd len="med" w="med" type="none"/>
                <a:tailEnd len="med" w="med" type="none"/>
              </a:ln>
            </p:spPr>
          </p:cxnSp>
          <p:sp>
            <p:nvSpPr>
              <p:cNvPr id="205" name="Google Shape;205;p27"/>
              <p:cNvSpPr/>
              <p:nvPr/>
            </p:nvSpPr>
            <p:spPr>
              <a:xfrm>
                <a:off x="611650" y="352784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 Search</a:t>
                </a:r>
                <a:endParaRPr sz="800">
                  <a:solidFill>
                    <a:schemeClr val="dk1"/>
                  </a:solidFill>
                </a:endParaRPr>
              </a:p>
            </p:txBody>
          </p:sp>
          <p:sp>
            <p:nvSpPr>
              <p:cNvPr id="206" name="Google Shape;206;p27"/>
              <p:cNvSpPr/>
              <p:nvPr/>
            </p:nvSpPr>
            <p:spPr>
              <a:xfrm>
                <a:off x="611650"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AI Planning</a:t>
                </a:r>
                <a:endParaRPr sz="800">
                  <a:solidFill>
                    <a:schemeClr val="dk1"/>
                  </a:solidFill>
                </a:endParaRPr>
              </a:p>
            </p:txBody>
          </p:sp>
          <p:sp>
            <p:nvSpPr>
              <p:cNvPr id="207" name="Google Shape;207;p27"/>
              <p:cNvSpPr/>
              <p:nvPr/>
            </p:nvSpPr>
            <p:spPr>
              <a:xfrm>
                <a:off x="611650" y="436879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Critical Path </a:t>
                </a:r>
                <a:endParaRPr sz="800">
                  <a:solidFill>
                    <a:schemeClr val="dk1"/>
                  </a:solidFill>
                </a:endParaRPr>
              </a:p>
            </p:txBody>
          </p:sp>
          <p:cxnSp>
            <p:nvCxnSpPr>
              <p:cNvPr id="208" name="Google Shape;208;p27"/>
              <p:cNvCxnSpPr>
                <a:stCxn id="202" idx="2"/>
                <a:endCxn id="205" idx="1"/>
              </p:cNvCxnSpPr>
              <p:nvPr/>
            </p:nvCxnSpPr>
            <p:spPr>
              <a:xfrm rot="5400000">
                <a:off x="567432" y="3312913"/>
                <a:ext cx="418800" cy="330600"/>
              </a:xfrm>
              <a:prstGeom prst="bentConnector4">
                <a:avLst>
                  <a:gd fmla="val 30131" name="adj1"/>
                  <a:gd fmla="val 171993" name="adj2"/>
                </a:avLst>
              </a:prstGeom>
              <a:noFill/>
              <a:ln cap="flat" cmpd="sng" w="9525">
                <a:solidFill>
                  <a:schemeClr val="dk2"/>
                </a:solidFill>
                <a:prstDash val="solid"/>
                <a:round/>
                <a:headEnd len="med" w="med" type="none"/>
                <a:tailEnd len="med" w="med" type="none"/>
              </a:ln>
            </p:spPr>
          </p:cxnSp>
          <p:cxnSp>
            <p:nvCxnSpPr>
              <p:cNvPr id="209" name="Google Shape;209;p27"/>
              <p:cNvCxnSpPr>
                <a:endCxn id="206" idx="1"/>
              </p:cNvCxnSpPr>
              <p:nvPr/>
            </p:nvCxnSpPr>
            <p:spPr>
              <a:xfrm rot="5400000">
                <a:off x="357250" y="3523217"/>
                <a:ext cx="839400" cy="330600"/>
              </a:xfrm>
              <a:prstGeom prst="bentConnector4">
                <a:avLst>
                  <a:gd fmla="val 15033" name="adj1"/>
                  <a:gd fmla="val 172028" name="adj2"/>
                </a:avLst>
              </a:prstGeom>
              <a:noFill/>
              <a:ln cap="flat" cmpd="sng" w="9525">
                <a:solidFill>
                  <a:schemeClr val="dk2"/>
                </a:solidFill>
                <a:prstDash val="solid"/>
                <a:round/>
                <a:headEnd len="med" w="med" type="none"/>
                <a:tailEnd len="med" w="med" type="none"/>
              </a:ln>
            </p:spPr>
          </p:cxnSp>
          <p:cxnSp>
            <p:nvCxnSpPr>
              <p:cNvPr id="210" name="Google Shape;210;p27"/>
              <p:cNvCxnSpPr>
                <a:stCxn id="202" idx="2"/>
                <a:endCxn id="207" idx="1"/>
              </p:cNvCxnSpPr>
              <p:nvPr/>
            </p:nvCxnSpPr>
            <p:spPr>
              <a:xfrm rot="5400000">
                <a:off x="146832" y="3733513"/>
                <a:ext cx="1260000" cy="330600"/>
              </a:xfrm>
              <a:prstGeom prst="bentConnector4">
                <a:avLst>
                  <a:gd fmla="val 10015" name="adj1"/>
                  <a:gd fmla="val 171993" name="adj2"/>
                </a:avLst>
              </a:prstGeom>
              <a:noFill/>
              <a:ln cap="flat" cmpd="sng" w="9525">
                <a:solidFill>
                  <a:schemeClr val="dk2"/>
                </a:solidFill>
                <a:prstDash val="solid"/>
                <a:round/>
                <a:headEnd len="med" w="med" type="none"/>
                <a:tailEnd len="med" w="med" type="none"/>
              </a:ln>
            </p:spPr>
          </p:cxnSp>
        </p:grpSp>
        <p:pic>
          <p:nvPicPr>
            <p:cNvPr id="211" name="Google Shape;211;p27"/>
            <p:cNvPicPr preferRelativeResize="0"/>
            <p:nvPr/>
          </p:nvPicPr>
          <p:blipFill>
            <a:blip r:embed="rId3">
              <a:alphaModFix/>
            </a:blip>
            <a:stretch>
              <a:fillRect/>
            </a:stretch>
          </p:blipFill>
          <p:spPr>
            <a:xfrm>
              <a:off x="696125" y="2387000"/>
              <a:ext cx="436450" cy="471100"/>
            </a:xfrm>
            <a:prstGeom prst="rect">
              <a:avLst/>
            </a:prstGeom>
            <a:noFill/>
            <a:ln>
              <a:noFill/>
            </a:ln>
          </p:spPr>
        </p:pic>
      </p:grpSp>
      <p:sp>
        <p:nvSpPr>
          <p:cNvPr id="212" name="Google Shape;212;p27"/>
          <p:cNvSpPr txBox="1"/>
          <p:nvPr/>
        </p:nvSpPr>
        <p:spPr>
          <a:xfrm>
            <a:off x="5965650" y="4864025"/>
            <a:ext cx="3186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t>Related Work: </a:t>
            </a:r>
            <a:r>
              <a:rPr lang="en" sz="800" u="sng">
                <a:solidFill>
                  <a:schemeClr val="hlink"/>
                </a:solidFill>
                <a:hlinkClick r:id="rId4"/>
              </a:rPr>
              <a:t>https://chenxuhao.github.io/graphAI.html</a:t>
            </a:r>
            <a:r>
              <a:rPr lang="en" sz="800"/>
              <a:t> </a:t>
            </a:r>
            <a:endParaRPr sz="800"/>
          </a:p>
        </p:txBody>
      </p:sp>
      <p:sp>
        <p:nvSpPr>
          <p:cNvPr id="213" name="Google Shape;21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GraphAI Taxonomy</a:t>
            </a:r>
            <a:endParaRPr/>
          </a:p>
        </p:txBody>
      </p:sp>
      <p:grpSp>
        <p:nvGrpSpPr>
          <p:cNvPr id="214" name="Google Shape;214;p27"/>
          <p:cNvGrpSpPr/>
          <p:nvPr/>
        </p:nvGrpSpPr>
        <p:grpSpPr>
          <a:xfrm>
            <a:off x="1912632" y="1983426"/>
            <a:ext cx="2659376" cy="2704391"/>
            <a:chOff x="1912632" y="1983426"/>
            <a:chExt cx="2659376" cy="2704391"/>
          </a:xfrm>
        </p:grpSpPr>
        <p:grpSp>
          <p:nvGrpSpPr>
            <p:cNvPr id="215" name="Google Shape;215;p27"/>
            <p:cNvGrpSpPr/>
            <p:nvPr/>
          </p:nvGrpSpPr>
          <p:grpSpPr>
            <a:xfrm>
              <a:off x="1912632" y="1983426"/>
              <a:ext cx="2659376" cy="2704391"/>
              <a:chOff x="1912632" y="1983426"/>
              <a:chExt cx="2659376" cy="2704391"/>
            </a:xfrm>
          </p:grpSpPr>
          <p:sp>
            <p:nvSpPr>
              <p:cNvPr id="216" name="Google Shape;216;p27"/>
              <p:cNvSpPr/>
              <p:nvPr/>
            </p:nvSpPr>
            <p:spPr>
              <a:xfrm>
                <a:off x="1912782"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900">
                    <a:solidFill>
                      <a:schemeClr val="dk1"/>
                    </a:solidFill>
                  </a:rPr>
                  <a:t>Graph Mining</a:t>
                </a:r>
                <a:endParaRPr b="1" sz="900"/>
              </a:p>
            </p:txBody>
          </p:sp>
          <p:cxnSp>
            <p:nvCxnSpPr>
              <p:cNvPr id="217" name="Google Shape;217;p27"/>
              <p:cNvCxnSpPr>
                <a:stCxn id="204" idx="2"/>
                <a:endCxn id="216" idx="0"/>
              </p:cNvCxnSpPr>
              <p:nvPr/>
            </p:nvCxnSpPr>
            <p:spPr>
              <a:xfrm rot="5400000">
                <a:off x="3323857" y="1055076"/>
                <a:ext cx="319800" cy="21765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218" name="Google Shape;218;p27"/>
              <p:cNvSpPr/>
              <p:nvPr/>
            </p:nvSpPr>
            <p:spPr>
              <a:xfrm>
                <a:off x="1912763" y="35286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 Matching</a:t>
                </a:r>
                <a:endParaRPr sz="800">
                  <a:solidFill>
                    <a:schemeClr val="dk1"/>
                  </a:solidFill>
                </a:endParaRPr>
              </a:p>
            </p:txBody>
          </p:sp>
          <p:sp>
            <p:nvSpPr>
              <p:cNvPr id="219" name="Google Shape;219;p27"/>
              <p:cNvSpPr/>
              <p:nvPr/>
            </p:nvSpPr>
            <p:spPr>
              <a:xfrm>
                <a:off x="1912763"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Community Detection</a:t>
                </a:r>
                <a:endParaRPr sz="800">
                  <a:solidFill>
                    <a:schemeClr val="dk1"/>
                  </a:solidFill>
                </a:endParaRPr>
              </a:p>
            </p:txBody>
          </p:sp>
          <p:sp>
            <p:nvSpPr>
              <p:cNvPr id="220" name="Google Shape;220;p27"/>
              <p:cNvSpPr/>
              <p:nvPr/>
            </p:nvSpPr>
            <p:spPr>
              <a:xfrm>
                <a:off x="1912763" y="43680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Influence Mapping</a:t>
                </a:r>
                <a:endParaRPr sz="800">
                  <a:solidFill>
                    <a:schemeClr val="dk1"/>
                  </a:solidFill>
                </a:endParaRPr>
              </a:p>
            </p:txBody>
          </p:sp>
          <p:cxnSp>
            <p:nvCxnSpPr>
              <p:cNvPr id="221" name="Google Shape;221;p27"/>
              <p:cNvCxnSpPr>
                <a:stCxn id="216" idx="2"/>
                <a:endCxn id="218" idx="1"/>
              </p:cNvCxnSpPr>
              <p:nvPr/>
            </p:nvCxnSpPr>
            <p:spPr>
              <a:xfrm rot="5400000">
                <a:off x="1944282" y="3237201"/>
                <a:ext cx="419700" cy="483000"/>
              </a:xfrm>
              <a:prstGeom prst="bentConnector4">
                <a:avLst>
                  <a:gd fmla="val 30947" name="adj1"/>
                  <a:gd fmla="val 149274" name="adj2"/>
                </a:avLst>
              </a:prstGeom>
              <a:noFill/>
              <a:ln cap="flat" cmpd="sng" w="9525">
                <a:solidFill>
                  <a:schemeClr val="dk2"/>
                </a:solidFill>
                <a:prstDash val="solid"/>
                <a:round/>
                <a:headEnd len="med" w="med" type="none"/>
                <a:tailEnd len="med" w="med" type="none"/>
              </a:ln>
            </p:spPr>
          </p:cxnSp>
          <p:cxnSp>
            <p:nvCxnSpPr>
              <p:cNvPr id="222" name="Google Shape;222;p27"/>
              <p:cNvCxnSpPr>
                <a:stCxn id="216" idx="2"/>
                <a:endCxn id="219" idx="1"/>
              </p:cNvCxnSpPr>
              <p:nvPr/>
            </p:nvCxnSpPr>
            <p:spPr>
              <a:xfrm rot="5400000">
                <a:off x="1734432" y="3447051"/>
                <a:ext cx="839400" cy="483000"/>
              </a:xfrm>
              <a:prstGeom prst="bentConnector4">
                <a:avLst>
                  <a:gd fmla="val 15270" name="adj1"/>
                  <a:gd fmla="val 149274" name="adj2"/>
                </a:avLst>
              </a:prstGeom>
              <a:noFill/>
              <a:ln cap="flat" cmpd="sng" w="9525">
                <a:solidFill>
                  <a:schemeClr val="dk2"/>
                </a:solidFill>
                <a:prstDash val="solid"/>
                <a:round/>
                <a:headEnd len="med" w="med" type="none"/>
                <a:tailEnd len="med" w="med" type="none"/>
              </a:ln>
            </p:spPr>
          </p:cxnSp>
          <p:cxnSp>
            <p:nvCxnSpPr>
              <p:cNvPr id="223" name="Google Shape;223;p27"/>
              <p:cNvCxnSpPr>
                <a:stCxn id="216" idx="2"/>
                <a:endCxn id="220" idx="1"/>
              </p:cNvCxnSpPr>
              <p:nvPr/>
            </p:nvCxnSpPr>
            <p:spPr>
              <a:xfrm rot="5400000">
                <a:off x="1524582" y="3656901"/>
                <a:ext cx="1259100" cy="483000"/>
              </a:xfrm>
              <a:prstGeom prst="bentConnector4">
                <a:avLst>
                  <a:gd fmla="val 10013" name="adj1"/>
                  <a:gd fmla="val 149274" name="adj2"/>
                </a:avLst>
              </a:prstGeom>
              <a:noFill/>
              <a:ln cap="flat" cmpd="sng" w="9525">
                <a:solidFill>
                  <a:schemeClr val="dk2"/>
                </a:solidFill>
                <a:prstDash val="solid"/>
                <a:round/>
                <a:headEnd len="med" w="med" type="none"/>
                <a:tailEnd len="med" w="med" type="none"/>
              </a:ln>
            </p:spPr>
          </p:cxnSp>
        </p:grpSp>
        <p:pic>
          <p:nvPicPr>
            <p:cNvPr id="224" name="Google Shape;224;p27"/>
            <p:cNvPicPr preferRelativeResize="0"/>
            <p:nvPr/>
          </p:nvPicPr>
          <p:blipFill>
            <a:blip r:embed="rId5">
              <a:alphaModFix/>
            </a:blip>
            <a:stretch>
              <a:fillRect/>
            </a:stretch>
          </p:blipFill>
          <p:spPr>
            <a:xfrm>
              <a:off x="2147087" y="2336200"/>
              <a:ext cx="530588" cy="572700"/>
            </a:xfrm>
            <a:prstGeom prst="rect">
              <a:avLst/>
            </a:prstGeom>
            <a:noFill/>
            <a:ln>
              <a:noFill/>
            </a:ln>
          </p:spPr>
        </p:pic>
      </p:grpSp>
      <p:grpSp>
        <p:nvGrpSpPr>
          <p:cNvPr id="225" name="Google Shape;225;p27"/>
          <p:cNvGrpSpPr/>
          <p:nvPr/>
        </p:nvGrpSpPr>
        <p:grpSpPr>
          <a:xfrm>
            <a:off x="3366281" y="1983426"/>
            <a:ext cx="1205726" cy="2704491"/>
            <a:chOff x="3366281" y="1983426"/>
            <a:chExt cx="1205726" cy="2704491"/>
          </a:xfrm>
        </p:grpSpPr>
        <p:grpSp>
          <p:nvGrpSpPr>
            <p:cNvPr id="226" name="Google Shape;226;p27"/>
            <p:cNvGrpSpPr/>
            <p:nvPr/>
          </p:nvGrpSpPr>
          <p:grpSpPr>
            <a:xfrm>
              <a:off x="3366281" y="1983426"/>
              <a:ext cx="1205726" cy="2704491"/>
              <a:chOff x="3366281" y="1983426"/>
              <a:chExt cx="1205726" cy="2704491"/>
            </a:xfrm>
          </p:grpSpPr>
          <p:sp>
            <p:nvSpPr>
              <p:cNvPr id="227" name="Google Shape;227;p27"/>
              <p:cNvSpPr/>
              <p:nvPr/>
            </p:nvSpPr>
            <p:spPr>
              <a:xfrm>
                <a:off x="3366281"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900">
                    <a:solidFill>
                      <a:schemeClr val="dk1"/>
                    </a:solidFill>
                  </a:rPr>
                  <a:t>Graph Reasoning </a:t>
                </a:r>
                <a:endParaRPr b="1" sz="900"/>
              </a:p>
            </p:txBody>
          </p:sp>
          <p:cxnSp>
            <p:nvCxnSpPr>
              <p:cNvPr id="228" name="Google Shape;228;p27"/>
              <p:cNvCxnSpPr>
                <a:stCxn id="204" idx="2"/>
                <a:endCxn id="227" idx="0"/>
              </p:cNvCxnSpPr>
              <p:nvPr/>
            </p:nvCxnSpPr>
            <p:spPr>
              <a:xfrm rot="5400000">
                <a:off x="4050607" y="1781826"/>
                <a:ext cx="319800" cy="7230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229" name="Google Shape;229;p27"/>
              <p:cNvSpPr/>
              <p:nvPr/>
            </p:nvSpPr>
            <p:spPr>
              <a:xfrm>
                <a:off x="3485338" y="35287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Common-Sense</a:t>
                </a:r>
                <a:endParaRPr sz="800">
                  <a:solidFill>
                    <a:schemeClr val="dk1"/>
                  </a:solidFill>
                </a:endParaRPr>
              </a:p>
            </p:txBody>
          </p:sp>
          <p:sp>
            <p:nvSpPr>
              <p:cNvPr id="230" name="Google Shape;230;p27"/>
              <p:cNvSpPr/>
              <p:nvPr/>
            </p:nvSpPr>
            <p:spPr>
              <a:xfrm>
                <a:off x="3485338" y="39484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Ontological Inference</a:t>
                </a:r>
                <a:endParaRPr sz="800">
                  <a:solidFill>
                    <a:schemeClr val="dk1"/>
                  </a:solidFill>
                </a:endParaRPr>
              </a:p>
            </p:txBody>
          </p:sp>
          <p:sp>
            <p:nvSpPr>
              <p:cNvPr id="231" name="Google Shape;231;p27"/>
              <p:cNvSpPr/>
              <p:nvPr/>
            </p:nvSpPr>
            <p:spPr>
              <a:xfrm>
                <a:off x="3485338" y="43681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KG Inference</a:t>
                </a:r>
                <a:endParaRPr sz="800">
                  <a:solidFill>
                    <a:schemeClr val="dk1"/>
                  </a:solidFill>
                </a:endParaRPr>
              </a:p>
            </p:txBody>
          </p:sp>
          <p:cxnSp>
            <p:nvCxnSpPr>
              <p:cNvPr id="232" name="Google Shape;232;p27"/>
              <p:cNvCxnSpPr>
                <a:stCxn id="227" idx="2"/>
                <a:endCxn id="229" idx="1"/>
              </p:cNvCxnSpPr>
              <p:nvPr/>
            </p:nvCxnSpPr>
            <p:spPr>
              <a:xfrm rot="5400000">
                <a:off x="3457331" y="3296751"/>
                <a:ext cx="419700" cy="363900"/>
              </a:xfrm>
              <a:prstGeom prst="bentConnector4">
                <a:avLst>
                  <a:gd fmla="val 30959" name="adj1"/>
                  <a:gd fmla="val 165408" name="adj2"/>
                </a:avLst>
              </a:prstGeom>
              <a:noFill/>
              <a:ln cap="flat" cmpd="sng" w="9525">
                <a:solidFill>
                  <a:schemeClr val="dk2"/>
                </a:solidFill>
                <a:prstDash val="solid"/>
                <a:round/>
                <a:headEnd len="med" w="med" type="none"/>
                <a:tailEnd len="med" w="med" type="none"/>
              </a:ln>
            </p:spPr>
          </p:cxnSp>
          <p:cxnSp>
            <p:nvCxnSpPr>
              <p:cNvPr id="233" name="Google Shape;233;p27"/>
              <p:cNvCxnSpPr>
                <a:stCxn id="227" idx="2"/>
                <a:endCxn id="230" idx="1"/>
              </p:cNvCxnSpPr>
              <p:nvPr/>
            </p:nvCxnSpPr>
            <p:spPr>
              <a:xfrm rot="5400000">
                <a:off x="3247481" y="3506601"/>
                <a:ext cx="839400" cy="363900"/>
              </a:xfrm>
              <a:prstGeom prst="bentConnector4">
                <a:avLst>
                  <a:gd fmla="val 15776" name="adj1"/>
                  <a:gd fmla="val 165408" name="adj2"/>
                </a:avLst>
              </a:prstGeom>
              <a:noFill/>
              <a:ln cap="flat" cmpd="sng" w="9525">
                <a:solidFill>
                  <a:schemeClr val="dk2"/>
                </a:solidFill>
                <a:prstDash val="solid"/>
                <a:round/>
                <a:headEnd len="med" w="med" type="none"/>
                <a:tailEnd len="med" w="med" type="none"/>
              </a:ln>
            </p:spPr>
          </p:cxnSp>
          <p:cxnSp>
            <p:nvCxnSpPr>
              <p:cNvPr id="234" name="Google Shape;234;p27"/>
              <p:cNvCxnSpPr>
                <a:stCxn id="227" idx="2"/>
                <a:endCxn id="231" idx="1"/>
              </p:cNvCxnSpPr>
              <p:nvPr/>
            </p:nvCxnSpPr>
            <p:spPr>
              <a:xfrm rot="5400000">
                <a:off x="3037631" y="3716451"/>
                <a:ext cx="1259100" cy="363900"/>
              </a:xfrm>
              <a:prstGeom prst="bentConnector4">
                <a:avLst>
                  <a:gd fmla="val 10517" name="adj1"/>
                  <a:gd fmla="val 165408" name="adj2"/>
                </a:avLst>
              </a:prstGeom>
              <a:noFill/>
              <a:ln cap="flat" cmpd="sng" w="9525">
                <a:solidFill>
                  <a:schemeClr val="dk2"/>
                </a:solidFill>
                <a:prstDash val="solid"/>
                <a:round/>
                <a:headEnd len="med" w="med" type="none"/>
                <a:tailEnd len="med" w="med" type="none"/>
              </a:ln>
            </p:spPr>
          </p:cxnSp>
        </p:grpSp>
        <p:pic>
          <p:nvPicPr>
            <p:cNvPr id="235" name="Google Shape;235;p27"/>
            <p:cNvPicPr preferRelativeResize="0"/>
            <p:nvPr/>
          </p:nvPicPr>
          <p:blipFill>
            <a:blip r:embed="rId6">
              <a:alphaModFix/>
            </a:blip>
            <a:stretch>
              <a:fillRect/>
            </a:stretch>
          </p:blipFill>
          <p:spPr>
            <a:xfrm>
              <a:off x="3599385" y="2363975"/>
              <a:ext cx="530590" cy="572700"/>
            </a:xfrm>
            <a:prstGeom prst="rect">
              <a:avLst/>
            </a:prstGeom>
            <a:noFill/>
            <a:ln>
              <a:noFill/>
            </a:ln>
          </p:spPr>
        </p:pic>
      </p:grpSp>
      <p:grpSp>
        <p:nvGrpSpPr>
          <p:cNvPr id="236" name="Google Shape;236;p27"/>
          <p:cNvGrpSpPr/>
          <p:nvPr/>
        </p:nvGrpSpPr>
        <p:grpSpPr>
          <a:xfrm>
            <a:off x="4572007" y="1983426"/>
            <a:ext cx="2786055" cy="2704491"/>
            <a:chOff x="4572007" y="1983426"/>
            <a:chExt cx="2786055" cy="2704491"/>
          </a:xfrm>
        </p:grpSpPr>
        <p:grpSp>
          <p:nvGrpSpPr>
            <p:cNvPr id="237" name="Google Shape;237;p27"/>
            <p:cNvGrpSpPr/>
            <p:nvPr/>
          </p:nvGrpSpPr>
          <p:grpSpPr>
            <a:xfrm>
              <a:off x="4572007" y="1983426"/>
              <a:ext cx="2786055" cy="2704491"/>
              <a:chOff x="4572007" y="1983426"/>
              <a:chExt cx="2786055" cy="2704491"/>
            </a:xfrm>
          </p:grpSpPr>
          <p:sp>
            <p:nvSpPr>
              <p:cNvPr id="238" name="Google Shape;238;p27"/>
              <p:cNvSpPr/>
              <p:nvPr/>
            </p:nvSpPr>
            <p:spPr>
              <a:xfrm>
                <a:off x="6273194"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rPr b="1" lang="en" sz="900"/>
                  <a:t>Graph Prediction</a:t>
                </a:r>
                <a:endParaRPr b="1" sz="900"/>
              </a:p>
            </p:txBody>
          </p:sp>
          <p:cxnSp>
            <p:nvCxnSpPr>
              <p:cNvPr id="239" name="Google Shape;239;p27"/>
              <p:cNvCxnSpPr>
                <a:stCxn id="204" idx="2"/>
                <a:endCxn id="238" idx="0"/>
              </p:cNvCxnSpPr>
              <p:nvPr/>
            </p:nvCxnSpPr>
            <p:spPr>
              <a:xfrm flipH="1" rot="-5400000">
                <a:off x="5504107" y="1051326"/>
                <a:ext cx="319800" cy="21840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240" name="Google Shape;240;p27"/>
              <p:cNvSpPr/>
              <p:nvPr/>
            </p:nvSpPr>
            <p:spPr>
              <a:xfrm>
                <a:off x="6392363" y="35287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 Neural Networks</a:t>
                </a:r>
                <a:endParaRPr sz="800">
                  <a:solidFill>
                    <a:schemeClr val="dk1"/>
                  </a:solidFill>
                </a:endParaRPr>
              </a:p>
            </p:txBody>
          </p:sp>
          <p:sp>
            <p:nvSpPr>
              <p:cNvPr id="241" name="Google Shape;241;p27"/>
              <p:cNvSpPr/>
              <p:nvPr/>
            </p:nvSpPr>
            <p:spPr>
              <a:xfrm>
                <a:off x="6392363" y="39484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KG Completion</a:t>
                </a:r>
                <a:endParaRPr sz="800">
                  <a:solidFill>
                    <a:schemeClr val="dk1"/>
                  </a:solidFill>
                </a:endParaRPr>
              </a:p>
            </p:txBody>
          </p:sp>
          <p:sp>
            <p:nvSpPr>
              <p:cNvPr id="242" name="Google Shape;242;p27"/>
              <p:cNvSpPr/>
              <p:nvPr/>
            </p:nvSpPr>
            <p:spPr>
              <a:xfrm>
                <a:off x="6392363" y="43681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 Prediction</a:t>
                </a:r>
                <a:endParaRPr sz="800">
                  <a:solidFill>
                    <a:schemeClr val="dk1"/>
                  </a:solidFill>
                </a:endParaRPr>
              </a:p>
            </p:txBody>
          </p:sp>
          <p:cxnSp>
            <p:nvCxnSpPr>
              <p:cNvPr id="243" name="Google Shape;243;p27"/>
              <p:cNvCxnSpPr>
                <a:stCxn id="238" idx="2"/>
                <a:endCxn id="240" idx="1"/>
              </p:cNvCxnSpPr>
              <p:nvPr/>
            </p:nvCxnSpPr>
            <p:spPr>
              <a:xfrm rot="5400000">
                <a:off x="6364394" y="3296901"/>
                <a:ext cx="419700" cy="363600"/>
              </a:xfrm>
              <a:prstGeom prst="bentConnector4">
                <a:avLst>
                  <a:gd fmla="val 30959" name="adj1"/>
                  <a:gd fmla="val 165513" name="adj2"/>
                </a:avLst>
              </a:prstGeom>
              <a:noFill/>
              <a:ln cap="flat" cmpd="sng" w="9525">
                <a:solidFill>
                  <a:schemeClr val="dk2"/>
                </a:solidFill>
                <a:prstDash val="solid"/>
                <a:round/>
                <a:headEnd len="med" w="med" type="none"/>
                <a:tailEnd len="med" w="med" type="none"/>
              </a:ln>
            </p:spPr>
          </p:cxnSp>
          <p:cxnSp>
            <p:nvCxnSpPr>
              <p:cNvPr id="244" name="Google Shape;244;p27"/>
              <p:cNvCxnSpPr>
                <a:stCxn id="238" idx="2"/>
                <a:endCxn id="241" idx="1"/>
              </p:cNvCxnSpPr>
              <p:nvPr/>
            </p:nvCxnSpPr>
            <p:spPr>
              <a:xfrm rot="5400000">
                <a:off x="6154544" y="3506751"/>
                <a:ext cx="839400" cy="363600"/>
              </a:xfrm>
              <a:prstGeom prst="bentConnector4">
                <a:avLst>
                  <a:gd fmla="val 15341" name="adj1"/>
                  <a:gd fmla="val 165513" name="adj2"/>
                </a:avLst>
              </a:prstGeom>
              <a:noFill/>
              <a:ln cap="flat" cmpd="sng" w="9525">
                <a:solidFill>
                  <a:schemeClr val="dk2"/>
                </a:solidFill>
                <a:prstDash val="solid"/>
                <a:round/>
                <a:headEnd len="med" w="med" type="none"/>
                <a:tailEnd len="med" w="med" type="none"/>
              </a:ln>
            </p:spPr>
          </p:cxnSp>
          <p:cxnSp>
            <p:nvCxnSpPr>
              <p:cNvPr id="245" name="Google Shape;245;p27"/>
              <p:cNvCxnSpPr>
                <a:stCxn id="238" idx="2"/>
                <a:endCxn id="242" idx="1"/>
              </p:cNvCxnSpPr>
              <p:nvPr/>
            </p:nvCxnSpPr>
            <p:spPr>
              <a:xfrm rot="5400000">
                <a:off x="5944694" y="3716601"/>
                <a:ext cx="1259100" cy="363600"/>
              </a:xfrm>
              <a:prstGeom prst="bentConnector4">
                <a:avLst>
                  <a:gd fmla="val 10227" name="adj1"/>
                  <a:gd fmla="val 165513" name="adj2"/>
                </a:avLst>
              </a:prstGeom>
              <a:noFill/>
              <a:ln cap="flat" cmpd="sng" w="9525">
                <a:solidFill>
                  <a:schemeClr val="dk2"/>
                </a:solidFill>
                <a:prstDash val="solid"/>
                <a:round/>
                <a:headEnd len="med" w="med" type="none"/>
                <a:tailEnd len="med" w="med" type="none"/>
              </a:ln>
            </p:spPr>
          </p:cxnSp>
        </p:grpSp>
        <p:pic>
          <p:nvPicPr>
            <p:cNvPr id="246" name="Google Shape;246;p27"/>
            <p:cNvPicPr preferRelativeResize="0"/>
            <p:nvPr/>
          </p:nvPicPr>
          <p:blipFill>
            <a:blip r:embed="rId7">
              <a:alphaModFix/>
            </a:blip>
            <a:stretch>
              <a:fillRect/>
            </a:stretch>
          </p:blipFill>
          <p:spPr>
            <a:xfrm>
              <a:off x="6493000" y="2329713"/>
              <a:ext cx="560825" cy="605343"/>
            </a:xfrm>
            <a:prstGeom prst="rect">
              <a:avLst/>
            </a:prstGeom>
            <a:noFill/>
            <a:ln>
              <a:noFill/>
            </a:ln>
          </p:spPr>
        </p:pic>
      </p:grpSp>
      <p:grpSp>
        <p:nvGrpSpPr>
          <p:cNvPr id="247" name="Google Shape;247;p27"/>
          <p:cNvGrpSpPr/>
          <p:nvPr/>
        </p:nvGrpSpPr>
        <p:grpSpPr>
          <a:xfrm>
            <a:off x="4572007" y="1983426"/>
            <a:ext cx="4239505" cy="2704491"/>
            <a:chOff x="4572007" y="1983426"/>
            <a:chExt cx="4239505" cy="2704491"/>
          </a:xfrm>
        </p:grpSpPr>
        <p:grpSp>
          <p:nvGrpSpPr>
            <p:cNvPr id="248" name="Google Shape;248;p27"/>
            <p:cNvGrpSpPr/>
            <p:nvPr/>
          </p:nvGrpSpPr>
          <p:grpSpPr>
            <a:xfrm>
              <a:off x="4572007" y="1983426"/>
              <a:ext cx="4239505" cy="2704491"/>
              <a:chOff x="4572007" y="1983426"/>
              <a:chExt cx="4239505" cy="2704491"/>
            </a:xfrm>
          </p:grpSpPr>
          <p:sp>
            <p:nvSpPr>
              <p:cNvPr id="249" name="Google Shape;249;p27"/>
              <p:cNvSpPr/>
              <p:nvPr/>
            </p:nvSpPr>
            <p:spPr>
              <a:xfrm>
                <a:off x="7726607"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t/>
                </a:r>
                <a:endParaRPr sz="900"/>
              </a:p>
              <a:p>
                <a:pPr indent="0" lvl="0" marL="0" rtl="0" algn="ctr">
                  <a:spcBef>
                    <a:spcPts val="0"/>
                  </a:spcBef>
                  <a:spcAft>
                    <a:spcPts val="0"/>
                  </a:spcAft>
                  <a:buNone/>
                </a:pPr>
                <a:r>
                  <a:rPr b="1" lang="en" sz="900"/>
                  <a:t>Graph Transparency</a:t>
                </a:r>
                <a:endParaRPr b="1" sz="900"/>
              </a:p>
            </p:txBody>
          </p:sp>
          <p:cxnSp>
            <p:nvCxnSpPr>
              <p:cNvPr id="250" name="Google Shape;250;p27"/>
              <p:cNvCxnSpPr>
                <a:stCxn id="204" idx="2"/>
                <a:endCxn id="249" idx="0"/>
              </p:cNvCxnSpPr>
              <p:nvPr/>
            </p:nvCxnSpPr>
            <p:spPr>
              <a:xfrm flipH="1" rot="-5400000">
                <a:off x="6230857" y="324576"/>
                <a:ext cx="319800" cy="36375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251" name="Google Shape;251;p27"/>
              <p:cNvSpPr/>
              <p:nvPr/>
            </p:nvSpPr>
            <p:spPr>
              <a:xfrm>
                <a:off x="7845813" y="35287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Neuro-Symbolic AI</a:t>
                </a:r>
                <a:endParaRPr sz="800">
                  <a:solidFill>
                    <a:schemeClr val="dk1"/>
                  </a:solidFill>
                </a:endParaRPr>
              </a:p>
            </p:txBody>
          </p:sp>
          <p:sp>
            <p:nvSpPr>
              <p:cNvPr id="252" name="Google Shape;252;p27"/>
              <p:cNvSpPr/>
              <p:nvPr/>
            </p:nvSpPr>
            <p:spPr>
              <a:xfrm>
                <a:off x="7845813" y="39484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RAG</a:t>
                </a:r>
                <a:endParaRPr sz="800">
                  <a:solidFill>
                    <a:schemeClr val="dk1"/>
                  </a:solidFill>
                </a:endParaRPr>
              </a:p>
            </p:txBody>
          </p:sp>
          <p:sp>
            <p:nvSpPr>
              <p:cNvPr id="253" name="Google Shape;253;p27"/>
              <p:cNvSpPr/>
              <p:nvPr/>
            </p:nvSpPr>
            <p:spPr>
              <a:xfrm>
                <a:off x="7845813" y="43681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Post-Hoc Explanation</a:t>
                </a:r>
                <a:endParaRPr sz="800">
                  <a:solidFill>
                    <a:schemeClr val="dk1"/>
                  </a:solidFill>
                </a:endParaRPr>
              </a:p>
            </p:txBody>
          </p:sp>
          <p:cxnSp>
            <p:nvCxnSpPr>
              <p:cNvPr id="254" name="Google Shape;254;p27"/>
              <p:cNvCxnSpPr>
                <a:stCxn id="249" idx="2"/>
                <a:endCxn id="251" idx="1"/>
              </p:cNvCxnSpPr>
              <p:nvPr/>
            </p:nvCxnSpPr>
            <p:spPr>
              <a:xfrm rot="5400000">
                <a:off x="7817807" y="3296901"/>
                <a:ext cx="419700" cy="363600"/>
              </a:xfrm>
              <a:prstGeom prst="bentConnector4">
                <a:avLst>
                  <a:gd fmla="val 30959" name="adj1"/>
                  <a:gd fmla="val 165503" name="adj2"/>
                </a:avLst>
              </a:prstGeom>
              <a:noFill/>
              <a:ln cap="flat" cmpd="sng" w="9525">
                <a:solidFill>
                  <a:schemeClr val="dk2"/>
                </a:solidFill>
                <a:prstDash val="solid"/>
                <a:round/>
                <a:headEnd len="med" w="med" type="none"/>
                <a:tailEnd len="med" w="med" type="none"/>
              </a:ln>
            </p:spPr>
          </p:cxnSp>
          <p:cxnSp>
            <p:nvCxnSpPr>
              <p:cNvPr id="255" name="Google Shape;255;p27"/>
              <p:cNvCxnSpPr>
                <a:stCxn id="249" idx="2"/>
                <a:endCxn id="252" idx="1"/>
              </p:cNvCxnSpPr>
              <p:nvPr/>
            </p:nvCxnSpPr>
            <p:spPr>
              <a:xfrm rot="5400000">
                <a:off x="7607957" y="3506751"/>
                <a:ext cx="839400" cy="363600"/>
              </a:xfrm>
              <a:prstGeom prst="bentConnector4">
                <a:avLst>
                  <a:gd fmla="val 15341" name="adj1"/>
                  <a:gd fmla="val 165503" name="adj2"/>
                </a:avLst>
              </a:prstGeom>
              <a:noFill/>
              <a:ln cap="flat" cmpd="sng" w="9525">
                <a:solidFill>
                  <a:schemeClr val="dk2"/>
                </a:solidFill>
                <a:prstDash val="solid"/>
                <a:round/>
                <a:headEnd len="med" w="med" type="none"/>
                <a:tailEnd len="med" w="med" type="none"/>
              </a:ln>
            </p:spPr>
          </p:cxnSp>
          <p:cxnSp>
            <p:nvCxnSpPr>
              <p:cNvPr id="256" name="Google Shape;256;p27"/>
              <p:cNvCxnSpPr>
                <a:endCxn id="253" idx="1"/>
              </p:cNvCxnSpPr>
              <p:nvPr/>
            </p:nvCxnSpPr>
            <p:spPr>
              <a:xfrm rot="5400000">
                <a:off x="7398213" y="3716517"/>
                <a:ext cx="1259100" cy="363900"/>
              </a:xfrm>
              <a:prstGeom prst="bentConnector4">
                <a:avLst>
                  <a:gd fmla="val 10222" name="adj1"/>
                  <a:gd fmla="val 165437" name="adj2"/>
                </a:avLst>
              </a:prstGeom>
              <a:noFill/>
              <a:ln cap="flat" cmpd="sng" w="9525">
                <a:solidFill>
                  <a:schemeClr val="dk2"/>
                </a:solidFill>
                <a:prstDash val="solid"/>
                <a:round/>
                <a:headEnd len="med" w="med" type="none"/>
                <a:tailEnd len="med" w="med" type="none"/>
              </a:ln>
            </p:spPr>
          </p:cxnSp>
        </p:grpSp>
        <p:pic>
          <p:nvPicPr>
            <p:cNvPr id="257" name="Google Shape;257;p27"/>
            <p:cNvPicPr preferRelativeResize="0"/>
            <p:nvPr/>
          </p:nvPicPr>
          <p:blipFill>
            <a:blip r:embed="rId8">
              <a:alphaModFix/>
            </a:blip>
            <a:stretch>
              <a:fillRect/>
            </a:stretch>
          </p:blipFill>
          <p:spPr>
            <a:xfrm>
              <a:off x="7950733" y="2336500"/>
              <a:ext cx="530592" cy="572700"/>
            </a:xfrm>
            <a:prstGeom prst="rect">
              <a:avLst/>
            </a:prstGeom>
            <a:noFill/>
            <a:ln>
              <a:noFill/>
            </a:ln>
          </p:spPr>
        </p:pic>
      </p:grpSp>
      <p:grpSp>
        <p:nvGrpSpPr>
          <p:cNvPr id="258" name="Google Shape;258;p27"/>
          <p:cNvGrpSpPr/>
          <p:nvPr/>
        </p:nvGrpSpPr>
        <p:grpSpPr>
          <a:xfrm>
            <a:off x="4089157" y="1017726"/>
            <a:ext cx="965700" cy="965700"/>
            <a:chOff x="4089157" y="1017726"/>
            <a:chExt cx="965700" cy="965700"/>
          </a:xfrm>
        </p:grpSpPr>
        <p:sp>
          <p:nvSpPr>
            <p:cNvPr id="204" name="Google Shape;204;p27"/>
            <p:cNvSpPr/>
            <p:nvPr/>
          </p:nvSpPr>
          <p:spPr>
            <a:xfrm>
              <a:off x="4089157" y="1017726"/>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900">
                  <a:solidFill>
                    <a:schemeClr val="dk1"/>
                  </a:solidFill>
                </a:rPr>
                <a:t>GraphAI</a:t>
              </a:r>
              <a:endParaRPr b="1" sz="900"/>
            </a:p>
          </p:txBody>
        </p:sp>
        <p:pic>
          <p:nvPicPr>
            <p:cNvPr id="259" name="Google Shape;259;p27"/>
            <p:cNvPicPr preferRelativeResize="0"/>
            <p:nvPr/>
          </p:nvPicPr>
          <p:blipFill>
            <a:blip r:embed="rId9">
              <a:alphaModFix/>
            </a:blip>
            <a:stretch>
              <a:fillRect/>
            </a:stretch>
          </p:blipFill>
          <p:spPr>
            <a:xfrm>
              <a:off x="4279493" y="1107400"/>
              <a:ext cx="585020" cy="631450"/>
            </a:xfrm>
            <a:prstGeom prst="rect">
              <a:avLst/>
            </a:prstGeom>
            <a:noFill/>
            <a:ln>
              <a:noFill/>
            </a:ln>
          </p:spPr>
        </p:pic>
      </p:grpSp>
      <p:grpSp>
        <p:nvGrpSpPr>
          <p:cNvPr id="260" name="Google Shape;260;p27"/>
          <p:cNvGrpSpPr/>
          <p:nvPr/>
        </p:nvGrpSpPr>
        <p:grpSpPr>
          <a:xfrm>
            <a:off x="4572007" y="1983426"/>
            <a:ext cx="1332530" cy="2705166"/>
            <a:chOff x="4572007" y="1983426"/>
            <a:chExt cx="1332530" cy="2705166"/>
          </a:xfrm>
        </p:grpSpPr>
        <p:grpSp>
          <p:nvGrpSpPr>
            <p:cNvPr id="261" name="Google Shape;261;p27"/>
            <p:cNvGrpSpPr/>
            <p:nvPr/>
          </p:nvGrpSpPr>
          <p:grpSpPr>
            <a:xfrm>
              <a:off x="4572007" y="1983426"/>
              <a:ext cx="1332530" cy="2284791"/>
              <a:chOff x="4572007" y="1983426"/>
              <a:chExt cx="1332530" cy="2284791"/>
            </a:xfrm>
          </p:grpSpPr>
          <p:grpSp>
            <p:nvGrpSpPr>
              <p:cNvPr id="262" name="Google Shape;262;p27"/>
              <p:cNvGrpSpPr/>
              <p:nvPr/>
            </p:nvGrpSpPr>
            <p:grpSpPr>
              <a:xfrm>
                <a:off x="4572007" y="1983426"/>
                <a:ext cx="1332530" cy="2284791"/>
                <a:chOff x="4572007" y="1983426"/>
                <a:chExt cx="1332530" cy="2284791"/>
              </a:xfrm>
            </p:grpSpPr>
            <p:sp>
              <p:nvSpPr>
                <p:cNvPr id="263" name="Google Shape;263;p27"/>
                <p:cNvSpPr/>
                <p:nvPr/>
              </p:nvSpPr>
              <p:spPr>
                <a:xfrm>
                  <a:off x="4819780"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900">
                      <a:solidFill>
                        <a:schemeClr val="dk1"/>
                      </a:solidFill>
                    </a:rPr>
                    <a:t>Graph Abstraction</a:t>
                  </a:r>
                  <a:endParaRPr b="1" sz="900"/>
                </a:p>
              </p:txBody>
            </p:sp>
            <p:cxnSp>
              <p:nvCxnSpPr>
                <p:cNvPr id="264" name="Google Shape;264;p27"/>
                <p:cNvCxnSpPr>
                  <a:stCxn id="204" idx="2"/>
                  <a:endCxn id="263" idx="0"/>
                </p:cNvCxnSpPr>
                <p:nvPr/>
              </p:nvCxnSpPr>
              <p:spPr>
                <a:xfrm flipH="1" rot="-5400000">
                  <a:off x="4777357" y="1778076"/>
                  <a:ext cx="319800" cy="7305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265" name="Google Shape;265;p27"/>
                <p:cNvSpPr/>
                <p:nvPr/>
              </p:nvSpPr>
              <p:spPr>
                <a:xfrm>
                  <a:off x="4938838" y="35287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 Embedding</a:t>
                  </a:r>
                  <a:endParaRPr sz="800">
                    <a:solidFill>
                      <a:schemeClr val="dk1"/>
                    </a:solidFill>
                  </a:endParaRPr>
                </a:p>
              </p:txBody>
            </p:sp>
            <p:sp>
              <p:nvSpPr>
                <p:cNvPr id="266" name="Google Shape;266;p27"/>
                <p:cNvSpPr/>
                <p:nvPr/>
              </p:nvSpPr>
              <p:spPr>
                <a:xfrm>
                  <a:off x="4938838" y="39484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Representation Learning </a:t>
                  </a:r>
                  <a:endParaRPr sz="800">
                    <a:solidFill>
                      <a:schemeClr val="dk1"/>
                    </a:solidFill>
                  </a:endParaRPr>
                </a:p>
              </p:txBody>
            </p:sp>
            <p:cxnSp>
              <p:nvCxnSpPr>
                <p:cNvPr id="267" name="Google Shape;267;p27"/>
                <p:cNvCxnSpPr>
                  <a:stCxn id="263" idx="2"/>
                  <a:endCxn id="265" idx="1"/>
                </p:cNvCxnSpPr>
                <p:nvPr/>
              </p:nvCxnSpPr>
              <p:spPr>
                <a:xfrm rot="5400000">
                  <a:off x="4910830" y="3296751"/>
                  <a:ext cx="419700" cy="363900"/>
                </a:xfrm>
                <a:prstGeom prst="bentConnector4">
                  <a:avLst>
                    <a:gd fmla="val 30959" name="adj1"/>
                    <a:gd fmla="val 165407" name="adj2"/>
                  </a:avLst>
                </a:prstGeom>
                <a:noFill/>
                <a:ln cap="flat" cmpd="sng" w="9525">
                  <a:solidFill>
                    <a:schemeClr val="dk2"/>
                  </a:solidFill>
                  <a:prstDash val="solid"/>
                  <a:round/>
                  <a:headEnd len="med" w="med" type="none"/>
                  <a:tailEnd len="med" w="med" type="none"/>
                </a:ln>
              </p:spPr>
            </p:cxnSp>
            <p:cxnSp>
              <p:nvCxnSpPr>
                <p:cNvPr id="268" name="Google Shape;268;p27"/>
                <p:cNvCxnSpPr>
                  <a:stCxn id="263" idx="2"/>
                  <a:endCxn id="266" idx="1"/>
                </p:cNvCxnSpPr>
                <p:nvPr/>
              </p:nvCxnSpPr>
              <p:spPr>
                <a:xfrm rot="5400000">
                  <a:off x="4700980" y="3506601"/>
                  <a:ext cx="839400" cy="363900"/>
                </a:xfrm>
                <a:prstGeom prst="bentConnector4">
                  <a:avLst>
                    <a:gd fmla="val 15776" name="adj1"/>
                    <a:gd fmla="val 165407" name="adj2"/>
                  </a:avLst>
                </a:prstGeom>
                <a:noFill/>
                <a:ln cap="flat" cmpd="sng" w="9525">
                  <a:solidFill>
                    <a:schemeClr val="dk2"/>
                  </a:solidFill>
                  <a:prstDash val="solid"/>
                  <a:round/>
                  <a:headEnd len="med" w="med" type="none"/>
                  <a:tailEnd len="med" w="med" type="none"/>
                </a:ln>
              </p:spPr>
            </p:cxnSp>
          </p:grpSp>
          <p:pic>
            <p:nvPicPr>
              <p:cNvPr id="269" name="Google Shape;269;p27"/>
              <p:cNvPicPr preferRelativeResize="0"/>
              <p:nvPr/>
            </p:nvPicPr>
            <p:blipFill rotWithShape="1">
              <a:blip r:embed="rId10">
                <a:alphaModFix/>
              </a:blip>
              <a:srcRect b="11686" l="0" r="0" t="11884"/>
              <a:stretch/>
            </p:blipFill>
            <p:spPr>
              <a:xfrm>
                <a:off x="4991902" y="2363650"/>
                <a:ext cx="651525" cy="537475"/>
              </a:xfrm>
              <a:prstGeom prst="rect">
                <a:avLst/>
              </a:prstGeom>
              <a:noFill/>
              <a:ln>
                <a:noFill/>
              </a:ln>
            </p:spPr>
          </p:pic>
        </p:grpSp>
        <p:grpSp>
          <p:nvGrpSpPr>
            <p:cNvPr id="270" name="Google Shape;270;p27"/>
            <p:cNvGrpSpPr/>
            <p:nvPr/>
          </p:nvGrpSpPr>
          <p:grpSpPr>
            <a:xfrm>
              <a:off x="4938730" y="3268851"/>
              <a:ext cx="965807" cy="1419741"/>
              <a:chOff x="4938730" y="2848476"/>
              <a:chExt cx="965807" cy="1419741"/>
            </a:xfrm>
          </p:grpSpPr>
          <p:sp>
            <p:nvSpPr>
              <p:cNvPr id="271" name="Google Shape;271;p27"/>
              <p:cNvSpPr/>
              <p:nvPr/>
            </p:nvSpPr>
            <p:spPr>
              <a:xfrm>
                <a:off x="4938838" y="39484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Graph</a:t>
                </a:r>
                <a:r>
                  <a:rPr lang="en" sz="800">
                    <a:solidFill>
                      <a:schemeClr val="dk1"/>
                    </a:solidFill>
                  </a:rPr>
                  <a:t> Generation</a:t>
                </a:r>
                <a:endParaRPr sz="800">
                  <a:solidFill>
                    <a:schemeClr val="dk1"/>
                  </a:solidFill>
                </a:endParaRPr>
              </a:p>
            </p:txBody>
          </p:sp>
          <p:cxnSp>
            <p:nvCxnSpPr>
              <p:cNvPr id="272" name="Google Shape;272;p27"/>
              <p:cNvCxnSpPr>
                <a:stCxn id="263" idx="2"/>
                <a:endCxn id="271" idx="1"/>
              </p:cNvCxnSpPr>
              <p:nvPr/>
            </p:nvCxnSpPr>
            <p:spPr>
              <a:xfrm rot="5400000">
                <a:off x="4490830" y="3296376"/>
                <a:ext cx="1259700" cy="363900"/>
              </a:xfrm>
              <a:prstGeom prst="bentConnector4">
                <a:avLst>
                  <a:gd fmla="val 10308" name="adj1"/>
                  <a:gd fmla="val 165407" name="adj2"/>
                </a:avLst>
              </a:prstGeom>
              <a:noFill/>
              <a:ln cap="flat" cmpd="sng" w="9525">
                <a:solidFill>
                  <a:schemeClr val="dk2"/>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GraphAI Benchmarking Challenges</a:t>
            </a:r>
            <a:endParaRPr/>
          </a:p>
        </p:txBody>
      </p:sp>
      <p:grpSp>
        <p:nvGrpSpPr>
          <p:cNvPr id="278" name="Google Shape;278;p28"/>
          <p:cNvGrpSpPr/>
          <p:nvPr/>
        </p:nvGrpSpPr>
        <p:grpSpPr>
          <a:xfrm>
            <a:off x="277600" y="1842500"/>
            <a:ext cx="6385411" cy="701700"/>
            <a:chOff x="277600" y="1842500"/>
            <a:chExt cx="6385411" cy="701700"/>
          </a:xfrm>
        </p:grpSpPr>
        <p:sp>
          <p:nvSpPr>
            <p:cNvPr id="279" name="Google Shape;279;p28"/>
            <p:cNvSpPr/>
            <p:nvPr/>
          </p:nvSpPr>
          <p:spPr>
            <a:xfrm>
              <a:off x="3362314" y="1842500"/>
              <a:ext cx="1535100" cy="70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Effectiveness or Efficiency?</a:t>
              </a:r>
              <a:endParaRPr/>
            </a:p>
          </p:txBody>
        </p:sp>
        <p:sp>
          <p:nvSpPr>
            <p:cNvPr id="280" name="Google Shape;280;p28"/>
            <p:cNvSpPr/>
            <p:nvPr/>
          </p:nvSpPr>
          <p:spPr>
            <a:xfrm>
              <a:off x="5127911" y="1842500"/>
              <a:ext cx="1535100" cy="70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‘R</a:t>
              </a:r>
              <a:r>
                <a:rPr lang="en">
                  <a:solidFill>
                    <a:schemeClr val="dk1"/>
                  </a:solidFill>
                </a:rPr>
                <a:t>acing’ systems or invasive analysis?</a:t>
              </a:r>
              <a:endParaRPr>
                <a:solidFill>
                  <a:schemeClr val="dk1"/>
                </a:solidFill>
              </a:endParaRPr>
            </a:p>
          </p:txBody>
        </p:sp>
        <p:sp>
          <p:nvSpPr>
            <p:cNvPr id="281" name="Google Shape;281;p28"/>
            <p:cNvSpPr txBox="1"/>
            <p:nvPr/>
          </p:nvSpPr>
          <p:spPr>
            <a:xfrm>
              <a:off x="277600" y="1972838"/>
              <a:ext cx="154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User:</a:t>
              </a:r>
              <a:endParaRPr b="1" sz="1600">
                <a:solidFill>
                  <a:schemeClr val="dk2"/>
                </a:solidFill>
              </a:endParaRPr>
            </a:p>
          </p:txBody>
        </p:sp>
      </p:grpSp>
      <p:grpSp>
        <p:nvGrpSpPr>
          <p:cNvPr id="282" name="Google Shape;282;p28"/>
          <p:cNvGrpSpPr/>
          <p:nvPr/>
        </p:nvGrpSpPr>
        <p:grpSpPr>
          <a:xfrm>
            <a:off x="277600" y="2653530"/>
            <a:ext cx="7185773" cy="701700"/>
            <a:chOff x="277600" y="2653530"/>
            <a:chExt cx="7185773" cy="701700"/>
          </a:xfrm>
        </p:grpSpPr>
        <p:sp>
          <p:nvSpPr>
            <p:cNvPr id="283" name="Google Shape;283;p28"/>
            <p:cNvSpPr/>
            <p:nvPr/>
          </p:nvSpPr>
          <p:spPr>
            <a:xfrm>
              <a:off x="2464910" y="2653530"/>
              <a:ext cx="1535100" cy="7017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Imposes Constraints</a:t>
              </a:r>
              <a:endParaRPr>
                <a:solidFill>
                  <a:schemeClr val="lt1"/>
                </a:solidFill>
              </a:endParaRPr>
            </a:p>
          </p:txBody>
        </p:sp>
        <p:sp>
          <p:nvSpPr>
            <p:cNvPr id="284" name="Google Shape;284;p28"/>
            <p:cNvSpPr/>
            <p:nvPr/>
          </p:nvSpPr>
          <p:spPr>
            <a:xfrm>
              <a:off x="4196591" y="2653530"/>
              <a:ext cx="1535100" cy="7017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Accelerators are specialized</a:t>
              </a:r>
              <a:endParaRPr>
                <a:solidFill>
                  <a:schemeClr val="lt1"/>
                </a:solidFill>
              </a:endParaRPr>
            </a:p>
          </p:txBody>
        </p:sp>
        <p:sp>
          <p:nvSpPr>
            <p:cNvPr id="285" name="Google Shape;285;p28"/>
            <p:cNvSpPr/>
            <p:nvPr/>
          </p:nvSpPr>
          <p:spPr>
            <a:xfrm>
              <a:off x="5928273" y="2653530"/>
              <a:ext cx="1535100" cy="7017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System:Problem ratio</a:t>
              </a:r>
              <a:endParaRPr>
                <a:solidFill>
                  <a:schemeClr val="lt1"/>
                </a:solidFill>
              </a:endParaRPr>
            </a:p>
          </p:txBody>
        </p:sp>
        <p:sp>
          <p:nvSpPr>
            <p:cNvPr id="286" name="Google Shape;286;p28"/>
            <p:cNvSpPr txBox="1"/>
            <p:nvPr/>
          </p:nvSpPr>
          <p:spPr>
            <a:xfrm>
              <a:off x="277600" y="2778900"/>
              <a:ext cx="154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999999"/>
                  </a:solidFill>
                </a:rPr>
                <a:t>Real World:</a:t>
              </a:r>
              <a:endParaRPr b="1" sz="1600">
                <a:solidFill>
                  <a:srgbClr val="999999"/>
                </a:solidFill>
              </a:endParaRPr>
            </a:p>
          </p:txBody>
        </p:sp>
      </p:grpSp>
      <p:grpSp>
        <p:nvGrpSpPr>
          <p:cNvPr id="287" name="Google Shape;287;p28"/>
          <p:cNvGrpSpPr/>
          <p:nvPr/>
        </p:nvGrpSpPr>
        <p:grpSpPr>
          <a:xfrm>
            <a:off x="277600" y="3464563"/>
            <a:ext cx="7847468" cy="701700"/>
            <a:chOff x="277600" y="3464563"/>
            <a:chExt cx="7847468" cy="701700"/>
          </a:xfrm>
        </p:grpSpPr>
        <p:sp>
          <p:nvSpPr>
            <p:cNvPr id="288" name="Google Shape;288;p28"/>
            <p:cNvSpPr/>
            <p:nvPr/>
          </p:nvSpPr>
          <p:spPr>
            <a:xfrm>
              <a:off x="5058768" y="3464563"/>
              <a:ext cx="3066300" cy="7017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Acceleration is dependent on graph processing</a:t>
              </a:r>
              <a:endParaRPr>
                <a:solidFill>
                  <a:schemeClr val="lt1"/>
                </a:solidFill>
              </a:endParaRPr>
            </a:p>
          </p:txBody>
        </p:sp>
        <p:sp>
          <p:nvSpPr>
            <p:cNvPr id="289" name="Google Shape;289;p28"/>
            <p:cNvSpPr/>
            <p:nvPr/>
          </p:nvSpPr>
          <p:spPr>
            <a:xfrm>
              <a:off x="1792145" y="3464563"/>
              <a:ext cx="3066300" cy="7017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GraphAI problems behave differently</a:t>
              </a:r>
              <a:endParaRPr>
                <a:solidFill>
                  <a:schemeClr val="lt1"/>
                </a:solidFill>
              </a:endParaRPr>
            </a:p>
          </p:txBody>
        </p:sp>
        <p:sp>
          <p:nvSpPr>
            <p:cNvPr id="290" name="Google Shape;290;p28"/>
            <p:cNvSpPr txBox="1"/>
            <p:nvPr/>
          </p:nvSpPr>
          <p:spPr>
            <a:xfrm>
              <a:off x="277600" y="3599863"/>
              <a:ext cx="154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GraphAI:</a:t>
              </a:r>
              <a:endParaRPr b="1" sz="1600">
                <a:solidFill>
                  <a:schemeClr val="dk2"/>
                </a:solidFill>
              </a:endParaRPr>
            </a:p>
          </p:txBody>
        </p:sp>
      </p:grpSp>
      <p:grpSp>
        <p:nvGrpSpPr>
          <p:cNvPr id="291" name="Google Shape;291;p28"/>
          <p:cNvGrpSpPr/>
          <p:nvPr/>
        </p:nvGrpSpPr>
        <p:grpSpPr>
          <a:xfrm>
            <a:off x="277600" y="4275596"/>
            <a:ext cx="8552324" cy="701700"/>
            <a:chOff x="277600" y="4275596"/>
            <a:chExt cx="8552324" cy="701700"/>
          </a:xfrm>
        </p:grpSpPr>
        <p:sp>
          <p:nvSpPr>
            <p:cNvPr id="292" name="Google Shape;292;p28"/>
            <p:cNvSpPr/>
            <p:nvPr/>
          </p:nvSpPr>
          <p:spPr>
            <a:xfrm>
              <a:off x="3725465" y="4275596"/>
              <a:ext cx="2467500" cy="70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Lack of Spatial and Temporal Locality</a:t>
              </a:r>
              <a:endParaRPr>
                <a:solidFill>
                  <a:schemeClr val="lt1"/>
                </a:solidFill>
              </a:endParaRPr>
            </a:p>
          </p:txBody>
        </p:sp>
        <p:sp>
          <p:nvSpPr>
            <p:cNvPr id="293" name="Google Shape;293;p28"/>
            <p:cNvSpPr/>
            <p:nvPr/>
          </p:nvSpPr>
          <p:spPr>
            <a:xfrm>
              <a:off x="6362424" y="4275596"/>
              <a:ext cx="2467500" cy="70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No standard abstraction, representation or primitives </a:t>
              </a:r>
              <a:endParaRPr>
                <a:solidFill>
                  <a:schemeClr val="lt1"/>
                </a:solidFill>
              </a:endParaRPr>
            </a:p>
          </p:txBody>
        </p:sp>
        <p:sp>
          <p:nvSpPr>
            <p:cNvPr id="294" name="Google Shape;294;p28"/>
            <p:cNvSpPr/>
            <p:nvPr/>
          </p:nvSpPr>
          <p:spPr>
            <a:xfrm>
              <a:off x="1102900" y="4275596"/>
              <a:ext cx="2467500" cy="70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Graph Processing is Data Dependent</a:t>
              </a:r>
              <a:endParaRPr>
                <a:solidFill>
                  <a:schemeClr val="lt1"/>
                </a:solidFill>
              </a:endParaRPr>
            </a:p>
          </p:txBody>
        </p:sp>
        <p:sp>
          <p:nvSpPr>
            <p:cNvPr id="295" name="Google Shape;295;p28"/>
            <p:cNvSpPr txBox="1"/>
            <p:nvPr/>
          </p:nvSpPr>
          <p:spPr>
            <a:xfrm>
              <a:off x="277600" y="4420850"/>
              <a:ext cx="97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Graph:</a:t>
              </a:r>
              <a:endParaRPr b="1" sz="1600">
                <a:solidFill>
                  <a:schemeClr val="dk1"/>
                </a:solidFill>
              </a:endParaRPr>
            </a:p>
          </p:txBody>
        </p:sp>
      </p:grpSp>
      <p:grpSp>
        <p:nvGrpSpPr>
          <p:cNvPr id="296" name="Google Shape;296;p28"/>
          <p:cNvGrpSpPr/>
          <p:nvPr/>
        </p:nvGrpSpPr>
        <p:grpSpPr>
          <a:xfrm>
            <a:off x="277600" y="1031475"/>
            <a:ext cx="5511664" cy="701700"/>
            <a:chOff x="277600" y="1031475"/>
            <a:chExt cx="5511664" cy="701700"/>
          </a:xfrm>
        </p:grpSpPr>
        <p:sp>
          <p:nvSpPr>
            <p:cNvPr id="297" name="Google Shape;297;p28"/>
            <p:cNvSpPr/>
            <p:nvPr/>
          </p:nvSpPr>
          <p:spPr>
            <a:xfrm>
              <a:off x="4254164" y="1031475"/>
              <a:ext cx="1535100" cy="701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a:t>
              </a:r>
              <a:r>
                <a:rPr lang="en"/>
                <a:t>How, When &amp; Constraints?</a:t>
              </a:r>
              <a:endParaRPr/>
            </a:p>
          </p:txBody>
        </p:sp>
        <p:sp>
          <p:nvSpPr>
            <p:cNvPr id="298" name="Google Shape;298;p28"/>
            <p:cNvSpPr txBox="1"/>
            <p:nvPr/>
          </p:nvSpPr>
          <p:spPr>
            <a:xfrm>
              <a:off x="277600" y="1166775"/>
              <a:ext cx="154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Evaluation:</a:t>
              </a:r>
              <a:endParaRPr b="1" sz="1600">
                <a:solidFill>
                  <a:schemeClr val="dk2"/>
                </a:solidFill>
              </a:endParaRPr>
            </a:p>
          </p:txBody>
        </p:sp>
      </p:grpSp>
      <p:sp>
        <p:nvSpPr>
          <p:cNvPr id="299" name="Google Shape;299;p28"/>
          <p:cNvSpPr/>
          <p:nvPr/>
        </p:nvSpPr>
        <p:spPr>
          <a:xfrm>
            <a:off x="1856000" y="-1187725"/>
            <a:ext cx="3327600" cy="10440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nsch: “How, When, Constraints?” → “Trade-offs under constraints”?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p:nvPr/>
        </p:nvSpPr>
        <p:spPr>
          <a:xfrm>
            <a:off x="456400" y="1249500"/>
            <a:ext cx="2644500" cy="2644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u="sng">
                <a:solidFill>
                  <a:schemeClr val="lt1"/>
                </a:solidFill>
              </a:rPr>
              <a:t>BLACK BOX</a:t>
            </a:r>
            <a:endParaRPr b="1" u="sng">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 Inputs known.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 System details unknown.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 Implementation unknown.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 Outputs evaluated.</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305" name="Google Shape;305;p29"/>
          <p:cNvSpPr/>
          <p:nvPr/>
        </p:nvSpPr>
        <p:spPr>
          <a:xfrm>
            <a:off x="6043100" y="1249500"/>
            <a:ext cx="2644500" cy="2644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u="sng"/>
              <a:t>WHITE BOX</a:t>
            </a:r>
            <a:endParaRPr b="1" u="sng"/>
          </a:p>
          <a:p>
            <a:pPr indent="0" lvl="0" marL="0" rtl="0" algn="l">
              <a:spcBef>
                <a:spcPts val="0"/>
              </a:spcBef>
              <a:spcAft>
                <a:spcPts val="0"/>
              </a:spcAft>
              <a:buNone/>
            </a:pPr>
            <a:r>
              <a:t/>
            </a:r>
            <a:endParaRPr b="1" u="sng"/>
          </a:p>
          <a:p>
            <a:pPr indent="-114300" lvl="0" marL="114300" rtl="0" algn="l">
              <a:spcBef>
                <a:spcPts val="0"/>
              </a:spcBef>
              <a:spcAft>
                <a:spcPts val="0"/>
              </a:spcAft>
              <a:buNone/>
            </a:pPr>
            <a:r>
              <a:rPr lang="en"/>
              <a:t>- Inputs known.</a:t>
            </a:r>
            <a:endParaRPr/>
          </a:p>
          <a:p>
            <a:pPr indent="-114300" lvl="0" marL="114300" rtl="0" algn="l">
              <a:spcBef>
                <a:spcPts val="0"/>
              </a:spcBef>
              <a:spcAft>
                <a:spcPts val="0"/>
              </a:spcAft>
              <a:buNone/>
            </a:pPr>
            <a:r>
              <a:t/>
            </a:r>
            <a:endParaRPr/>
          </a:p>
          <a:p>
            <a:pPr indent="-114300" lvl="0" marL="114300" rtl="0" algn="l">
              <a:spcBef>
                <a:spcPts val="0"/>
              </a:spcBef>
              <a:spcAft>
                <a:spcPts val="0"/>
              </a:spcAft>
              <a:buNone/>
            </a:pPr>
            <a:r>
              <a:rPr lang="en"/>
              <a:t>- System detail known and instrumented. </a:t>
            </a:r>
            <a:endParaRPr/>
          </a:p>
          <a:p>
            <a:pPr indent="-114300" lvl="0" marL="114300" rtl="0" algn="l">
              <a:spcBef>
                <a:spcPts val="0"/>
              </a:spcBef>
              <a:spcAft>
                <a:spcPts val="0"/>
              </a:spcAft>
              <a:buNone/>
            </a:pPr>
            <a:r>
              <a:t/>
            </a:r>
            <a:endParaRPr/>
          </a:p>
          <a:p>
            <a:pPr indent="-114300" lvl="0" marL="114300" rtl="0" algn="l">
              <a:spcBef>
                <a:spcPts val="0"/>
              </a:spcBef>
              <a:spcAft>
                <a:spcPts val="0"/>
              </a:spcAft>
              <a:buNone/>
            </a:pPr>
            <a:r>
              <a:rPr lang="en"/>
              <a:t>- Implementation known and instrumented. </a:t>
            </a:r>
            <a:endParaRPr/>
          </a:p>
          <a:p>
            <a:pPr indent="-114300" lvl="0" marL="114300" rtl="0" algn="l">
              <a:spcBef>
                <a:spcPts val="0"/>
              </a:spcBef>
              <a:spcAft>
                <a:spcPts val="0"/>
              </a:spcAft>
              <a:buNone/>
            </a:pPr>
            <a:r>
              <a:t/>
            </a:r>
            <a:endParaRPr/>
          </a:p>
          <a:p>
            <a:pPr indent="-114300" lvl="0" marL="114300" rtl="0" algn="l">
              <a:spcBef>
                <a:spcPts val="0"/>
              </a:spcBef>
              <a:spcAft>
                <a:spcPts val="0"/>
              </a:spcAft>
              <a:buNone/>
            </a:pPr>
            <a:r>
              <a:rPr lang="en"/>
              <a:t>- Outputs rarely evaluated.</a:t>
            </a:r>
            <a:endParaRPr/>
          </a:p>
          <a:p>
            <a:pPr indent="0" lvl="0" marL="0" rtl="0" algn="l">
              <a:spcBef>
                <a:spcPts val="0"/>
              </a:spcBef>
              <a:spcAft>
                <a:spcPts val="0"/>
              </a:spcAft>
              <a:buNone/>
            </a:pPr>
            <a:r>
              <a:t/>
            </a:r>
            <a:endParaRPr/>
          </a:p>
        </p:txBody>
      </p:sp>
      <p:sp>
        <p:nvSpPr>
          <p:cNvPr id="306" name="Google Shape;306;p29"/>
          <p:cNvSpPr/>
          <p:nvPr/>
        </p:nvSpPr>
        <p:spPr>
          <a:xfrm>
            <a:off x="3249750" y="1249500"/>
            <a:ext cx="2644500" cy="264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228600" spcFirstLastPara="1" rIns="91425" wrap="square" tIns="91425">
            <a:noAutofit/>
          </a:bodyPr>
          <a:lstStyle/>
          <a:p>
            <a:pPr indent="0" lvl="0" marL="0" rtl="0" algn="ctr">
              <a:spcBef>
                <a:spcPts val="0"/>
              </a:spcBef>
              <a:spcAft>
                <a:spcPts val="0"/>
              </a:spcAft>
              <a:buNone/>
            </a:pPr>
            <a:r>
              <a:rPr b="1" lang="en" u="sng"/>
              <a:t>GREY BOX</a:t>
            </a:r>
            <a:endParaRPr b="1" u="sng"/>
          </a:p>
          <a:p>
            <a:pPr indent="0" lvl="0" marL="0" rtl="0" algn="ctr">
              <a:spcBef>
                <a:spcPts val="0"/>
              </a:spcBef>
              <a:spcAft>
                <a:spcPts val="0"/>
              </a:spcAft>
              <a:buNone/>
            </a:pPr>
            <a:r>
              <a:t/>
            </a:r>
            <a:endParaRPr/>
          </a:p>
          <a:p>
            <a:pPr indent="-114300" lvl="0" marL="0" rtl="0" algn="l">
              <a:spcBef>
                <a:spcPts val="0"/>
              </a:spcBef>
              <a:spcAft>
                <a:spcPts val="0"/>
              </a:spcAft>
              <a:buNone/>
            </a:pPr>
            <a:r>
              <a:rPr lang="en"/>
              <a:t>- Inputs known &amp; designed to stimulate bottlenecks.</a:t>
            </a:r>
            <a:endParaRPr/>
          </a:p>
          <a:p>
            <a:pPr indent="-114300" lvl="0" marL="0" rtl="0" algn="l">
              <a:spcBef>
                <a:spcPts val="0"/>
              </a:spcBef>
              <a:spcAft>
                <a:spcPts val="0"/>
              </a:spcAft>
              <a:buNone/>
            </a:pPr>
            <a:r>
              <a:t/>
            </a:r>
            <a:endParaRPr/>
          </a:p>
          <a:p>
            <a:pPr indent="-114300" lvl="0" marL="0" rtl="0" algn="l">
              <a:spcBef>
                <a:spcPts val="0"/>
              </a:spcBef>
              <a:spcAft>
                <a:spcPts val="0"/>
              </a:spcAft>
              <a:buNone/>
            </a:pPr>
            <a:r>
              <a:rPr lang="en"/>
              <a:t>- System detail unknown.</a:t>
            </a:r>
            <a:endParaRPr/>
          </a:p>
          <a:p>
            <a:pPr indent="-114300" lvl="0" marL="0" rtl="0" algn="l">
              <a:spcBef>
                <a:spcPts val="0"/>
              </a:spcBef>
              <a:spcAft>
                <a:spcPts val="0"/>
              </a:spcAft>
              <a:buNone/>
            </a:pPr>
            <a:r>
              <a:t/>
            </a:r>
            <a:endParaRPr/>
          </a:p>
          <a:p>
            <a:pPr indent="-114300" lvl="0" marL="0" rtl="0" algn="l">
              <a:spcBef>
                <a:spcPts val="0"/>
              </a:spcBef>
              <a:spcAft>
                <a:spcPts val="0"/>
              </a:spcAft>
              <a:buNone/>
            </a:pPr>
            <a:r>
              <a:rPr lang="en"/>
              <a:t>- Implementation unknown.</a:t>
            </a:r>
            <a:endParaRPr/>
          </a:p>
          <a:p>
            <a:pPr indent="-114300" lvl="0" marL="0" rtl="0" algn="l">
              <a:spcBef>
                <a:spcPts val="0"/>
              </a:spcBef>
              <a:spcAft>
                <a:spcPts val="0"/>
              </a:spcAft>
              <a:buNone/>
            </a:pPr>
            <a:r>
              <a:t/>
            </a:r>
            <a:endParaRPr/>
          </a:p>
          <a:p>
            <a:pPr indent="-114300" lvl="0" marL="0" rtl="0" algn="l">
              <a:spcBef>
                <a:spcPts val="0"/>
              </a:spcBef>
              <a:spcAft>
                <a:spcPts val="0"/>
              </a:spcAft>
              <a:buNone/>
            </a:pPr>
            <a:r>
              <a:rPr lang="en"/>
              <a:t>- Outputs evaluated and analyzed to infer system and implementation detail.</a:t>
            </a:r>
            <a:endParaRPr/>
          </a:p>
        </p:txBody>
      </p:sp>
      <p:sp>
        <p:nvSpPr>
          <p:cNvPr id="307" name="Google Shape;30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a:t>
            </a:r>
            <a:r>
              <a:rPr lang="en"/>
              <a:t>`Grey-Box’ approach to </a:t>
            </a:r>
            <a:r>
              <a:rPr lang="en"/>
              <a:t>GraphAI Benchmarking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GraphAI Benchmark Framework</a:t>
            </a:r>
            <a:endParaRPr/>
          </a:p>
        </p:txBody>
      </p:sp>
      <p:pic>
        <p:nvPicPr>
          <p:cNvPr id="313" name="Google Shape;313;p30"/>
          <p:cNvPicPr preferRelativeResize="0"/>
          <p:nvPr/>
        </p:nvPicPr>
        <p:blipFill>
          <a:blip r:embed="rId3">
            <a:alphaModFix/>
          </a:blip>
          <a:stretch>
            <a:fillRect/>
          </a:stretch>
        </p:blipFill>
        <p:spPr>
          <a:xfrm>
            <a:off x="465725" y="1636050"/>
            <a:ext cx="3886550" cy="3318474"/>
          </a:xfrm>
          <a:prstGeom prst="rect">
            <a:avLst/>
          </a:prstGeom>
          <a:noFill/>
          <a:ln>
            <a:noFill/>
          </a:ln>
        </p:spPr>
      </p:pic>
      <p:pic>
        <p:nvPicPr>
          <p:cNvPr id="314" name="Google Shape;314;p30"/>
          <p:cNvPicPr preferRelativeResize="0"/>
          <p:nvPr/>
        </p:nvPicPr>
        <p:blipFill>
          <a:blip r:embed="rId4">
            <a:alphaModFix/>
          </a:blip>
          <a:stretch>
            <a:fillRect/>
          </a:stretch>
        </p:blipFill>
        <p:spPr>
          <a:xfrm>
            <a:off x="4628763" y="1911175"/>
            <a:ext cx="4400412" cy="2752317"/>
          </a:xfrm>
          <a:prstGeom prst="rect">
            <a:avLst/>
          </a:prstGeom>
          <a:noFill/>
          <a:ln>
            <a:noFill/>
          </a:ln>
        </p:spPr>
      </p:pic>
      <p:sp>
        <p:nvSpPr>
          <p:cNvPr id="315" name="Google Shape;315;p30"/>
          <p:cNvSpPr txBox="1"/>
          <p:nvPr/>
        </p:nvSpPr>
        <p:spPr>
          <a:xfrm>
            <a:off x="444875" y="1101900"/>
            <a:ext cx="825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 typical benchmark framework (left) underpins our GraphAI Framework (right)</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 AI Problem Development Methodology</a:t>
            </a:r>
            <a:endParaRPr/>
          </a:p>
        </p:txBody>
      </p:sp>
      <p:pic>
        <p:nvPicPr>
          <p:cNvPr id="321" name="Google Shape;321;p31"/>
          <p:cNvPicPr preferRelativeResize="0"/>
          <p:nvPr/>
        </p:nvPicPr>
        <p:blipFill>
          <a:blip r:embed="rId3">
            <a:alphaModFix/>
          </a:blip>
          <a:stretch>
            <a:fillRect/>
          </a:stretch>
        </p:blipFill>
        <p:spPr>
          <a:xfrm>
            <a:off x="659375" y="1499250"/>
            <a:ext cx="7825200" cy="3580574"/>
          </a:xfrm>
          <a:prstGeom prst="rect">
            <a:avLst/>
          </a:prstGeom>
          <a:noFill/>
          <a:ln>
            <a:noFill/>
          </a:ln>
        </p:spPr>
      </p:pic>
      <p:sp>
        <p:nvSpPr>
          <p:cNvPr id="322" name="Google Shape;322;p31"/>
          <p:cNvSpPr txBox="1"/>
          <p:nvPr/>
        </p:nvSpPr>
        <p:spPr>
          <a:xfrm>
            <a:off x="311700" y="1025700"/>
            <a:ext cx="838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We develop a formal </a:t>
            </a:r>
            <a:r>
              <a:rPr lang="en" sz="1800">
                <a:solidFill>
                  <a:schemeClr val="dk1"/>
                </a:solidFill>
              </a:rPr>
              <a:t>empirical</a:t>
            </a:r>
            <a:r>
              <a:rPr lang="en" sz="1800">
                <a:solidFill>
                  <a:schemeClr val="dk1"/>
                </a:solidFill>
              </a:rPr>
              <a:t> method to develop GraphAI </a:t>
            </a:r>
            <a:r>
              <a:rPr lang="en" sz="1800">
                <a:solidFill>
                  <a:schemeClr val="dk1"/>
                </a:solidFill>
              </a:rPr>
              <a:t>benchmark</a:t>
            </a:r>
            <a:r>
              <a:rPr lang="en" sz="1800">
                <a:solidFill>
                  <a:schemeClr val="dk1"/>
                </a:solidFill>
              </a:rPr>
              <a:t> problems:</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2"/>
          <p:cNvSpPr txBox="1"/>
          <p:nvPr>
            <p:ph type="title"/>
          </p:nvPr>
        </p:nvSpPr>
        <p:spPr>
          <a:xfrm>
            <a:off x="311700" y="1909650"/>
            <a:ext cx="8520600" cy="1324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CASE STUDY</a:t>
            </a:r>
            <a:endParaRPr b="1"/>
          </a:p>
          <a:p>
            <a:pPr indent="0" lvl="0" marL="0" rtl="0" algn="ctr">
              <a:spcBef>
                <a:spcPts val="0"/>
              </a:spcBef>
              <a:spcAft>
                <a:spcPts val="0"/>
              </a:spcAft>
              <a:buNone/>
            </a:pPr>
            <a:r>
              <a:t/>
            </a:r>
            <a:endParaRPr/>
          </a:p>
          <a:p>
            <a:pPr indent="0" lvl="0" marL="0" rtl="0" algn="ctr">
              <a:spcBef>
                <a:spcPts val="0"/>
              </a:spcBef>
              <a:spcAft>
                <a:spcPts val="0"/>
              </a:spcAft>
              <a:buNone/>
            </a:pPr>
            <a:r>
              <a:rPr lang="en"/>
              <a:t>Applying the GraphAI Benchmark to Population Segmentation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type="title"/>
          </p:nvPr>
        </p:nvSpPr>
        <p:spPr>
          <a:xfrm>
            <a:off x="311700" y="435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a:t>
            </a:r>
            <a:endParaRPr/>
          </a:p>
        </p:txBody>
      </p:sp>
      <p:pic>
        <p:nvPicPr>
          <p:cNvPr id="333" name="Google Shape;333;p33"/>
          <p:cNvPicPr preferRelativeResize="0"/>
          <p:nvPr/>
        </p:nvPicPr>
        <p:blipFill>
          <a:blip r:embed="rId3">
            <a:alphaModFix/>
          </a:blip>
          <a:stretch>
            <a:fillRect/>
          </a:stretch>
        </p:blipFill>
        <p:spPr>
          <a:xfrm>
            <a:off x="1037460" y="1106423"/>
            <a:ext cx="1700316" cy="1724587"/>
          </a:xfrm>
          <a:prstGeom prst="rect">
            <a:avLst/>
          </a:prstGeom>
          <a:noFill/>
          <a:ln>
            <a:noFill/>
          </a:ln>
        </p:spPr>
      </p:pic>
      <p:grpSp>
        <p:nvGrpSpPr>
          <p:cNvPr id="334" name="Google Shape;334;p33"/>
          <p:cNvGrpSpPr/>
          <p:nvPr/>
        </p:nvGrpSpPr>
        <p:grpSpPr>
          <a:xfrm>
            <a:off x="4004940" y="598044"/>
            <a:ext cx="1134133" cy="3470146"/>
            <a:chOff x="4004940" y="598044"/>
            <a:chExt cx="1134133" cy="3470146"/>
          </a:xfrm>
        </p:grpSpPr>
        <p:pic>
          <p:nvPicPr>
            <p:cNvPr id="335" name="Google Shape;335;p33"/>
            <p:cNvPicPr preferRelativeResize="0"/>
            <p:nvPr/>
          </p:nvPicPr>
          <p:blipFill rotWithShape="1">
            <a:blip r:embed="rId4">
              <a:alphaModFix/>
            </a:blip>
            <a:srcRect b="47145" l="10705" r="49556" t="10756"/>
            <a:stretch/>
          </p:blipFill>
          <p:spPr>
            <a:xfrm>
              <a:off x="4126088" y="598044"/>
              <a:ext cx="959695" cy="939491"/>
            </a:xfrm>
            <a:prstGeom prst="rect">
              <a:avLst/>
            </a:prstGeom>
            <a:noFill/>
            <a:ln>
              <a:noFill/>
            </a:ln>
          </p:spPr>
        </p:pic>
        <p:pic>
          <p:nvPicPr>
            <p:cNvPr id="336" name="Google Shape;336;p33"/>
            <p:cNvPicPr preferRelativeResize="0"/>
            <p:nvPr/>
          </p:nvPicPr>
          <p:blipFill rotWithShape="1">
            <a:blip r:embed="rId4">
              <a:alphaModFix/>
            </a:blip>
            <a:srcRect b="47390" l="57430" r="0" t="7350"/>
            <a:stretch/>
          </p:blipFill>
          <p:spPr>
            <a:xfrm>
              <a:off x="4057705" y="1711553"/>
              <a:ext cx="1028078" cy="1010064"/>
            </a:xfrm>
            <a:prstGeom prst="rect">
              <a:avLst/>
            </a:prstGeom>
            <a:noFill/>
            <a:ln>
              <a:noFill/>
            </a:ln>
          </p:spPr>
        </p:pic>
        <p:grpSp>
          <p:nvGrpSpPr>
            <p:cNvPr id="337" name="Google Shape;337;p33"/>
            <p:cNvGrpSpPr/>
            <p:nvPr/>
          </p:nvGrpSpPr>
          <p:grpSpPr>
            <a:xfrm>
              <a:off x="4004940" y="2895749"/>
              <a:ext cx="1134133" cy="1172441"/>
              <a:chOff x="5626050" y="3147625"/>
              <a:chExt cx="764550" cy="790374"/>
            </a:xfrm>
          </p:grpSpPr>
          <p:pic>
            <p:nvPicPr>
              <p:cNvPr id="338" name="Google Shape;338;p33"/>
              <p:cNvPicPr preferRelativeResize="0"/>
              <p:nvPr/>
            </p:nvPicPr>
            <p:blipFill rotWithShape="1">
              <a:blip r:embed="rId4">
                <a:alphaModFix/>
              </a:blip>
              <a:srcRect b="0" l="31721" r="21319" t="49512"/>
              <a:stretch/>
            </p:blipFill>
            <p:spPr>
              <a:xfrm>
                <a:off x="5626050" y="3178425"/>
                <a:ext cx="764550" cy="759574"/>
              </a:xfrm>
              <a:prstGeom prst="rect">
                <a:avLst/>
              </a:prstGeom>
              <a:noFill/>
              <a:ln>
                <a:noFill/>
              </a:ln>
            </p:spPr>
          </p:pic>
          <p:sp>
            <p:nvSpPr>
              <p:cNvPr id="339" name="Google Shape;339;p33"/>
              <p:cNvSpPr/>
              <p:nvPr/>
            </p:nvSpPr>
            <p:spPr>
              <a:xfrm>
                <a:off x="5626050" y="3147625"/>
                <a:ext cx="197700" cy="11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33"/>
              <p:cNvSpPr/>
              <p:nvPr/>
            </p:nvSpPr>
            <p:spPr>
              <a:xfrm>
                <a:off x="6192900" y="3178425"/>
                <a:ext cx="197700" cy="7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341" name="Google Shape;341;p33"/>
          <p:cNvSpPr txBox="1"/>
          <p:nvPr/>
        </p:nvSpPr>
        <p:spPr>
          <a:xfrm>
            <a:off x="421100" y="4099950"/>
            <a:ext cx="8520600" cy="65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An engineer architecting a new system needs to identify whether GPUs or specialized GHAs are a worthwhile investment for their GraphAI workloads given time and cost constraints.</a:t>
            </a:r>
            <a:endParaRPr sz="1800">
              <a:solidFill>
                <a:schemeClr val="dk1"/>
              </a:solidFill>
            </a:endParaRPr>
          </a:p>
        </p:txBody>
      </p:sp>
      <p:pic>
        <p:nvPicPr>
          <p:cNvPr id="342" name="Google Shape;342;p33"/>
          <p:cNvPicPr preferRelativeResize="0"/>
          <p:nvPr/>
        </p:nvPicPr>
        <p:blipFill>
          <a:blip r:embed="rId5">
            <a:alphaModFix/>
          </a:blip>
          <a:stretch>
            <a:fillRect/>
          </a:stretch>
        </p:blipFill>
        <p:spPr>
          <a:xfrm>
            <a:off x="1037449" y="3368275"/>
            <a:ext cx="646626" cy="651600"/>
          </a:xfrm>
          <a:prstGeom prst="rect">
            <a:avLst/>
          </a:prstGeom>
          <a:noFill/>
          <a:ln>
            <a:noFill/>
          </a:ln>
        </p:spPr>
      </p:pic>
      <p:pic>
        <p:nvPicPr>
          <p:cNvPr id="343" name="Google Shape;343;p33"/>
          <p:cNvPicPr preferRelativeResize="0"/>
          <p:nvPr/>
        </p:nvPicPr>
        <p:blipFill>
          <a:blip r:embed="rId6">
            <a:alphaModFix/>
          </a:blip>
          <a:stretch>
            <a:fillRect/>
          </a:stretch>
        </p:blipFill>
        <p:spPr>
          <a:xfrm>
            <a:off x="2091150" y="3368275"/>
            <a:ext cx="646625" cy="651603"/>
          </a:xfrm>
          <a:prstGeom prst="rect">
            <a:avLst/>
          </a:prstGeom>
          <a:noFill/>
          <a:ln>
            <a:noFill/>
          </a:ln>
        </p:spPr>
      </p:pic>
      <p:cxnSp>
        <p:nvCxnSpPr>
          <p:cNvPr id="344" name="Google Shape;344;p33"/>
          <p:cNvCxnSpPr>
            <a:stCxn id="343" idx="0"/>
            <a:endCxn id="333" idx="2"/>
          </p:cNvCxnSpPr>
          <p:nvPr/>
        </p:nvCxnSpPr>
        <p:spPr>
          <a:xfrm flipH="1" rot="5400000">
            <a:off x="1882413" y="2836225"/>
            <a:ext cx="537300" cy="526800"/>
          </a:xfrm>
          <a:prstGeom prst="bentConnector3">
            <a:avLst>
              <a:gd fmla="val 49997" name="adj1"/>
            </a:avLst>
          </a:prstGeom>
          <a:noFill/>
          <a:ln cap="flat" cmpd="sng" w="28575">
            <a:solidFill>
              <a:srgbClr val="0000FF"/>
            </a:solidFill>
            <a:prstDash val="solid"/>
            <a:round/>
            <a:headEnd len="med" w="med" type="none"/>
            <a:tailEnd len="med" w="med" type="stealth"/>
          </a:ln>
        </p:spPr>
      </p:cxnSp>
      <p:cxnSp>
        <p:nvCxnSpPr>
          <p:cNvPr id="345" name="Google Shape;345;p33"/>
          <p:cNvCxnSpPr>
            <a:stCxn id="342" idx="0"/>
            <a:endCxn id="333" idx="2"/>
          </p:cNvCxnSpPr>
          <p:nvPr/>
        </p:nvCxnSpPr>
        <p:spPr>
          <a:xfrm rot="-5400000">
            <a:off x="1355512" y="2836225"/>
            <a:ext cx="537300" cy="526800"/>
          </a:xfrm>
          <a:prstGeom prst="bentConnector3">
            <a:avLst>
              <a:gd fmla="val 49997" name="adj1"/>
            </a:avLst>
          </a:prstGeom>
          <a:noFill/>
          <a:ln cap="flat" cmpd="sng" w="28575">
            <a:solidFill>
              <a:srgbClr val="0000FF"/>
            </a:solidFill>
            <a:prstDash val="solid"/>
            <a:round/>
            <a:headEnd len="med" w="med" type="none"/>
            <a:tailEnd len="med" w="med" type="stealth"/>
          </a:ln>
        </p:spPr>
      </p:cxnSp>
      <p:grpSp>
        <p:nvGrpSpPr>
          <p:cNvPr id="346" name="Google Shape;346;p33"/>
          <p:cNvGrpSpPr/>
          <p:nvPr/>
        </p:nvGrpSpPr>
        <p:grpSpPr>
          <a:xfrm>
            <a:off x="6008122" y="1738762"/>
            <a:ext cx="2332711" cy="2085683"/>
            <a:chOff x="459282" y="1983426"/>
            <a:chExt cx="3025565" cy="2705166"/>
          </a:xfrm>
        </p:grpSpPr>
        <p:grpSp>
          <p:nvGrpSpPr>
            <p:cNvPr id="347" name="Google Shape;347;p33"/>
            <p:cNvGrpSpPr/>
            <p:nvPr/>
          </p:nvGrpSpPr>
          <p:grpSpPr>
            <a:xfrm>
              <a:off x="459282" y="1983426"/>
              <a:ext cx="3025565" cy="2705166"/>
              <a:chOff x="459282" y="1983426"/>
              <a:chExt cx="3025565" cy="2705166"/>
            </a:xfrm>
          </p:grpSpPr>
          <p:sp>
            <p:nvSpPr>
              <p:cNvPr id="348" name="Google Shape;348;p33"/>
              <p:cNvSpPr/>
              <p:nvPr/>
            </p:nvSpPr>
            <p:spPr>
              <a:xfrm>
                <a:off x="459282" y="2303113"/>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rPr b="1" lang="en" sz="700">
                    <a:solidFill>
                      <a:schemeClr val="dk1"/>
                    </a:solidFill>
                  </a:rPr>
                  <a:t>Searching, Planning and</a:t>
                </a:r>
                <a:r>
                  <a:rPr b="1" lang="en" sz="500">
                    <a:solidFill>
                      <a:schemeClr val="dk1"/>
                    </a:solidFill>
                  </a:rPr>
                  <a:t> </a:t>
                </a:r>
                <a:r>
                  <a:rPr b="1" lang="en" sz="700">
                    <a:solidFill>
                      <a:schemeClr val="dk1"/>
                    </a:solidFill>
                  </a:rPr>
                  <a:t>Scheduling</a:t>
                </a:r>
                <a:endParaRPr b="1" sz="700"/>
              </a:p>
            </p:txBody>
          </p:sp>
          <p:cxnSp>
            <p:nvCxnSpPr>
              <p:cNvPr id="349" name="Google Shape;349;p33"/>
              <p:cNvCxnSpPr>
                <a:stCxn id="350" idx="2"/>
                <a:endCxn id="348" idx="0"/>
              </p:cNvCxnSpPr>
              <p:nvPr/>
            </p:nvCxnSpPr>
            <p:spPr>
              <a:xfrm rot="5400000">
                <a:off x="2053548" y="871926"/>
                <a:ext cx="319800" cy="2542800"/>
              </a:xfrm>
              <a:prstGeom prst="bentConnector3">
                <a:avLst>
                  <a:gd fmla="val 49982" name="adj1"/>
                </a:avLst>
              </a:prstGeom>
              <a:noFill/>
              <a:ln cap="flat" cmpd="sng" w="9525">
                <a:solidFill>
                  <a:schemeClr val="dk2"/>
                </a:solidFill>
                <a:prstDash val="solid"/>
                <a:round/>
                <a:headEnd len="med" w="med" type="none"/>
                <a:tailEnd len="med" w="med" type="none"/>
              </a:ln>
            </p:spPr>
          </p:cxnSp>
          <p:sp>
            <p:nvSpPr>
              <p:cNvPr id="351" name="Google Shape;351;p33"/>
              <p:cNvSpPr/>
              <p:nvPr/>
            </p:nvSpPr>
            <p:spPr>
              <a:xfrm>
                <a:off x="611650" y="352784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Graph Search</a:t>
                </a:r>
                <a:endParaRPr sz="600">
                  <a:solidFill>
                    <a:schemeClr val="dk1"/>
                  </a:solidFill>
                </a:endParaRPr>
              </a:p>
            </p:txBody>
          </p:sp>
          <p:sp>
            <p:nvSpPr>
              <p:cNvPr id="352" name="Google Shape;352;p33"/>
              <p:cNvSpPr/>
              <p:nvPr/>
            </p:nvSpPr>
            <p:spPr>
              <a:xfrm>
                <a:off x="611650"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AI Planning</a:t>
                </a:r>
                <a:endParaRPr sz="600">
                  <a:solidFill>
                    <a:schemeClr val="dk1"/>
                  </a:solidFill>
                </a:endParaRPr>
              </a:p>
            </p:txBody>
          </p:sp>
          <p:sp>
            <p:nvSpPr>
              <p:cNvPr id="353" name="Google Shape;353;p33"/>
              <p:cNvSpPr/>
              <p:nvPr/>
            </p:nvSpPr>
            <p:spPr>
              <a:xfrm>
                <a:off x="611650" y="436879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Critical Path </a:t>
                </a:r>
                <a:endParaRPr sz="600">
                  <a:solidFill>
                    <a:schemeClr val="dk1"/>
                  </a:solidFill>
                </a:endParaRPr>
              </a:p>
            </p:txBody>
          </p:sp>
          <p:cxnSp>
            <p:nvCxnSpPr>
              <p:cNvPr id="354" name="Google Shape;354;p33"/>
              <p:cNvCxnSpPr>
                <a:stCxn id="348" idx="2"/>
                <a:endCxn id="351" idx="1"/>
              </p:cNvCxnSpPr>
              <p:nvPr/>
            </p:nvCxnSpPr>
            <p:spPr>
              <a:xfrm rot="5400000">
                <a:off x="567432" y="3312913"/>
                <a:ext cx="418800" cy="330600"/>
              </a:xfrm>
              <a:prstGeom prst="bentConnector4">
                <a:avLst>
                  <a:gd fmla="val 30925" name="adj1"/>
                  <a:gd fmla="val 193386" name="adj2"/>
                </a:avLst>
              </a:prstGeom>
              <a:noFill/>
              <a:ln cap="flat" cmpd="sng" w="9525">
                <a:solidFill>
                  <a:schemeClr val="dk2"/>
                </a:solidFill>
                <a:prstDash val="solid"/>
                <a:round/>
                <a:headEnd len="med" w="med" type="none"/>
                <a:tailEnd len="med" w="med" type="none"/>
              </a:ln>
            </p:spPr>
          </p:cxnSp>
          <p:cxnSp>
            <p:nvCxnSpPr>
              <p:cNvPr id="355" name="Google Shape;355;p33"/>
              <p:cNvCxnSpPr>
                <a:endCxn id="352" idx="1"/>
              </p:cNvCxnSpPr>
              <p:nvPr/>
            </p:nvCxnSpPr>
            <p:spPr>
              <a:xfrm rot="5400000">
                <a:off x="357250" y="3523217"/>
                <a:ext cx="839400" cy="330600"/>
              </a:xfrm>
              <a:prstGeom prst="bentConnector4">
                <a:avLst>
                  <a:gd fmla="val 14428" name="adj1"/>
                  <a:gd fmla="val 193422" name="adj2"/>
                </a:avLst>
              </a:prstGeom>
              <a:noFill/>
              <a:ln cap="flat" cmpd="sng" w="9525">
                <a:solidFill>
                  <a:schemeClr val="dk2"/>
                </a:solidFill>
                <a:prstDash val="solid"/>
                <a:round/>
                <a:headEnd len="med" w="med" type="none"/>
                <a:tailEnd len="med" w="med" type="none"/>
              </a:ln>
            </p:spPr>
          </p:cxnSp>
          <p:cxnSp>
            <p:nvCxnSpPr>
              <p:cNvPr id="356" name="Google Shape;356;p33"/>
              <p:cNvCxnSpPr>
                <a:stCxn id="348" idx="2"/>
                <a:endCxn id="353" idx="1"/>
              </p:cNvCxnSpPr>
              <p:nvPr/>
            </p:nvCxnSpPr>
            <p:spPr>
              <a:xfrm rot="5400000">
                <a:off x="146832" y="3733513"/>
                <a:ext cx="1260000" cy="330600"/>
              </a:xfrm>
              <a:prstGeom prst="bentConnector4">
                <a:avLst>
                  <a:gd fmla="val 10688" name="adj1"/>
                  <a:gd fmla="val 193386" name="adj2"/>
                </a:avLst>
              </a:prstGeom>
              <a:noFill/>
              <a:ln cap="flat" cmpd="sng" w="9525">
                <a:solidFill>
                  <a:schemeClr val="dk2"/>
                </a:solidFill>
                <a:prstDash val="solid"/>
                <a:round/>
                <a:headEnd len="med" w="med" type="none"/>
                <a:tailEnd len="med" w="med" type="none"/>
              </a:ln>
            </p:spPr>
          </p:cxnSp>
        </p:grpSp>
        <p:pic>
          <p:nvPicPr>
            <p:cNvPr id="357" name="Google Shape;357;p33"/>
            <p:cNvPicPr preferRelativeResize="0"/>
            <p:nvPr/>
          </p:nvPicPr>
          <p:blipFill>
            <a:blip r:embed="rId7">
              <a:alphaModFix/>
            </a:blip>
            <a:stretch>
              <a:fillRect/>
            </a:stretch>
          </p:blipFill>
          <p:spPr>
            <a:xfrm>
              <a:off x="696125" y="2387000"/>
              <a:ext cx="436450" cy="471100"/>
            </a:xfrm>
            <a:prstGeom prst="rect">
              <a:avLst/>
            </a:prstGeom>
            <a:noFill/>
            <a:ln>
              <a:noFill/>
            </a:ln>
          </p:spPr>
        </p:pic>
      </p:grpSp>
      <p:grpSp>
        <p:nvGrpSpPr>
          <p:cNvPr id="358" name="Google Shape;358;p33"/>
          <p:cNvGrpSpPr/>
          <p:nvPr/>
        </p:nvGrpSpPr>
        <p:grpSpPr>
          <a:xfrm>
            <a:off x="7281055" y="1738762"/>
            <a:ext cx="1059779" cy="2085086"/>
            <a:chOff x="1912632" y="1983426"/>
            <a:chExt cx="1374551" cy="2704391"/>
          </a:xfrm>
        </p:grpSpPr>
        <p:grpSp>
          <p:nvGrpSpPr>
            <p:cNvPr id="359" name="Google Shape;359;p33"/>
            <p:cNvGrpSpPr/>
            <p:nvPr/>
          </p:nvGrpSpPr>
          <p:grpSpPr>
            <a:xfrm>
              <a:off x="1912632" y="1983426"/>
              <a:ext cx="1374551" cy="2704391"/>
              <a:chOff x="1912632" y="1983426"/>
              <a:chExt cx="1374551" cy="2704391"/>
            </a:xfrm>
          </p:grpSpPr>
          <p:sp>
            <p:nvSpPr>
              <p:cNvPr id="360" name="Google Shape;360;p33"/>
              <p:cNvSpPr/>
              <p:nvPr/>
            </p:nvSpPr>
            <p:spPr>
              <a:xfrm>
                <a:off x="1912782"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rPr b="1" lang="en" sz="700">
                    <a:solidFill>
                      <a:schemeClr val="dk1"/>
                    </a:solidFill>
                  </a:rPr>
                  <a:t>Structural Analysis</a:t>
                </a:r>
                <a:endParaRPr b="1" sz="700"/>
              </a:p>
            </p:txBody>
          </p:sp>
          <p:cxnSp>
            <p:nvCxnSpPr>
              <p:cNvPr id="361" name="Google Shape;361;p33"/>
              <p:cNvCxnSpPr>
                <a:stCxn id="350" idx="2"/>
                <a:endCxn id="360" idx="0"/>
              </p:cNvCxnSpPr>
              <p:nvPr/>
            </p:nvCxnSpPr>
            <p:spPr>
              <a:xfrm rot="5400000">
                <a:off x="2681482" y="1697526"/>
                <a:ext cx="319800" cy="8916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362" name="Google Shape;362;p33"/>
              <p:cNvSpPr/>
              <p:nvPr/>
            </p:nvSpPr>
            <p:spPr>
              <a:xfrm>
                <a:off x="1912763" y="35286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Graph Matching</a:t>
                </a:r>
                <a:endParaRPr sz="600">
                  <a:solidFill>
                    <a:schemeClr val="dk1"/>
                  </a:solidFill>
                </a:endParaRPr>
              </a:p>
            </p:txBody>
          </p:sp>
          <p:sp>
            <p:nvSpPr>
              <p:cNvPr id="363" name="Google Shape;363;p33"/>
              <p:cNvSpPr/>
              <p:nvPr/>
            </p:nvSpPr>
            <p:spPr>
              <a:xfrm>
                <a:off x="1912763"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Community Detection</a:t>
                </a:r>
                <a:endParaRPr sz="600">
                  <a:solidFill>
                    <a:schemeClr val="dk1"/>
                  </a:solidFill>
                </a:endParaRPr>
              </a:p>
            </p:txBody>
          </p:sp>
          <p:sp>
            <p:nvSpPr>
              <p:cNvPr id="364" name="Google Shape;364;p33"/>
              <p:cNvSpPr/>
              <p:nvPr/>
            </p:nvSpPr>
            <p:spPr>
              <a:xfrm>
                <a:off x="1912763" y="43680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Influence Mapping</a:t>
                </a:r>
                <a:endParaRPr sz="600">
                  <a:solidFill>
                    <a:schemeClr val="dk1"/>
                  </a:solidFill>
                </a:endParaRPr>
              </a:p>
            </p:txBody>
          </p:sp>
          <p:cxnSp>
            <p:nvCxnSpPr>
              <p:cNvPr id="365" name="Google Shape;365;p33"/>
              <p:cNvCxnSpPr>
                <a:stCxn id="360" idx="2"/>
                <a:endCxn id="362" idx="1"/>
              </p:cNvCxnSpPr>
              <p:nvPr/>
            </p:nvCxnSpPr>
            <p:spPr>
              <a:xfrm rot="5400000">
                <a:off x="1944282" y="3237201"/>
                <a:ext cx="419700" cy="483000"/>
              </a:xfrm>
              <a:prstGeom prst="bentConnector4">
                <a:avLst>
                  <a:gd fmla="val 30947" name="adj1"/>
                  <a:gd fmla="val 163917" name="adj2"/>
                </a:avLst>
              </a:prstGeom>
              <a:noFill/>
              <a:ln cap="flat" cmpd="sng" w="9525">
                <a:solidFill>
                  <a:schemeClr val="dk2"/>
                </a:solidFill>
                <a:prstDash val="solid"/>
                <a:round/>
                <a:headEnd len="med" w="med" type="none"/>
                <a:tailEnd len="med" w="med" type="none"/>
              </a:ln>
            </p:spPr>
          </p:cxnSp>
          <p:cxnSp>
            <p:nvCxnSpPr>
              <p:cNvPr id="366" name="Google Shape;366;p33"/>
              <p:cNvCxnSpPr>
                <a:stCxn id="360" idx="2"/>
                <a:endCxn id="363" idx="1"/>
              </p:cNvCxnSpPr>
              <p:nvPr/>
            </p:nvCxnSpPr>
            <p:spPr>
              <a:xfrm rot="5400000">
                <a:off x="1734432" y="3447051"/>
                <a:ext cx="839400" cy="483000"/>
              </a:xfrm>
              <a:prstGeom prst="bentConnector4">
                <a:avLst>
                  <a:gd fmla="val 14424" name="adj1"/>
                  <a:gd fmla="val 163917" name="adj2"/>
                </a:avLst>
              </a:prstGeom>
              <a:noFill/>
              <a:ln cap="flat" cmpd="sng" w="9525">
                <a:solidFill>
                  <a:schemeClr val="dk2"/>
                </a:solidFill>
                <a:prstDash val="solid"/>
                <a:round/>
                <a:headEnd len="med" w="med" type="none"/>
                <a:tailEnd len="med" w="med" type="none"/>
              </a:ln>
            </p:spPr>
          </p:cxnSp>
          <p:cxnSp>
            <p:nvCxnSpPr>
              <p:cNvPr id="367" name="Google Shape;367;p33"/>
              <p:cNvCxnSpPr>
                <a:stCxn id="360" idx="2"/>
                <a:endCxn id="364" idx="1"/>
              </p:cNvCxnSpPr>
              <p:nvPr/>
            </p:nvCxnSpPr>
            <p:spPr>
              <a:xfrm rot="5400000">
                <a:off x="1524582" y="3656901"/>
                <a:ext cx="1259100" cy="483000"/>
              </a:xfrm>
              <a:prstGeom prst="bentConnector4">
                <a:avLst>
                  <a:gd fmla="val 9616" name="adj1"/>
                  <a:gd fmla="val 163917" name="adj2"/>
                </a:avLst>
              </a:prstGeom>
              <a:noFill/>
              <a:ln cap="flat" cmpd="sng" w="9525">
                <a:solidFill>
                  <a:schemeClr val="dk2"/>
                </a:solidFill>
                <a:prstDash val="solid"/>
                <a:round/>
                <a:headEnd len="med" w="med" type="none"/>
                <a:tailEnd len="med" w="med" type="none"/>
              </a:ln>
            </p:spPr>
          </p:cxnSp>
        </p:grpSp>
        <p:pic>
          <p:nvPicPr>
            <p:cNvPr id="368" name="Google Shape;368;p33"/>
            <p:cNvPicPr preferRelativeResize="0"/>
            <p:nvPr/>
          </p:nvPicPr>
          <p:blipFill>
            <a:blip r:embed="rId8">
              <a:alphaModFix/>
            </a:blip>
            <a:stretch>
              <a:fillRect/>
            </a:stretch>
          </p:blipFill>
          <p:spPr>
            <a:xfrm>
              <a:off x="2147087" y="2336200"/>
              <a:ext cx="530588" cy="572700"/>
            </a:xfrm>
            <a:prstGeom prst="rect">
              <a:avLst/>
            </a:prstGeom>
            <a:noFill/>
            <a:ln>
              <a:noFill/>
            </a:ln>
          </p:spPr>
        </p:pic>
      </p:grpSp>
      <p:grpSp>
        <p:nvGrpSpPr>
          <p:cNvPr id="369" name="Google Shape;369;p33"/>
          <p:cNvGrpSpPr/>
          <p:nvPr/>
        </p:nvGrpSpPr>
        <p:grpSpPr>
          <a:xfrm>
            <a:off x="7968556" y="994207"/>
            <a:ext cx="744555" cy="744555"/>
            <a:chOff x="3199663" y="1017726"/>
            <a:chExt cx="965700" cy="965700"/>
          </a:xfrm>
        </p:grpSpPr>
        <p:sp>
          <p:nvSpPr>
            <p:cNvPr id="350" name="Google Shape;350;p33"/>
            <p:cNvSpPr/>
            <p:nvPr/>
          </p:nvSpPr>
          <p:spPr>
            <a:xfrm>
              <a:off x="3199663" y="1017726"/>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700">
                  <a:solidFill>
                    <a:schemeClr val="dk1"/>
                  </a:solidFill>
                </a:rPr>
                <a:t>GraphAI</a:t>
              </a:r>
              <a:endParaRPr b="1" sz="700"/>
            </a:p>
          </p:txBody>
        </p:sp>
        <p:pic>
          <p:nvPicPr>
            <p:cNvPr id="370" name="Google Shape;370;p33"/>
            <p:cNvPicPr preferRelativeResize="0"/>
            <p:nvPr/>
          </p:nvPicPr>
          <p:blipFill>
            <a:blip r:embed="rId9">
              <a:alphaModFix/>
            </a:blip>
            <a:stretch>
              <a:fillRect/>
            </a:stretch>
          </p:blipFill>
          <p:spPr>
            <a:xfrm>
              <a:off x="3389998" y="1107400"/>
              <a:ext cx="585020" cy="631450"/>
            </a:xfrm>
            <a:prstGeom prst="rect">
              <a:avLst/>
            </a:prstGeom>
            <a:noFill/>
            <a:ln>
              <a:noFill/>
            </a:ln>
          </p:spPr>
        </p:pic>
      </p:grpSp>
      <p:sp>
        <p:nvSpPr>
          <p:cNvPr id="371" name="Google Shape;371;p33"/>
          <p:cNvSpPr/>
          <p:nvPr/>
        </p:nvSpPr>
        <p:spPr>
          <a:xfrm>
            <a:off x="7624500" y="2727950"/>
            <a:ext cx="65700" cy="675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72" name="Google Shape;372;p33"/>
          <p:cNvGrpSpPr/>
          <p:nvPr/>
        </p:nvGrpSpPr>
        <p:grpSpPr>
          <a:xfrm>
            <a:off x="7016250" y="1738751"/>
            <a:ext cx="1357425" cy="1759624"/>
            <a:chOff x="6711450" y="1738751"/>
            <a:chExt cx="1357425" cy="1759624"/>
          </a:xfrm>
        </p:grpSpPr>
        <p:grpSp>
          <p:nvGrpSpPr>
            <p:cNvPr id="373" name="Google Shape;373;p33"/>
            <p:cNvGrpSpPr/>
            <p:nvPr/>
          </p:nvGrpSpPr>
          <p:grpSpPr>
            <a:xfrm>
              <a:off x="6711450" y="1836025"/>
              <a:ext cx="1352850" cy="1662350"/>
              <a:chOff x="6711450" y="1836025"/>
              <a:chExt cx="1352850" cy="1662350"/>
            </a:xfrm>
          </p:grpSpPr>
          <p:sp>
            <p:nvSpPr>
              <p:cNvPr id="374" name="Google Shape;374;p33"/>
              <p:cNvSpPr/>
              <p:nvPr/>
            </p:nvSpPr>
            <p:spPr>
              <a:xfrm>
                <a:off x="6988050" y="3242175"/>
                <a:ext cx="744600" cy="2562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3"/>
              <p:cNvSpPr/>
              <p:nvPr/>
            </p:nvSpPr>
            <p:spPr>
              <a:xfrm>
                <a:off x="6988050" y="1996874"/>
                <a:ext cx="744600" cy="744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3"/>
              <p:cNvSpPr/>
              <p:nvPr/>
            </p:nvSpPr>
            <p:spPr>
              <a:xfrm>
                <a:off x="7319700" y="1836025"/>
                <a:ext cx="7446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3"/>
              <p:cNvSpPr/>
              <p:nvPr/>
            </p:nvSpPr>
            <p:spPr>
              <a:xfrm>
                <a:off x="6711450" y="2795475"/>
                <a:ext cx="6741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33"/>
              <p:cNvSpPr/>
              <p:nvPr/>
            </p:nvSpPr>
            <p:spPr>
              <a:xfrm>
                <a:off x="6711450" y="3338475"/>
                <a:ext cx="2766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33"/>
              <p:cNvSpPr/>
              <p:nvPr/>
            </p:nvSpPr>
            <p:spPr>
              <a:xfrm>
                <a:off x="7319700" y="1880276"/>
                <a:ext cx="65700" cy="1167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3"/>
              <p:cNvSpPr/>
              <p:nvPr/>
            </p:nvSpPr>
            <p:spPr>
              <a:xfrm>
                <a:off x="6711450" y="2859073"/>
                <a:ext cx="65700" cy="4794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1" name="Google Shape;381;p33"/>
            <p:cNvSpPr/>
            <p:nvPr/>
          </p:nvSpPr>
          <p:spPr>
            <a:xfrm>
              <a:off x="8003175" y="1738751"/>
              <a:ext cx="65700" cy="1167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34"/>
          <p:cNvPicPr preferRelativeResize="0"/>
          <p:nvPr/>
        </p:nvPicPr>
        <p:blipFill>
          <a:blip r:embed="rId3">
            <a:alphaModFix/>
          </a:blip>
          <a:stretch>
            <a:fillRect/>
          </a:stretch>
        </p:blipFill>
        <p:spPr>
          <a:xfrm>
            <a:off x="151250" y="748988"/>
            <a:ext cx="2856625" cy="3645525"/>
          </a:xfrm>
          <a:prstGeom prst="rect">
            <a:avLst/>
          </a:prstGeom>
          <a:noFill/>
          <a:ln>
            <a:noFill/>
          </a:ln>
        </p:spPr>
      </p:pic>
      <p:pic>
        <p:nvPicPr>
          <p:cNvPr id="387" name="Google Shape;387;p34"/>
          <p:cNvPicPr preferRelativeResize="0"/>
          <p:nvPr/>
        </p:nvPicPr>
        <p:blipFill rotWithShape="1">
          <a:blip r:embed="rId4">
            <a:alphaModFix/>
          </a:blip>
          <a:srcRect b="9535" l="0" r="0" t="0"/>
          <a:stretch/>
        </p:blipFill>
        <p:spPr>
          <a:xfrm>
            <a:off x="3175300" y="1545675"/>
            <a:ext cx="5737899" cy="2052175"/>
          </a:xfrm>
          <a:prstGeom prst="rect">
            <a:avLst/>
          </a:prstGeom>
          <a:noFill/>
          <a:ln>
            <a:noFill/>
          </a:ln>
        </p:spPr>
      </p:pic>
      <p:sp>
        <p:nvSpPr>
          <p:cNvPr id="388" name="Google Shape;388;p34"/>
          <p:cNvSpPr/>
          <p:nvPr/>
        </p:nvSpPr>
        <p:spPr>
          <a:xfrm>
            <a:off x="3799975" y="2566725"/>
            <a:ext cx="4993200" cy="801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4"/>
          <p:cNvSpPr txBox="1"/>
          <p:nvPr/>
        </p:nvSpPr>
        <p:spPr>
          <a:xfrm>
            <a:off x="3208425" y="3647075"/>
            <a:ext cx="5479200" cy="7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 survey of Intelligence and Security use cases leads us to select </a:t>
            </a:r>
            <a:r>
              <a:rPr i="1" lang="en" sz="1800">
                <a:solidFill>
                  <a:schemeClr val="dk1"/>
                </a:solidFill>
              </a:rPr>
              <a:t>Population Segmentation</a:t>
            </a:r>
            <a:endParaRPr sz="1800">
              <a:solidFill>
                <a:schemeClr val="dk1"/>
              </a:solidFill>
            </a:endParaRPr>
          </a:p>
        </p:txBody>
      </p:sp>
      <p:sp>
        <p:nvSpPr>
          <p:cNvPr id="390" name="Google Shape;390;p34"/>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Identify the Use Case</a:t>
            </a:r>
            <a:endParaRPr/>
          </a:p>
        </p:txBody>
      </p:sp>
      <p:sp>
        <p:nvSpPr>
          <p:cNvPr id="391" name="Google Shape;391;p34"/>
          <p:cNvSpPr/>
          <p:nvPr/>
        </p:nvSpPr>
        <p:spPr>
          <a:xfrm>
            <a:off x="3208425" y="2181175"/>
            <a:ext cx="591600" cy="20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Times New Roman"/>
                <a:ea typeface="Times New Roman"/>
                <a:cs typeface="Times New Roman"/>
                <a:sym typeface="Times New Roman"/>
              </a:rPr>
              <a:t>GM</a:t>
            </a:r>
            <a:endParaRPr b="1" sz="800">
              <a:latin typeface="Times New Roman"/>
              <a:ea typeface="Times New Roman"/>
              <a:cs typeface="Times New Roman"/>
              <a:sym typeface="Times New Roman"/>
            </a:endParaRPr>
          </a:p>
        </p:txBody>
      </p:sp>
      <p:sp>
        <p:nvSpPr>
          <p:cNvPr id="392" name="Google Shape;392;p34"/>
          <p:cNvSpPr/>
          <p:nvPr/>
        </p:nvSpPr>
        <p:spPr>
          <a:xfrm>
            <a:off x="3201550" y="1812375"/>
            <a:ext cx="598500" cy="20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Times New Roman"/>
                <a:ea typeface="Times New Roman"/>
                <a:cs typeface="Times New Roman"/>
                <a:sym typeface="Times New Roman"/>
              </a:rPr>
              <a:t>GPS</a:t>
            </a:r>
            <a:endParaRPr b="1" sz="800">
              <a:latin typeface="Times New Roman"/>
              <a:ea typeface="Times New Roman"/>
              <a:cs typeface="Times New Roman"/>
              <a:sym typeface="Times New Roman"/>
            </a:endParaRPr>
          </a:p>
        </p:txBody>
      </p:sp>
      <p:sp>
        <p:nvSpPr>
          <p:cNvPr id="393" name="Google Shape;393;p34"/>
          <p:cNvSpPr/>
          <p:nvPr/>
        </p:nvSpPr>
        <p:spPr>
          <a:xfrm>
            <a:off x="3224925" y="2881800"/>
            <a:ext cx="558600" cy="20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Times New Roman"/>
                <a:ea typeface="Times New Roman"/>
                <a:cs typeface="Times New Roman"/>
                <a:sym typeface="Times New Roman"/>
              </a:rPr>
              <a:t>GR</a:t>
            </a:r>
            <a:endParaRPr b="1" sz="800">
              <a:latin typeface="Times New Roman"/>
              <a:ea typeface="Times New Roman"/>
              <a:cs typeface="Times New Roman"/>
              <a:sym typeface="Times New Roman"/>
            </a:endParaRPr>
          </a:p>
        </p:txBody>
      </p:sp>
      <p:sp>
        <p:nvSpPr>
          <p:cNvPr id="394" name="Google Shape;394;p34"/>
          <p:cNvSpPr/>
          <p:nvPr/>
        </p:nvSpPr>
        <p:spPr>
          <a:xfrm>
            <a:off x="3224925" y="3233713"/>
            <a:ext cx="558600" cy="20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Times New Roman"/>
                <a:ea typeface="Times New Roman"/>
                <a:cs typeface="Times New Roman"/>
                <a:sym typeface="Times New Roman"/>
              </a:rPr>
              <a:t>GP</a:t>
            </a:r>
            <a:endParaRPr b="1" sz="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35"/>
          <p:cNvPicPr preferRelativeResize="0"/>
          <p:nvPr/>
        </p:nvPicPr>
        <p:blipFill>
          <a:blip r:embed="rId3">
            <a:alphaModFix/>
          </a:blip>
          <a:stretch>
            <a:fillRect/>
          </a:stretch>
        </p:blipFill>
        <p:spPr>
          <a:xfrm>
            <a:off x="151250" y="748988"/>
            <a:ext cx="2856625" cy="3645525"/>
          </a:xfrm>
          <a:prstGeom prst="rect">
            <a:avLst/>
          </a:prstGeom>
          <a:noFill/>
          <a:ln>
            <a:noFill/>
          </a:ln>
        </p:spPr>
      </p:pic>
      <p:pic>
        <p:nvPicPr>
          <p:cNvPr id="400" name="Google Shape;400;p35"/>
          <p:cNvPicPr preferRelativeResize="0"/>
          <p:nvPr/>
        </p:nvPicPr>
        <p:blipFill>
          <a:blip r:embed="rId4">
            <a:alphaModFix/>
          </a:blip>
          <a:stretch>
            <a:fillRect/>
          </a:stretch>
        </p:blipFill>
        <p:spPr>
          <a:xfrm>
            <a:off x="3995900" y="1017725"/>
            <a:ext cx="3669677" cy="3222144"/>
          </a:xfrm>
          <a:prstGeom prst="rect">
            <a:avLst/>
          </a:prstGeom>
          <a:noFill/>
          <a:ln>
            <a:noFill/>
          </a:ln>
        </p:spPr>
      </p:pic>
      <p:sp>
        <p:nvSpPr>
          <p:cNvPr id="401" name="Google Shape;401;p35"/>
          <p:cNvSpPr/>
          <p:nvPr/>
        </p:nvSpPr>
        <p:spPr>
          <a:xfrm>
            <a:off x="5898425" y="1046125"/>
            <a:ext cx="1672500" cy="1021500"/>
          </a:xfrm>
          <a:prstGeom prst="roundRect">
            <a:avLst>
              <a:gd fmla="val 16667" name="adj"/>
            </a:avLst>
          </a:prstGeom>
          <a:solidFill>
            <a:srgbClr val="EEEEEE">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5"/>
          <p:cNvSpPr/>
          <p:nvPr/>
        </p:nvSpPr>
        <p:spPr>
          <a:xfrm>
            <a:off x="5991525" y="2163100"/>
            <a:ext cx="1215600" cy="1458600"/>
          </a:xfrm>
          <a:prstGeom prst="roundRect">
            <a:avLst>
              <a:gd fmla="val 16667" name="adj"/>
            </a:avLst>
          </a:prstGeom>
          <a:solidFill>
            <a:srgbClr val="93C47D">
              <a:alpha val="493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5"/>
          <p:cNvSpPr/>
          <p:nvPr/>
        </p:nvSpPr>
        <p:spPr>
          <a:xfrm>
            <a:off x="4044080" y="1159792"/>
            <a:ext cx="1837200" cy="3080100"/>
          </a:xfrm>
          <a:prstGeom prst="roundRect">
            <a:avLst>
              <a:gd fmla="val 16667" name="adj"/>
            </a:avLst>
          </a:prstGeom>
          <a:solidFill>
            <a:srgbClr val="EA9999">
              <a:alpha val="5062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35"/>
          <p:cNvSpPr txBox="1"/>
          <p:nvPr/>
        </p:nvSpPr>
        <p:spPr>
          <a:xfrm>
            <a:off x="4090153" y="4297277"/>
            <a:ext cx="4259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Population Segmentation:</a:t>
            </a:r>
            <a:r>
              <a:rPr lang="en">
                <a:solidFill>
                  <a:schemeClr val="dk1"/>
                </a:solidFill>
              </a:rPr>
              <a:t> Given a population, how can we divide it so that the most ‘like’ members are together?</a:t>
            </a:r>
            <a:endParaRPr>
              <a:solidFill>
                <a:schemeClr val="dk1"/>
              </a:solidFill>
            </a:endParaRPr>
          </a:p>
        </p:txBody>
      </p:sp>
      <p:sp>
        <p:nvSpPr>
          <p:cNvPr id="405" name="Google Shape;405;p35"/>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Identify the Use Case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6"/>
          <p:cNvSpPr txBox="1"/>
          <p:nvPr>
            <p:ph idx="1" type="body"/>
          </p:nvPr>
        </p:nvSpPr>
        <p:spPr>
          <a:xfrm>
            <a:off x="4343400" y="955500"/>
            <a:ext cx="4260300" cy="3842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chemeClr val="dk1"/>
                </a:solidFill>
              </a:rPr>
              <a:t>Tasks: </a:t>
            </a:r>
            <a:endParaRPr b="1">
              <a:solidFill>
                <a:schemeClr val="dk1"/>
              </a:solidFill>
            </a:endParaRPr>
          </a:p>
          <a:p>
            <a:pPr indent="0" lvl="0" marL="0" rtl="0" algn="l">
              <a:spcBef>
                <a:spcPts val="1200"/>
              </a:spcBef>
              <a:spcAft>
                <a:spcPts val="0"/>
              </a:spcAft>
              <a:buNone/>
            </a:pPr>
            <a:r>
              <a:rPr b="1" lang="en">
                <a:solidFill>
                  <a:schemeClr val="dk1"/>
                </a:solidFill>
              </a:rPr>
              <a:t>	</a:t>
            </a:r>
            <a:r>
              <a:rPr lang="en">
                <a:solidFill>
                  <a:schemeClr val="dk1"/>
                </a:solidFill>
              </a:rPr>
              <a:t>Graph Partitioning </a:t>
            </a:r>
            <a:endParaRPr>
              <a:solidFill>
                <a:schemeClr val="dk1"/>
              </a:solidFill>
            </a:endParaRPr>
          </a:p>
          <a:p>
            <a:pPr indent="0" lvl="0" marL="0" rtl="0" algn="l">
              <a:spcBef>
                <a:spcPts val="1200"/>
              </a:spcBef>
              <a:spcAft>
                <a:spcPts val="0"/>
              </a:spcAft>
              <a:buNone/>
            </a:pPr>
            <a:r>
              <a:rPr lang="en">
                <a:solidFill>
                  <a:schemeClr val="dk1"/>
                </a:solidFill>
              </a:rPr>
              <a:t>	Graph Clustering </a:t>
            </a:r>
            <a:endParaRPr>
              <a:solidFill>
                <a:schemeClr val="dk1"/>
              </a:solidFill>
            </a:endParaRPr>
          </a:p>
          <a:p>
            <a:pPr indent="0" lvl="0" marL="0" rtl="0" algn="l">
              <a:spcBef>
                <a:spcPts val="1200"/>
              </a:spcBef>
              <a:spcAft>
                <a:spcPts val="0"/>
              </a:spcAft>
              <a:buNone/>
            </a:pPr>
            <a:r>
              <a:rPr lang="en">
                <a:solidFill>
                  <a:schemeClr val="dk1"/>
                </a:solidFill>
              </a:rPr>
              <a:t>	Community Detection</a:t>
            </a:r>
            <a:endParaRPr>
              <a:solidFill>
                <a:schemeClr val="dk1"/>
              </a:solidFill>
            </a:endParaRPr>
          </a:p>
          <a:p>
            <a:pPr indent="0" lvl="0" marL="0" rtl="0" algn="l">
              <a:spcBef>
                <a:spcPts val="1200"/>
              </a:spcBef>
              <a:spcAft>
                <a:spcPts val="0"/>
              </a:spcAft>
              <a:buNone/>
            </a:pPr>
            <a:r>
              <a:rPr lang="en">
                <a:solidFill>
                  <a:schemeClr val="dk1"/>
                </a:solidFill>
              </a:rPr>
              <a:t>	Dynamic Detection</a:t>
            </a:r>
            <a:endParaRPr>
              <a:solidFill>
                <a:schemeClr val="dk1"/>
              </a:solidFill>
            </a:endParaRPr>
          </a:p>
          <a:p>
            <a:pPr indent="0" lvl="0" marL="0" rtl="0" algn="l">
              <a:spcBef>
                <a:spcPts val="1200"/>
              </a:spcBef>
              <a:spcAft>
                <a:spcPts val="0"/>
              </a:spcAft>
              <a:buNone/>
            </a:pPr>
            <a:r>
              <a:rPr b="1" lang="en">
                <a:solidFill>
                  <a:schemeClr val="dk1"/>
                </a:solidFill>
              </a:rPr>
              <a:t>Dataset Characteristics: </a:t>
            </a:r>
            <a:endParaRPr b="1">
              <a:solidFill>
                <a:schemeClr val="dk1"/>
              </a:solidFill>
            </a:endParaRPr>
          </a:p>
          <a:p>
            <a:pPr indent="0" lvl="0" marL="0" rtl="0" algn="l">
              <a:spcBef>
                <a:spcPts val="1200"/>
              </a:spcBef>
              <a:spcAft>
                <a:spcPts val="0"/>
              </a:spcAft>
              <a:buNone/>
            </a:pPr>
            <a:r>
              <a:rPr lang="en">
                <a:solidFill>
                  <a:schemeClr val="dk1"/>
                </a:solidFill>
              </a:rPr>
              <a:t>	Scale-Free</a:t>
            </a:r>
            <a:endParaRPr>
              <a:solidFill>
                <a:schemeClr val="dk1"/>
              </a:solidFill>
            </a:endParaRPr>
          </a:p>
          <a:p>
            <a:pPr indent="0" lvl="0" marL="0" rtl="0" algn="l">
              <a:spcBef>
                <a:spcPts val="1200"/>
              </a:spcBef>
              <a:spcAft>
                <a:spcPts val="0"/>
              </a:spcAft>
              <a:buNone/>
            </a:pPr>
            <a:r>
              <a:rPr lang="en">
                <a:solidFill>
                  <a:schemeClr val="dk1"/>
                </a:solidFill>
              </a:rPr>
              <a:t>	‘Clique-y’ vs ‘Fuzzy’</a:t>
            </a:r>
            <a:endParaRPr>
              <a:solidFill>
                <a:schemeClr val="dk1"/>
              </a:solidFill>
            </a:endParaRPr>
          </a:p>
          <a:p>
            <a:pPr indent="0" lvl="0" marL="0" rtl="0" algn="l">
              <a:spcBef>
                <a:spcPts val="1200"/>
              </a:spcBef>
              <a:spcAft>
                <a:spcPts val="0"/>
              </a:spcAft>
              <a:buNone/>
            </a:pPr>
            <a:r>
              <a:rPr lang="en">
                <a:solidFill>
                  <a:schemeClr val="dk1"/>
                </a:solidFill>
              </a:rPr>
              <a:t>	Scale quadratic in Vertex Count</a:t>
            </a:r>
            <a:endParaRPr>
              <a:solidFill>
                <a:schemeClr val="dk1"/>
              </a:solidFill>
            </a:endParaRPr>
          </a:p>
          <a:p>
            <a:pPr indent="0" lvl="0" marL="0" rtl="0" algn="l">
              <a:spcBef>
                <a:spcPts val="1200"/>
              </a:spcBef>
              <a:spcAft>
                <a:spcPts val="1200"/>
              </a:spcAft>
              <a:buNone/>
            </a:pPr>
            <a:r>
              <a:rPr lang="en">
                <a:solidFill>
                  <a:schemeClr val="dk1"/>
                </a:solidFill>
              </a:rPr>
              <a:t>	Attributed and Weighted</a:t>
            </a:r>
            <a:endParaRPr>
              <a:solidFill>
                <a:schemeClr val="dk1"/>
              </a:solidFill>
            </a:endParaRPr>
          </a:p>
        </p:txBody>
      </p:sp>
      <p:sp>
        <p:nvSpPr>
          <p:cNvPr id="411" name="Google Shape;411;p36"/>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Describe the Problem</a:t>
            </a:r>
            <a:endParaRPr/>
          </a:p>
        </p:txBody>
      </p:sp>
      <p:pic>
        <p:nvPicPr>
          <p:cNvPr id="412" name="Google Shape;412;p36"/>
          <p:cNvPicPr preferRelativeResize="0"/>
          <p:nvPr/>
        </p:nvPicPr>
        <p:blipFill>
          <a:blip r:embed="rId3">
            <a:alphaModFix/>
          </a:blip>
          <a:stretch>
            <a:fillRect/>
          </a:stretch>
        </p:blipFill>
        <p:spPr>
          <a:xfrm>
            <a:off x="151250" y="759591"/>
            <a:ext cx="2856625" cy="363493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37"/>
          <p:cNvPicPr preferRelativeResize="0"/>
          <p:nvPr/>
        </p:nvPicPr>
        <p:blipFill>
          <a:blip r:embed="rId3">
            <a:alphaModFix/>
          </a:blip>
          <a:stretch>
            <a:fillRect/>
          </a:stretch>
        </p:blipFill>
        <p:spPr>
          <a:xfrm>
            <a:off x="3095800" y="1092633"/>
            <a:ext cx="5958475" cy="2958229"/>
          </a:xfrm>
          <a:prstGeom prst="rect">
            <a:avLst/>
          </a:prstGeom>
          <a:noFill/>
          <a:ln>
            <a:noFill/>
          </a:ln>
        </p:spPr>
      </p:pic>
      <p:sp>
        <p:nvSpPr>
          <p:cNvPr id="418" name="Google Shape;418;p37"/>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Describe the Problem</a:t>
            </a:r>
            <a:endParaRPr/>
          </a:p>
        </p:txBody>
      </p:sp>
      <p:sp>
        <p:nvSpPr>
          <p:cNvPr id="419" name="Google Shape;419;p37"/>
          <p:cNvSpPr txBox="1"/>
          <p:nvPr/>
        </p:nvSpPr>
        <p:spPr>
          <a:xfrm>
            <a:off x="3208425" y="4104275"/>
            <a:ext cx="5479200" cy="7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Select </a:t>
            </a:r>
            <a:r>
              <a:rPr i="1" lang="en" sz="1800">
                <a:solidFill>
                  <a:schemeClr val="dk1"/>
                </a:solidFill>
              </a:rPr>
              <a:t>problem-centric</a:t>
            </a:r>
            <a:r>
              <a:rPr lang="en" sz="1800">
                <a:solidFill>
                  <a:schemeClr val="dk1"/>
                </a:solidFill>
              </a:rPr>
              <a:t> tasks and expected outputs for population segmentation. </a:t>
            </a:r>
            <a:endParaRPr sz="1800">
              <a:solidFill>
                <a:schemeClr val="dk1"/>
              </a:solidFill>
            </a:endParaRPr>
          </a:p>
        </p:txBody>
      </p:sp>
      <p:sp>
        <p:nvSpPr>
          <p:cNvPr id="420" name="Google Shape;420;p37"/>
          <p:cNvSpPr/>
          <p:nvPr/>
        </p:nvSpPr>
        <p:spPr>
          <a:xfrm>
            <a:off x="3314700" y="3376350"/>
            <a:ext cx="5373000" cy="1575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21" name="Google Shape;421;p37"/>
          <p:cNvPicPr preferRelativeResize="0"/>
          <p:nvPr/>
        </p:nvPicPr>
        <p:blipFill>
          <a:blip r:embed="rId4">
            <a:alphaModFix/>
          </a:blip>
          <a:stretch>
            <a:fillRect/>
          </a:stretch>
        </p:blipFill>
        <p:spPr>
          <a:xfrm>
            <a:off x="151250" y="759591"/>
            <a:ext cx="2856625" cy="36349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8"/>
          <p:cNvSpPr txBox="1"/>
          <p:nvPr>
            <p:ph idx="1" type="body"/>
          </p:nvPr>
        </p:nvSpPr>
        <p:spPr>
          <a:xfrm>
            <a:off x="3305175" y="1243050"/>
            <a:ext cx="50760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solidFill>
                  <a:schemeClr val="dk1"/>
                </a:solidFill>
              </a:rPr>
              <a:t>Given the problem:</a:t>
            </a:r>
            <a:endParaRPr b="1">
              <a:solidFill>
                <a:schemeClr val="dk1"/>
              </a:solidFill>
            </a:endParaRPr>
          </a:p>
          <a:p>
            <a:pPr indent="0" lvl="0" marL="0" rtl="0" algn="l">
              <a:spcBef>
                <a:spcPts val="1200"/>
              </a:spcBef>
              <a:spcAft>
                <a:spcPts val="0"/>
              </a:spcAft>
              <a:buNone/>
            </a:pPr>
            <a:r>
              <a:rPr b="1" lang="en">
                <a:solidFill>
                  <a:schemeClr val="dk1"/>
                </a:solidFill>
              </a:rPr>
              <a:t>	[7]</a:t>
            </a:r>
            <a:r>
              <a:rPr lang="en">
                <a:solidFill>
                  <a:schemeClr val="dk1"/>
                </a:solidFill>
              </a:rPr>
              <a:t> What are the segments and who is in each?</a:t>
            </a:r>
            <a:endParaRPr>
              <a:solidFill>
                <a:schemeClr val="dk1"/>
              </a:solidFill>
            </a:endParaRPr>
          </a:p>
          <a:p>
            <a:pPr indent="0" lvl="0" marL="0" rtl="0" algn="l">
              <a:spcBef>
                <a:spcPts val="1200"/>
              </a:spcBef>
              <a:spcAft>
                <a:spcPts val="0"/>
              </a:spcAft>
              <a:buClr>
                <a:schemeClr val="dk1"/>
              </a:buClr>
              <a:buSzPct val="61111"/>
              <a:buFont typeface="Arial"/>
              <a:buNone/>
            </a:pPr>
            <a:r>
              <a:rPr b="1" lang="en">
                <a:solidFill>
                  <a:schemeClr val="dk1"/>
                </a:solidFill>
              </a:rPr>
              <a:t>We are </a:t>
            </a:r>
            <a:r>
              <a:rPr b="1" lang="en">
                <a:solidFill>
                  <a:schemeClr val="dk1"/>
                </a:solidFill>
              </a:rPr>
              <a:t>interested in the phenomena:</a:t>
            </a:r>
            <a:endParaRPr b="1">
              <a:solidFill>
                <a:schemeClr val="dk1"/>
              </a:solidFill>
            </a:endParaRPr>
          </a:p>
          <a:p>
            <a:pPr indent="-457200" lvl="0" marL="457200" rtl="0" algn="l">
              <a:spcBef>
                <a:spcPts val="1200"/>
              </a:spcBef>
              <a:spcAft>
                <a:spcPts val="0"/>
              </a:spcAft>
              <a:buNone/>
            </a:pPr>
            <a:r>
              <a:rPr b="1" lang="en">
                <a:solidFill>
                  <a:schemeClr val="dk1"/>
                </a:solidFill>
              </a:rPr>
              <a:t>	</a:t>
            </a:r>
            <a:r>
              <a:rPr lang="en">
                <a:solidFill>
                  <a:schemeClr val="dk1"/>
                </a:solidFill>
              </a:rPr>
              <a:t>What is the interaction between </a:t>
            </a:r>
            <a:r>
              <a:rPr i="1" lang="en">
                <a:solidFill>
                  <a:schemeClr val="dk1"/>
                </a:solidFill>
              </a:rPr>
              <a:t>effectiveness</a:t>
            </a:r>
            <a:r>
              <a:rPr lang="en">
                <a:solidFill>
                  <a:schemeClr val="dk1"/>
                </a:solidFill>
              </a:rPr>
              <a:t> and </a:t>
            </a:r>
            <a:r>
              <a:rPr i="1" lang="en">
                <a:solidFill>
                  <a:schemeClr val="dk1"/>
                </a:solidFill>
              </a:rPr>
              <a:t>efficiency </a:t>
            </a:r>
            <a:r>
              <a:rPr lang="en">
                <a:solidFill>
                  <a:schemeClr val="dk1"/>
                </a:solidFill>
              </a:rPr>
              <a:t>for population segmentation approaches?</a:t>
            </a:r>
            <a:endParaRPr b="1">
              <a:solidFill>
                <a:schemeClr val="dk1"/>
              </a:solidFill>
            </a:endParaRPr>
          </a:p>
          <a:p>
            <a:pPr indent="0" lvl="0" marL="457200" rtl="0" algn="l">
              <a:spcBef>
                <a:spcPts val="1200"/>
              </a:spcBef>
              <a:spcAft>
                <a:spcPts val="0"/>
              </a:spcAft>
              <a:buNone/>
            </a:pPr>
            <a:r>
              <a:rPr b="1" lang="en">
                <a:solidFill>
                  <a:schemeClr val="dk1"/>
                </a:solidFill>
              </a:rPr>
              <a:t>Effectiveness Metric: </a:t>
            </a:r>
            <a:r>
              <a:rPr lang="en">
                <a:solidFill>
                  <a:schemeClr val="dk1"/>
                </a:solidFill>
              </a:rPr>
              <a:t>Normalized Mutual Information of segments</a:t>
            </a:r>
            <a:endParaRPr b="1">
              <a:solidFill>
                <a:schemeClr val="dk1"/>
              </a:solidFill>
            </a:endParaRPr>
          </a:p>
          <a:p>
            <a:pPr indent="457200" lvl="0" marL="0" rtl="0" algn="l">
              <a:spcBef>
                <a:spcPts val="1200"/>
              </a:spcBef>
              <a:spcAft>
                <a:spcPts val="1200"/>
              </a:spcAft>
              <a:buNone/>
            </a:pPr>
            <a:r>
              <a:rPr b="1" lang="en">
                <a:solidFill>
                  <a:schemeClr val="dk1"/>
                </a:solidFill>
              </a:rPr>
              <a:t>Efficiency Metric: </a:t>
            </a:r>
            <a:r>
              <a:rPr lang="en">
                <a:solidFill>
                  <a:schemeClr val="dk1"/>
                </a:solidFill>
              </a:rPr>
              <a:t>Batch Latency </a:t>
            </a:r>
            <a:endParaRPr>
              <a:solidFill>
                <a:schemeClr val="dk1"/>
              </a:solidFill>
            </a:endParaRPr>
          </a:p>
        </p:txBody>
      </p:sp>
      <p:pic>
        <p:nvPicPr>
          <p:cNvPr id="427" name="Google Shape;427;p38"/>
          <p:cNvPicPr preferRelativeResize="0"/>
          <p:nvPr/>
        </p:nvPicPr>
        <p:blipFill>
          <a:blip r:embed="rId3">
            <a:alphaModFix/>
          </a:blip>
          <a:stretch>
            <a:fillRect/>
          </a:stretch>
        </p:blipFill>
        <p:spPr>
          <a:xfrm>
            <a:off x="151248" y="726898"/>
            <a:ext cx="2882303" cy="3667625"/>
          </a:xfrm>
          <a:prstGeom prst="rect">
            <a:avLst/>
          </a:prstGeom>
          <a:noFill/>
          <a:ln>
            <a:noFill/>
          </a:ln>
        </p:spPr>
      </p:pic>
      <p:sp>
        <p:nvSpPr>
          <p:cNvPr id="428" name="Google Shape;428;p38"/>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 Identify the Phenomena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39"/>
          <p:cNvPicPr preferRelativeResize="0"/>
          <p:nvPr/>
        </p:nvPicPr>
        <p:blipFill>
          <a:blip r:embed="rId3">
            <a:alphaModFix/>
          </a:blip>
          <a:stretch>
            <a:fillRect/>
          </a:stretch>
        </p:blipFill>
        <p:spPr>
          <a:xfrm>
            <a:off x="151250" y="735253"/>
            <a:ext cx="2882300" cy="3659271"/>
          </a:xfrm>
          <a:prstGeom prst="rect">
            <a:avLst/>
          </a:prstGeom>
          <a:noFill/>
          <a:ln>
            <a:noFill/>
          </a:ln>
        </p:spPr>
      </p:pic>
      <p:pic>
        <p:nvPicPr>
          <p:cNvPr id="434" name="Google Shape;434;p39"/>
          <p:cNvPicPr preferRelativeResize="0"/>
          <p:nvPr/>
        </p:nvPicPr>
        <p:blipFill>
          <a:blip r:embed="rId4">
            <a:alphaModFix/>
          </a:blip>
          <a:stretch>
            <a:fillRect/>
          </a:stretch>
        </p:blipFill>
        <p:spPr>
          <a:xfrm>
            <a:off x="3299284" y="1093925"/>
            <a:ext cx="5289691" cy="2879425"/>
          </a:xfrm>
          <a:prstGeom prst="rect">
            <a:avLst/>
          </a:prstGeom>
          <a:noFill/>
          <a:ln>
            <a:noFill/>
          </a:ln>
        </p:spPr>
      </p:pic>
      <p:sp>
        <p:nvSpPr>
          <p:cNvPr id="435" name="Google Shape;435;p39"/>
          <p:cNvSpPr txBox="1"/>
          <p:nvPr/>
        </p:nvSpPr>
        <p:spPr>
          <a:xfrm>
            <a:off x="5906975" y="3897150"/>
            <a:ext cx="14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800">
                <a:solidFill>
                  <a:schemeClr val="dk1"/>
                </a:solidFill>
              </a:rPr>
              <a:t>n</a:t>
            </a:r>
            <a:r>
              <a:rPr i="1" lang="en" sz="800">
                <a:solidFill>
                  <a:schemeClr val="dk1"/>
                </a:solidFill>
              </a:rPr>
              <a:t> = number of vertices</a:t>
            </a:r>
            <a:endParaRPr i="1" sz="800">
              <a:solidFill>
                <a:schemeClr val="dk1"/>
              </a:solidFill>
            </a:endParaRPr>
          </a:p>
          <a:p>
            <a:pPr indent="0" lvl="0" marL="0" rtl="0" algn="l">
              <a:spcBef>
                <a:spcPts val="0"/>
              </a:spcBef>
              <a:spcAft>
                <a:spcPts val="0"/>
              </a:spcAft>
              <a:buNone/>
            </a:pPr>
            <a:r>
              <a:rPr b="1" i="1" lang="en" sz="800">
                <a:solidFill>
                  <a:schemeClr val="dk1"/>
                </a:solidFill>
              </a:rPr>
              <a:t>m</a:t>
            </a:r>
            <a:r>
              <a:rPr i="1" lang="en" sz="800">
                <a:solidFill>
                  <a:schemeClr val="dk1"/>
                </a:solidFill>
              </a:rPr>
              <a:t> = number of edges</a:t>
            </a:r>
            <a:endParaRPr i="1" sz="800">
              <a:solidFill>
                <a:schemeClr val="dk1"/>
              </a:solidFill>
            </a:endParaRPr>
          </a:p>
          <a:p>
            <a:pPr indent="0" lvl="0" marL="0" rtl="0" algn="l">
              <a:spcBef>
                <a:spcPts val="0"/>
              </a:spcBef>
              <a:spcAft>
                <a:spcPts val="0"/>
              </a:spcAft>
              <a:buNone/>
            </a:pPr>
            <a:r>
              <a:rPr b="1" i="1" lang="en" sz="800">
                <a:solidFill>
                  <a:schemeClr val="dk1"/>
                </a:solidFill>
              </a:rPr>
              <a:t>c</a:t>
            </a:r>
            <a:r>
              <a:rPr i="1" lang="en" sz="800">
                <a:solidFill>
                  <a:schemeClr val="dk1"/>
                </a:solidFill>
              </a:rPr>
              <a:t> = number of communities </a:t>
            </a:r>
            <a:endParaRPr i="1" sz="800">
              <a:solidFill>
                <a:schemeClr val="dk1"/>
              </a:solidFill>
            </a:endParaRPr>
          </a:p>
        </p:txBody>
      </p:sp>
      <p:sp>
        <p:nvSpPr>
          <p:cNvPr id="436" name="Google Shape;436;p39"/>
          <p:cNvSpPr txBox="1"/>
          <p:nvPr/>
        </p:nvSpPr>
        <p:spPr>
          <a:xfrm>
            <a:off x="7328675" y="3897150"/>
            <a:ext cx="1336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800">
                <a:solidFill>
                  <a:schemeClr val="dk1"/>
                </a:solidFill>
              </a:rPr>
              <a:t>i</a:t>
            </a:r>
            <a:r>
              <a:rPr i="1" lang="en" sz="800">
                <a:solidFill>
                  <a:schemeClr val="dk1"/>
                </a:solidFill>
              </a:rPr>
              <a:t> = number of iterations</a:t>
            </a:r>
            <a:endParaRPr i="1" sz="800">
              <a:solidFill>
                <a:schemeClr val="dk1"/>
              </a:solidFill>
            </a:endParaRPr>
          </a:p>
          <a:p>
            <a:pPr indent="0" lvl="0" marL="0" rtl="0" algn="l">
              <a:spcBef>
                <a:spcPts val="0"/>
              </a:spcBef>
              <a:spcAft>
                <a:spcPts val="0"/>
              </a:spcAft>
              <a:buNone/>
            </a:pPr>
            <a:r>
              <a:rPr b="1" i="1" lang="en" sz="800">
                <a:solidFill>
                  <a:schemeClr val="dk1"/>
                </a:solidFill>
              </a:rPr>
              <a:t>t</a:t>
            </a:r>
            <a:r>
              <a:rPr i="1" lang="en" sz="800">
                <a:solidFill>
                  <a:schemeClr val="dk1"/>
                </a:solidFill>
              </a:rPr>
              <a:t> = number of timesteps</a:t>
            </a:r>
            <a:endParaRPr i="1" sz="800">
              <a:solidFill>
                <a:schemeClr val="dk1"/>
              </a:solidFill>
            </a:endParaRPr>
          </a:p>
          <a:p>
            <a:pPr indent="0" lvl="0" marL="0" rtl="0" algn="l">
              <a:spcBef>
                <a:spcPts val="0"/>
              </a:spcBef>
              <a:spcAft>
                <a:spcPts val="0"/>
              </a:spcAft>
              <a:buNone/>
            </a:pPr>
            <a:r>
              <a:rPr b="1" i="1" lang="en" sz="800">
                <a:solidFill>
                  <a:schemeClr val="dk1"/>
                </a:solidFill>
              </a:rPr>
              <a:t>d</a:t>
            </a:r>
            <a:r>
              <a:rPr i="1" lang="en" sz="800">
                <a:solidFill>
                  <a:schemeClr val="dk1"/>
                </a:solidFill>
              </a:rPr>
              <a:t> = degeneracy of graph</a:t>
            </a:r>
            <a:endParaRPr i="1" sz="800">
              <a:solidFill>
                <a:schemeClr val="dk1"/>
              </a:solidFill>
            </a:endParaRPr>
          </a:p>
        </p:txBody>
      </p:sp>
      <p:sp>
        <p:nvSpPr>
          <p:cNvPr id="437" name="Google Shape;437;p39"/>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4: Conduct Exploratory Study</a:t>
            </a:r>
            <a:endParaRPr/>
          </a:p>
        </p:txBody>
      </p:sp>
      <p:sp>
        <p:nvSpPr>
          <p:cNvPr id="438" name="Google Shape;438;p39"/>
          <p:cNvSpPr txBox="1"/>
          <p:nvPr/>
        </p:nvSpPr>
        <p:spPr>
          <a:xfrm>
            <a:off x="3208425" y="4332875"/>
            <a:ext cx="5726100" cy="7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 literature review of prior benchmarks, workload analyses &amp; accelerator designs explores the problem</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0"/>
          <p:cNvSpPr txBox="1"/>
          <p:nvPr>
            <p:ph idx="1" type="body"/>
          </p:nvPr>
        </p:nvSpPr>
        <p:spPr>
          <a:xfrm>
            <a:off x="3266075" y="897175"/>
            <a:ext cx="5401800" cy="3833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chemeClr val="dk1"/>
                </a:solidFill>
              </a:rPr>
              <a:t>Bottlenecks</a:t>
            </a:r>
            <a:endParaRPr b="1">
              <a:solidFill>
                <a:schemeClr val="dk1"/>
              </a:solidFill>
            </a:endParaRPr>
          </a:p>
          <a:p>
            <a:pPr indent="-400050" lvl="0" marL="457200" rtl="0" algn="l">
              <a:spcBef>
                <a:spcPts val="1200"/>
              </a:spcBef>
              <a:spcAft>
                <a:spcPts val="0"/>
              </a:spcAft>
              <a:buNone/>
            </a:pPr>
            <a:r>
              <a:rPr lang="en">
                <a:solidFill>
                  <a:schemeClr val="dk1"/>
                </a:solidFill>
              </a:rPr>
              <a:t>	</a:t>
            </a:r>
            <a:r>
              <a:rPr i="1" lang="en">
                <a:solidFill>
                  <a:schemeClr val="dk1"/>
                </a:solidFill>
              </a:rPr>
              <a:t>Efficiency</a:t>
            </a:r>
            <a:r>
              <a:rPr lang="en">
                <a:solidFill>
                  <a:schemeClr val="dk1"/>
                </a:solidFill>
              </a:rPr>
              <a:t> degrades most with size of graph</a:t>
            </a:r>
            <a:endParaRPr>
              <a:solidFill>
                <a:schemeClr val="dk1"/>
              </a:solidFill>
            </a:endParaRPr>
          </a:p>
          <a:p>
            <a:pPr indent="-457200" lvl="0" marL="457200" rtl="0" algn="l">
              <a:spcBef>
                <a:spcPts val="1200"/>
              </a:spcBef>
              <a:spcAft>
                <a:spcPts val="0"/>
              </a:spcAft>
              <a:buNone/>
            </a:pPr>
            <a:r>
              <a:rPr lang="en">
                <a:solidFill>
                  <a:schemeClr val="dk1"/>
                </a:solidFill>
              </a:rPr>
              <a:t>	</a:t>
            </a:r>
            <a:r>
              <a:rPr i="1" lang="en">
                <a:solidFill>
                  <a:schemeClr val="dk1"/>
                </a:solidFill>
              </a:rPr>
              <a:t>Effectiveness</a:t>
            </a:r>
            <a:r>
              <a:rPr lang="en">
                <a:solidFill>
                  <a:schemeClr val="dk1"/>
                </a:solidFill>
              </a:rPr>
              <a:t> degrades most with fuzziness of communities</a:t>
            </a:r>
            <a:endParaRPr b="1">
              <a:solidFill>
                <a:schemeClr val="dk1"/>
              </a:solidFill>
            </a:endParaRPr>
          </a:p>
          <a:p>
            <a:pPr indent="0" lvl="0" marL="0" rtl="0" algn="l">
              <a:spcBef>
                <a:spcPts val="1200"/>
              </a:spcBef>
              <a:spcAft>
                <a:spcPts val="0"/>
              </a:spcAft>
              <a:buNone/>
            </a:pPr>
            <a:r>
              <a:rPr b="1" lang="en">
                <a:solidFill>
                  <a:schemeClr val="dk1"/>
                </a:solidFill>
              </a:rPr>
              <a:t>Friction Points</a:t>
            </a:r>
            <a:endParaRPr b="1">
              <a:solidFill>
                <a:schemeClr val="dk1"/>
              </a:solidFill>
            </a:endParaRPr>
          </a:p>
          <a:p>
            <a:pPr indent="0" lvl="0" marL="0" rtl="0" algn="l">
              <a:spcBef>
                <a:spcPts val="1200"/>
              </a:spcBef>
              <a:spcAft>
                <a:spcPts val="0"/>
              </a:spcAft>
              <a:buNone/>
            </a:pPr>
            <a:r>
              <a:rPr b="1" lang="en">
                <a:solidFill>
                  <a:schemeClr val="dk1"/>
                </a:solidFill>
              </a:rPr>
              <a:t>	</a:t>
            </a:r>
            <a:r>
              <a:rPr lang="en">
                <a:solidFill>
                  <a:schemeClr val="dk1"/>
                </a:solidFill>
              </a:rPr>
              <a:t>When the number of segments is not known</a:t>
            </a:r>
            <a:endParaRPr>
              <a:solidFill>
                <a:schemeClr val="dk1"/>
              </a:solidFill>
            </a:endParaRPr>
          </a:p>
          <a:p>
            <a:pPr indent="0" lvl="0" marL="0" rtl="0" algn="l">
              <a:spcBef>
                <a:spcPts val="1200"/>
              </a:spcBef>
              <a:spcAft>
                <a:spcPts val="0"/>
              </a:spcAft>
              <a:buNone/>
            </a:pPr>
            <a:r>
              <a:rPr lang="en">
                <a:solidFill>
                  <a:schemeClr val="dk1"/>
                </a:solidFill>
              </a:rPr>
              <a:t>	When a vertex can belong to many segments</a:t>
            </a:r>
            <a:endParaRPr>
              <a:solidFill>
                <a:schemeClr val="dk1"/>
              </a:solidFill>
            </a:endParaRPr>
          </a:p>
          <a:p>
            <a:pPr indent="0" lvl="0" marL="0" rtl="0" algn="l">
              <a:spcBef>
                <a:spcPts val="1200"/>
              </a:spcBef>
              <a:spcAft>
                <a:spcPts val="0"/>
              </a:spcAft>
              <a:buNone/>
            </a:pPr>
            <a:r>
              <a:rPr lang="en">
                <a:solidFill>
                  <a:schemeClr val="dk1"/>
                </a:solidFill>
              </a:rPr>
              <a:t>	When graphs are dynamic</a:t>
            </a:r>
            <a:endParaRPr b="1">
              <a:solidFill>
                <a:schemeClr val="dk1"/>
              </a:solidFill>
            </a:endParaRPr>
          </a:p>
          <a:p>
            <a:pPr indent="0" lvl="0" marL="0" rtl="0" algn="l">
              <a:spcBef>
                <a:spcPts val="1200"/>
              </a:spcBef>
              <a:spcAft>
                <a:spcPts val="0"/>
              </a:spcAft>
              <a:buNone/>
            </a:pPr>
            <a:r>
              <a:rPr b="1" lang="en">
                <a:solidFill>
                  <a:schemeClr val="dk1"/>
                </a:solidFill>
              </a:rPr>
              <a:t>Curiosities and Opportunities</a:t>
            </a:r>
            <a:endParaRPr b="1">
              <a:solidFill>
                <a:schemeClr val="dk1"/>
              </a:solidFill>
            </a:endParaRPr>
          </a:p>
          <a:p>
            <a:pPr indent="0" lvl="0" marL="0" rtl="0" algn="l">
              <a:spcBef>
                <a:spcPts val="1200"/>
              </a:spcBef>
              <a:spcAft>
                <a:spcPts val="1200"/>
              </a:spcAft>
              <a:buNone/>
            </a:pPr>
            <a:r>
              <a:rPr b="1" lang="en">
                <a:solidFill>
                  <a:schemeClr val="dk1"/>
                </a:solidFill>
              </a:rPr>
              <a:t>	</a:t>
            </a:r>
            <a:r>
              <a:rPr lang="en">
                <a:solidFill>
                  <a:schemeClr val="dk1"/>
                </a:solidFill>
              </a:rPr>
              <a:t>Use of incremental and approximate approaches</a:t>
            </a:r>
            <a:endParaRPr>
              <a:solidFill>
                <a:schemeClr val="dk1"/>
              </a:solidFill>
            </a:endParaRPr>
          </a:p>
        </p:txBody>
      </p:sp>
      <p:pic>
        <p:nvPicPr>
          <p:cNvPr id="444" name="Google Shape;444;p40"/>
          <p:cNvPicPr preferRelativeResize="0"/>
          <p:nvPr/>
        </p:nvPicPr>
        <p:blipFill>
          <a:blip r:embed="rId3">
            <a:alphaModFix/>
          </a:blip>
          <a:stretch>
            <a:fillRect/>
          </a:stretch>
        </p:blipFill>
        <p:spPr>
          <a:xfrm>
            <a:off x="151250" y="735253"/>
            <a:ext cx="2882300" cy="3659271"/>
          </a:xfrm>
          <a:prstGeom prst="rect">
            <a:avLst/>
          </a:prstGeom>
          <a:noFill/>
          <a:ln>
            <a:noFill/>
          </a:ln>
        </p:spPr>
      </p:pic>
      <p:sp>
        <p:nvSpPr>
          <p:cNvPr id="445" name="Google Shape;445;p40"/>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4: Conduct Exploratory Study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1"/>
          <p:cNvSpPr txBox="1"/>
          <p:nvPr>
            <p:ph idx="1" type="body"/>
          </p:nvPr>
        </p:nvSpPr>
        <p:spPr>
          <a:xfrm>
            <a:off x="3867150" y="1062025"/>
            <a:ext cx="4965300" cy="36591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200">
                <a:solidFill>
                  <a:schemeClr val="dk1"/>
                </a:solidFill>
              </a:rPr>
              <a:t>GPU and other Graph Hardware Accelerator (GHA) hardware configurations will have a longer ETL time relative to the same input data and implementation on the baseline system.</a:t>
            </a:r>
            <a:endParaRPr sz="1100">
              <a:solidFill>
                <a:schemeClr val="dk1"/>
              </a:solidFill>
            </a:endParaRPr>
          </a:p>
          <a:p>
            <a:pPr indent="0" lvl="0" marL="0" rtl="0" algn="l">
              <a:spcBef>
                <a:spcPts val="1200"/>
              </a:spcBef>
              <a:spcAft>
                <a:spcPts val="0"/>
              </a:spcAft>
              <a:buNone/>
            </a:pP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200">
                <a:solidFill>
                  <a:schemeClr val="dk1"/>
                </a:solidFill>
              </a:rPr>
              <a:t>GPU will have longer ETL time for scale-free input graphs than for mesh input graphs of the same size.</a:t>
            </a: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200">
                <a:solidFill>
                  <a:schemeClr val="dk1"/>
                </a:solidFill>
              </a:rPr>
              <a:t>The effectiveness of each workload is independent of the hardware configuration used.</a:t>
            </a: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200">
                <a:solidFill>
                  <a:schemeClr val="dk1"/>
                </a:solidFill>
              </a:rPr>
              <a:t>The BL of single-shot approaches will be equal to their ETL plus Ex Time for all inputs.</a:t>
            </a:r>
            <a:r>
              <a:rPr lang="en" sz="1100">
                <a:solidFill>
                  <a:schemeClr val="dk1"/>
                </a:solidFill>
              </a:rPr>
              <a:t>			</a:t>
            </a:r>
            <a:endParaRPr sz="1100">
              <a:solidFill>
                <a:schemeClr val="dk1"/>
              </a:solidFill>
            </a:endParaRPr>
          </a:p>
          <a:p>
            <a:pPr indent="0" lvl="0" marL="0" rtl="0" algn="l">
              <a:spcBef>
                <a:spcPts val="1200"/>
              </a:spcBef>
              <a:spcAft>
                <a:spcPts val="1200"/>
              </a:spcAft>
              <a:buNone/>
            </a:pPr>
            <a:r>
              <a:rPr lang="en" sz="1100">
                <a:solidFill>
                  <a:schemeClr val="dk1"/>
                </a:solidFill>
              </a:rPr>
              <a:t>The effectiveness of an iterative or incremental implementation will improve monotonically over time as it converges to an optimal state.</a:t>
            </a:r>
            <a:endParaRPr sz="1100">
              <a:solidFill>
                <a:schemeClr val="dk1"/>
              </a:solidFill>
            </a:endParaRPr>
          </a:p>
        </p:txBody>
      </p:sp>
      <p:pic>
        <p:nvPicPr>
          <p:cNvPr id="451" name="Google Shape;451;p41"/>
          <p:cNvPicPr preferRelativeResize="0"/>
          <p:nvPr/>
        </p:nvPicPr>
        <p:blipFill>
          <a:blip r:embed="rId3">
            <a:alphaModFix/>
          </a:blip>
          <a:stretch>
            <a:fillRect/>
          </a:stretch>
        </p:blipFill>
        <p:spPr>
          <a:xfrm>
            <a:off x="151250" y="735263"/>
            <a:ext cx="2882300" cy="3659262"/>
          </a:xfrm>
          <a:prstGeom prst="rect">
            <a:avLst/>
          </a:prstGeom>
          <a:noFill/>
          <a:ln>
            <a:noFill/>
          </a:ln>
        </p:spPr>
      </p:pic>
      <p:sp>
        <p:nvSpPr>
          <p:cNvPr id="452" name="Google Shape;452;p41"/>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5: Develop Hypotheses</a:t>
            </a:r>
            <a:endParaRPr/>
          </a:p>
        </p:txBody>
      </p:sp>
      <p:sp>
        <p:nvSpPr>
          <p:cNvPr id="453" name="Google Shape;453;p41"/>
          <p:cNvSpPr/>
          <p:nvPr/>
        </p:nvSpPr>
        <p:spPr>
          <a:xfrm>
            <a:off x="3409950" y="1095375"/>
            <a:ext cx="286200" cy="390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41"/>
          <p:cNvSpPr/>
          <p:nvPr/>
        </p:nvSpPr>
        <p:spPr>
          <a:xfrm>
            <a:off x="3409950" y="2028750"/>
            <a:ext cx="286200" cy="390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41"/>
          <p:cNvSpPr/>
          <p:nvPr/>
        </p:nvSpPr>
        <p:spPr>
          <a:xfrm>
            <a:off x="3409950" y="2809875"/>
            <a:ext cx="286200" cy="390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41"/>
          <p:cNvSpPr/>
          <p:nvPr/>
        </p:nvSpPr>
        <p:spPr>
          <a:xfrm>
            <a:off x="3409950" y="4330525"/>
            <a:ext cx="286200" cy="390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41"/>
          <p:cNvSpPr/>
          <p:nvPr/>
        </p:nvSpPr>
        <p:spPr>
          <a:xfrm>
            <a:off x="3357750" y="3736750"/>
            <a:ext cx="390600" cy="390600"/>
          </a:xfrm>
          <a:prstGeom prst="mathEqual">
            <a:avLst>
              <a:gd fmla="val 11964" name="adj1"/>
              <a:gd fmla="val 1176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42"/>
          <p:cNvPicPr preferRelativeResize="0"/>
          <p:nvPr/>
        </p:nvPicPr>
        <p:blipFill>
          <a:blip r:embed="rId3">
            <a:alphaModFix/>
          </a:blip>
          <a:stretch>
            <a:fillRect/>
          </a:stretch>
        </p:blipFill>
        <p:spPr>
          <a:xfrm>
            <a:off x="151250" y="735425"/>
            <a:ext cx="3659100" cy="3659100"/>
          </a:xfrm>
          <a:prstGeom prst="rect">
            <a:avLst/>
          </a:prstGeom>
          <a:noFill/>
          <a:ln>
            <a:noFill/>
          </a:ln>
        </p:spPr>
      </p:pic>
      <p:pic>
        <p:nvPicPr>
          <p:cNvPr id="463" name="Google Shape;463;p42"/>
          <p:cNvPicPr preferRelativeResize="0"/>
          <p:nvPr/>
        </p:nvPicPr>
        <p:blipFill>
          <a:blip r:embed="rId4">
            <a:alphaModFix/>
          </a:blip>
          <a:stretch>
            <a:fillRect/>
          </a:stretch>
        </p:blipFill>
        <p:spPr>
          <a:xfrm>
            <a:off x="3929825" y="942050"/>
            <a:ext cx="3944905" cy="3452475"/>
          </a:xfrm>
          <a:prstGeom prst="rect">
            <a:avLst/>
          </a:prstGeom>
          <a:noFill/>
          <a:ln>
            <a:noFill/>
          </a:ln>
        </p:spPr>
      </p:pic>
      <p:sp>
        <p:nvSpPr>
          <p:cNvPr id="464" name="Google Shape;464;p42"/>
          <p:cNvSpPr txBox="1"/>
          <p:nvPr>
            <p:ph type="title"/>
          </p:nvPr>
        </p:nvSpPr>
        <p:spPr>
          <a:xfrm>
            <a:off x="3208425" y="445025"/>
            <a:ext cx="562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6: Construct Apparatus</a:t>
            </a:r>
            <a:endParaRPr/>
          </a:p>
        </p:txBody>
      </p:sp>
      <p:sp>
        <p:nvSpPr>
          <p:cNvPr id="465" name="Google Shape;465;p42"/>
          <p:cNvSpPr txBox="1"/>
          <p:nvPr/>
        </p:nvSpPr>
        <p:spPr>
          <a:xfrm>
            <a:off x="3208425" y="4409075"/>
            <a:ext cx="5726100" cy="7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 apparatus is a system and </a:t>
            </a:r>
            <a:r>
              <a:rPr lang="en" sz="1600">
                <a:solidFill>
                  <a:schemeClr val="dk1"/>
                </a:solidFill>
              </a:rPr>
              <a:t>approach-</a:t>
            </a:r>
            <a:r>
              <a:rPr lang="en" sz="1600">
                <a:solidFill>
                  <a:schemeClr val="dk1"/>
                </a:solidFill>
              </a:rPr>
              <a:t>agnostic  Input/Output model that measures effectiveness vs efficiency.</a:t>
            </a:r>
            <a:endParaRPr sz="16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graphicFrame>
        <p:nvGraphicFramePr>
          <p:cNvPr id="470" name="Google Shape;470;p43"/>
          <p:cNvGraphicFramePr/>
          <p:nvPr/>
        </p:nvGraphicFramePr>
        <p:xfrm>
          <a:off x="2413663" y="902463"/>
          <a:ext cx="3000000" cy="3000000"/>
        </p:xfrm>
        <a:graphic>
          <a:graphicData uri="http://schemas.openxmlformats.org/drawingml/2006/table">
            <a:tbl>
              <a:tblPr>
                <a:noFill/>
                <a:tableStyleId>{FFABC391-25EB-4CD7-9F27-D75C4C5173BC}</a:tableStyleId>
              </a:tblPr>
              <a:tblGrid>
                <a:gridCol w="382850"/>
                <a:gridCol w="614975"/>
                <a:gridCol w="1078925"/>
                <a:gridCol w="1078925"/>
                <a:gridCol w="1078925"/>
                <a:gridCol w="1078925"/>
                <a:gridCol w="1078925"/>
              </a:tblGrid>
              <a:tr h="1132875">
                <a:tc rowSpan="3">
                  <a:txBody>
                    <a:bodyPr/>
                    <a:lstStyle/>
                    <a:p>
                      <a:pPr indent="0" lvl="0" marL="0" rtl="0" algn="ctr">
                        <a:lnSpc>
                          <a:spcPct val="115000"/>
                        </a:lnSpc>
                        <a:spcBef>
                          <a:spcPts val="0"/>
                        </a:spcBef>
                        <a:spcAft>
                          <a:spcPts val="0"/>
                        </a:spcAft>
                        <a:buNone/>
                      </a:pPr>
                      <a:r>
                        <a:t/>
                      </a:r>
                      <a:endParaRPr b="1" sz="1000"/>
                    </a:p>
                  </a:txBody>
                  <a:tcPr marT="19050" marB="19050" marR="28575" marL="28575" anchor="ctr"/>
                </a:tc>
                <a:tc>
                  <a:txBody>
                    <a:bodyPr/>
                    <a:lstStyle/>
                    <a:p>
                      <a:pPr indent="0" lvl="0" marL="0" rtl="0" algn="ctr">
                        <a:lnSpc>
                          <a:spcPct val="115000"/>
                        </a:lnSpc>
                        <a:spcBef>
                          <a:spcPts val="0"/>
                        </a:spcBef>
                        <a:spcAft>
                          <a:spcPts val="0"/>
                        </a:spcAft>
                        <a:buNone/>
                      </a:pPr>
                      <a:r>
                        <a:rPr lang="en" sz="1000"/>
                        <a:t>Mesh</a:t>
                      </a:r>
                      <a:endParaRPr sz="1000"/>
                    </a:p>
                    <a:p>
                      <a:pPr indent="0" lvl="0" marL="0" rtl="0" algn="ctr">
                        <a:lnSpc>
                          <a:spcPct val="115000"/>
                        </a:lnSpc>
                        <a:spcBef>
                          <a:spcPts val="0"/>
                        </a:spcBef>
                        <a:spcAft>
                          <a:spcPts val="0"/>
                        </a:spcAft>
                        <a:buNone/>
                      </a:pPr>
                      <a:r>
                        <a:rPr lang="en" sz="1000"/>
                        <a:t>(Fuzzy)</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solidFill>
                            <a:srgbClr val="ACC878"/>
                          </a:solidFill>
                        </a:rPr>
                        <a:t>3</a:t>
                      </a:r>
                      <a:endParaRPr sz="1000">
                        <a:solidFill>
                          <a:srgbClr val="ACC878"/>
                        </a:solidFill>
                      </a:endParaRPr>
                    </a:p>
                  </a:txBody>
                  <a:tcPr marT="19050" marB="19050" marR="28575" marL="28575" anchor="ctr">
                    <a:solidFill>
                      <a:srgbClr val="ABC878"/>
                    </a:solidFill>
                  </a:tcPr>
                </a:tc>
                <a:tc>
                  <a:txBody>
                    <a:bodyPr/>
                    <a:lstStyle/>
                    <a:p>
                      <a:pPr indent="0" lvl="0" marL="0" rtl="0" algn="ctr">
                        <a:lnSpc>
                          <a:spcPct val="115000"/>
                        </a:lnSpc>
                        <a:spcBef>
                          <a:spcPts val="0"/>
                        </a:spcBef>
                        <a:spcAft>
                          <a:spcPts val="0"/>
                        </a:spcAft>
                        <a:buNone/>
                      </a:pPr>
                      <a:r>
                        <a:rPr lang="en" sz="1000">
                          <a:solidFill>
                            <a:srgbClr val="FDCD67"/>
                          </a:solidFill>
                        </a:rPr>
                        <a:t>6</a:t>
                      </a:r>
                      <a:endParaRPr sz="1000">
                        <a:solidFill>
                          <a:srgbClr val="FDCD67"/>
                        </a:solidFill>
                      </a:endParaRPr>
                    </a:p>
                  </a:txBody>
                  <a:tcPr marT="19050" marB="19050" marR="28575" marL="28575" anchor="ctr">
                    <a:solidFill>
                      <a:srgbClr val="FDCD67"/>
                    </a:solidFill>
                  </a:tcPr>
                </a:tc>
                <a:tc>
                  <a:txBody>
                    <a:bodyPr/>
                    <a:lstStyle/>
                    <a:p>
                      <a:pPr indent="0" lvl="0" marL="0" rtl="0" algn="ctr">
                        <a:lnSpc>
                          <a:spcPct val="115000"/>
                        </a:lnSpc>
                        <a:spcBef>
                          <a:spcPts val="0"/>
                        </a:spcBef>
                        <a:spcAft>
                          <a:spcPts val="0"/>
                        </a:spcAft>
                        <a:buNone/>
                      </a:pPr>
                      <a:r>
                        <a:rPr lang="en" sz="1000">
                          <a:solidFill>
                            <a:srgbClr val="F6B36B"/>
                          </a:solidFill>
                        </a:rPr>
                        <a:t>9</a:t>
                      </a:r>
                      <a:endParaRPr sz="1000">
                        <a:solidFill>
                          <a:srgbClr val="F6B36B"/>
                        </a:solidFill>
                      </a:endParaRPr>
                    </a:p>
                  </a:txBody>
                  <a:tcPr marT="19050" marB="19050" marR="28575" marL="28575" anchor="ctr">
                    <a:solidFill>
                      <a:srgbClr val="F6B36B"/>
                    </a:solidFill>
                  </a:tcPr>
                </a:tc>
                <a:tc>
                  <a:txBody>
                    <a:bodyPr/>
                    <a:lstStyle/>
                    <a:p>
                      <a:pPr indent="0" lvl="0" marL="0" rtl="0" algn="ctr">
                        <a:lnSpc>
                          <a:spcPct val="115000"/>
                        </a:lnSpc>
                        <a:spcBef>
                          <a:spcPts val="0"/>
                        </a:spcBef>
                        <a:spcAft>
                          <a:spcPts val="0"/>
                        </a:spcAft>
                        <a:buNone/>
                      </a:pPr>
                      <a:r>
                        <a:rPr lang="en" sz="1000">
                          <a:solidFill>
                            <a:srgbClr val="F09E6E"/>
                          </a:solidFill>
                        </a:rPr>
                        <a:t>12</a:t>
                      </a:r>
                      <a:endParaRPr sz="1000">
                        <a:solidFill>
                          <a:srgbClr val="F09E6E"/>
                        </a:solidFill>
                      </a:endParaRPr>
                    </a:p>
                  </a:txBody>
                  <a:tcPr marT="19050" marB="19050" marR="28575" marL="28575" anchor="ctr">
                    <a:solidFill>
                      <a:srgbClr val="EE986F"/>
                    </a:solidFill>
                  </a:tcPr>
                </a:tc>
                <a:tc>
                  <a:txBody>
                    <a:bodyPr/>
                    <a:lstStyle/>
                    <a:p>
                      <a:pPr indent="0" lvl="0" marL="0" rtl="0" algn="ctr">
                        <a:lnSpc>
                          <a:spcPct val="115000"/>
                        </a:lnSpc>
                        <a:spcBef>
                          <a:spcPts val="0"/>
                        </a:spcBef>
                        <a:spcAft>
                          <a:spcPts val="0"/>
                        </a:spcAft>
                        <a:buNone/>
                      </a:pPr>
                      <a:r>
                        <a:rPr lang="en" sz="1000">
                          <a:solidFill>
                            <a:srgbClr val="E67C73"/>
                          </a:solidFill>
                        </a:rPr>
                        <a:t>15</a:t>
                      </a:r>
                      <a:endParaRPr sz="1000">
                        <a:solidFill>
                          <a:srgbClr val="E67C73"/>
                        </a:solidFill>
                      </a:endParaRPr>
                    </a:p>
                  </a:txBody>
                  <a:tcPr marT="19050" marB="19050" marR="28575" marL="28575" anchor="ctr">
                    <a:solidFill>
                      <a:srgbClr val="E67C73"/>
                    </a:solidFill>
                  </a:tcPr>
                </a:tc>
              </a:tr>
              <a:tr h="1132875">
                <a:tc vMerge="1"/>
                <a:tc>
                  <a:txBody>
                    <a:bodyPr/>
                    <a:lstStyle/>
                    <a:p>
                      <a:pPr indent="0" lvl="0" marL="0" rtl="0" algn="ctr">
                        <a:lnSpc>
                          <a:spcPct val="115000"/>
                        </a:lnSpc>
                        <a:spcBef>
                          <a:spcPts val="0"/>
                        </a:spcBef>
                        <a:spcAft>
                          <a:spcPts val="0"/>
                        </a:spcAft>
                        <a:buNone/>
                      </a:pPr>
                      <a:r>
                        <a:rPr lang="en" sz="1000"/>
                        <a:t>Random</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solidFill>
                            <a:srgbClr val="81C181"/>
                          </a:solidFill>
                        </a:rPr>
                        <a:t>2</a:t>
                      </a:r>
                      <a:endParaRPr sz="1000">
                        <a:solidFill>
                          <a:srgbClr val="81C181"/>
                        </a:solidFill>
                      </a:endParaRPr>
                    </a:p>
                  </a:txBody>
                  <a:tcPr marT="19050" marB="19050" marR="28575" marL="28575" anchor="ctr">
                    <a:solidFill>
                      <a:srgbClr val="81C181"/>
                    </a:solidFill>
                  </a:tcPr>
                </a:tc>
                <a:tc>
                  <a:txBody>
                    <a:bodyPr/>
                    <a:lstStyle/>
                    <a:p>
                      <a:pPr indent="0" lvl="0" marL="0" rtl="0" algn="ctr">
                        <a:lnSpc>
                          <a:spcPct val="115000"/>
                        </a:lnSpc>
                        <a:spcBef>
                          <a:spcPts val="0"/>
                        </a:spcBef>
                        <a:spcAft>
                          <a:spcPts val="0"/>
                        </a:spcAft>
                        <a:buNone/>
                      </a:pPr>
                      <a:r>
                        <a:rPr lang="en" sz="1000">
                          <a:solidFill>
                            <a:srgbClr val="D5CF6F"/>
                          </a:solidFill>
                        </a:rPr>
                        <a:t>4</a:t>
                      </a:r>
                      <a:endParaRPr sz="1000">
                        <a:solidFill>
                          <a:srgbClr val="D5CF6F"/>
                        </a:solidFill>
                      </a:endParaRPr>
                    </a:p>
                  </a:txBody>
                  <a:tcPr marT="19050" marB="19050" marR="28575" marL="28575" anchor="ctr">
                    <a:solidFill>
                      <a:srgbClr val="D5CF6F"/>
                    </a:solidFill>
                  </a:tcPr>
                </a:tc>
                <a:tc>
                  <a:txBody>
                    <a:bodyPr/>
                    <a:lstStyle/>
                    <a:p>
                      <a:pPr indent="0" lvl="0" marL="0" rtl="0" algn="ctr">
                        <a:lnSpc>
                          <a:spcPct val="115000"/>
                        </a:lnSpc>
                        <a:spcBef>
                          <a:spcPts val="0"/>
                        </a:spcBef>
                        <a:spcAft>
                          <a:spcPts val="0"/>
                        </a:spcAft>
                        <a:buNone/>
                      </a:pPr>
                      <a:r>
                        <a:rPr lang="en" sz="1000">
                          <a:solidFill>
                            <a:srgbClr val="FDCD67"/>
                          </a:solidFill>
                        </a:rPr>
                        <a:t>6</a:t>
                      </a:r>
                      <a:endParaRPr sz="1000">
                        <a:solidFill>
                          <a:srgbClr val="FDCD67"/>
                        </a:solidFill>
                      </a:endParaRPr>
                    </a:p>
                  </a:txBody>
                  <a:tcPr marT="19050" marB="19050" marR="28575" marL="28575" anchor="ctr">
                    <a:solidFill>
                      <a:srgbClr val="FDCD67"/>
                    </a:solidFill>
                  </a:tcPr>
                </a:tc>
                <a:tc>
                  <a:txBody>
                    <a:bodyPr/>
                    <a:lstStyle/>
                    <a:p>
                      <a:pPr indent="0" lvl="0" marL="0" rtl="0" algn="ctr">
                        <a:lnSpc>
                          <a:spcPct val="115000"/>
                        </a:lnSpc>
                        <a:spcBef>
                          <a:spcPts val="0"/>
                        </a:spcBef>
                        <a:spcAft>
                          <a:spcPts val="0"/>
                        </a:spcAft>
                        <a:buNone/>
                      </a:pPr>
                      <a:r>
                        <a:rPr lang="en" sz="1000">
                          <a:solidFill>
                            <a:srgbClr val="F9C06A"/>
                          </a:solidFill>
                        </a:rPr>
                        <a:t>8</a:t>
                      </a:r>
                      <a:endParaRPr sz="1000">
                        <a:solidFill>
                          <a:srgbClr val="F9C06A"/>
                        </a:solidFill>
                      </a:endParaRPr>
                    </a:p>
                  </a:txBody>
                  <a:tcPr marT="19050" marB="19050" marR="28575" marL="28575" anchor="ctr">
                    <a:solidFill>
                      <a:srgbClr val="F8BB69"/>
                    </a:solidFill>
                  </a:tcPr>
                </a:tc>
                <a:tc>
                  <a:txBody>
                    <a:bodyPr/>
                    <a:lstStyle/>
                    <a:p>
                      <a:pPr indent="0" lvl="0" marL="0" rtl="0" algn="ctr">
                        <a:lnSpc>
                          <a:spcPct val="115000"/>
                        </a:lnSpc>
                        <a:spcBef>
                          <a:spcPts val="0"/>
                        </a:spcBef>
                        <a:spcAft>
                          <a:spcPts val="0"/>
                        </a:spcAft>
                        <a:buNone/>
                      </a:pPr>
                      <a:r>
                        <a:rPr lang="en" sz="1000">
                          <a:solidFill>
                            <a:srgbClr val="F3A96C"/>
                          </a:solidFill>
                        </a:rPr>
                        <a:t>10</a:t>
                      </a:r>
                      <a:endParaRPr sz="1000">
                        <a:solidFill>
                          <a:srgbClr val="F3A96C"/>
                        </a:solidFill>
                      </a:endParaRPr>
                    </a:p>
                  </a:txBody>
                  <a:tcPr marT="19050" marB="19050" marR="28575" marL="28575" anchor="ctr">
                    <a:solidFill>
                      <a:srgbClr val="F3A96C"/>
                    </a:solidFill>
                  </a:tcPr>
                </a:tc>
              </a:tr>
              <a:tr h="1132875">
                <a:tc vMerge="1"/>
                <a:tc>
                  <a:txBody>
                    <a:bodyPr/>
                    <a:lstStyle/>
                    <a:p>
                      <a:pPr indent="0" lvl="0" marL="0" rtl="0" algn="ctr">
                        <a:lnSpc>
                          <a:spcPct val="115000"/>
                        </a:lnSpc>
                        <a:spcBef>
                          <a:spcPts val="0"/>
                        </a:spcBef>
                        <a:spcAft>
                          <a:spcPts val="0"/>
                        </a:spcAft>
                        <a:buNone/>
                      </a:pPr>
                      <a:r>
                        <a:rPr lang="en" sz="1000"/>
                        <a:t>Scale-</a:t>
                      </a:r>
                      <a:br>
                        <a:rPr lang="en" sz="1000"/>
                      </a:br>
                      <a:r>
                        <a:rPr lang="en" sz="1000"/>
                        <a:t>Free</a:t>
                      </a:r>
                      <a:endParaRPr sz="1000"/>
                    </a:p>
                    <a:p>
                      <a:pPr indent="0" lvl="0" marL="0" rtl="0" algn="ctr">
                        <a:lnSpc>
                          <a:spcPct val="115000"/>
                        </a:lnSpc>
                        <a:spcBef>
                          <a:spcPts val="0"/>
                        </a:spcBef>
                        <a:spcAft>
                          <a:spcPts val="0"/>
                        </a:spcAft>
                        <a:buNone/>
                      </a:pPr>
                      <a:r>
                        <a:rPr lang="en" sz="1000"/>
                        <a:t>(Cliquey)</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solidFill>
                            <a:srgbClr val="56BB8A"/>
                          </a:solidFill>
                        </a:rPr>
                        <a:t>1</a:t>
                      </a:r>
                      <a:endParaRPr sz="1000">
                        <a:solidFill>
                          <a:srgbClr val="56BB8A"/>
                        </a:solidFill>
                      </a:endParaRPr>
                    </a:p>
                  </a:txBody>
                  <a:tcPr marT="19050" marB="19050" marR="28575" marL="28575" anchor="ctr">
                    <a:solidFill>
                      <a:srgbClr val="57BB8A"/>
                    </a:solidFill>
                  </a:tcPr>
                </a:tc>
                <a:tc>
                  <a:txBody>
                    <a:bodyPr/>
                    <a:lstStyle/>
                    <a:p>
                      <a:pPr indent="0" lvl="0" marL="0" rtl="0" algn="ctr">
                        <a:lnSpc>
                          <a:spcPct val="115000"/>
                        </a:lnSpc>
                        <a:spcBef>
                          <a:spcPts val="0"/>
                        </a:spcBef>
                        <a:spcAft>
                          <a:spcPts val="0"/>
                        </a:spcAft>
                        <a:buNone/>
                      </a:pPr>
                      <a:r>
                        <a:rPr lang="en" sz="1000">
                          <a:solidFill>
                            <a:srgbClr val="81C181"/>
                          </a:solidFill>
                        </a:rPr>
                        <a:t>2</a:t>
                      </a:r>
                      <a:endParaRPr sz="1000">
                        <a:solidFill>
                          <a:srgbClr val="81C181"/>
                        </a:solidFill>
                      </a:endParaRPr>
                    </a:p>
                  </a:txBody>
                  <a:tcPr marT="19050" marB="19050" marR="28575" marL="28575" anchor="ctr">
                    <a:solidFill>
                      <a:srgbClr val="81C181"/>
                    </a:solidFill>
                  </a:tcPr>
                </a:tc>
                <a:tc>
                  <a:txBody>
                    <a:bodyPr/>
                    <a:lstStyle/>
                    <a:p>
                      <a:pPr indent="0" lvl="0" marL="0" rtl="0" algn="ctr">
                        <a:lnSpc>
                          <a:spcPct val="115000"/>
                        </a:lnSpc>
                        <a:spcBef>
                          <a:spcPts val="0"/>
                        </a:spcBef>
                        <a:spcAft>
                          <a:spcPts val="0"/>
                        </a:spcAft>
                        <a:buNone/>
                      </a:pPr>
                      <a:r>
                        <a:rPr lang="en" sz="1000">
                          <a:solidFill>
                            <a:srgbClr val="ACC878"/>
                          </a:solidFill>
                        </a:rPr>
                        <a:t>3</a:t>
                      </a:r>
                      <a:endParaRPr sz="1000">
                        <a:solidFill>
                          <a:srgbClr val="ACC878"/>
                        </a:solidFill>
                      </a:endParaRPr>
                    </a:p>
                  </a:txBody>
                  <a:tcPr marT="19050" marB="19050" marR="28575" marL="28575" anchor="ctr">
                    <a:solidFill>
                      <a:srgbClr val="ABC878"/>
                    </a:solidFill>
                  </a:tcPr>
                </a:tc>
                <a:tc>
                  <a:txBody>
                    <a:bodyPr/>
                    <a:lstStyle/>
                    <a:p>
                      <a:pPr indent="0" lvl="0" marL="0" rtl="0" algn="ctr">
                        <a:lnSpc>
                          <a:spcPct val="115000"/>
                        </a:lnSpc>
                        <a:spcBef>
                          <a:spcPts val="0"/>
                        </a:spcBef>
                        <a:spcAft>
                          <a:spcPts val="0"/>
                        </a:spcAft>
                        <a:buNone/>
                      </a:pPr>
                      <a:r>
                        <a:rPr lang="en" sz="1000">
                          <a:solidFill>
                            <a:srgbClr val="D5CF6F"/>
                          </a:solidFill>
                        </a:rPr>
                        <a:t>4</a:t>
                      </a:r>
                      <a:endParaRPr sz="1000">
                        <a:solidFill>
                          <a:srgbClr val="D5CF6F"/>
                        </a:solidFill>
                      </a:endParaRPr>
                    </a:p>
                  </a:txBody>
                  <a:tcPr marT="19050" marB="19050" marR="28575" marL="28575" anchor="ctr">
                    <a:solidFill>
                      <a:srgbClr val="D5CF6F"/>
                    </a:solidFill>
                  </a:tcPr>
                </a:tc>
                <a:tc>
                  <a:txBody>
                    <a:bodyPr/>
                    <a:lstStyle/>
                    <a:p>
                      <a:pPr indent="0" lvl="0" marL="0" rtl="0" algn="ctr">
                        <a:lnSpc>
                          <a:spcPct val="115000"/>
                        </a:lnSpc>
                        <a:spcBef>
                          <a:spcPts val="0"/>
                        </a:spcBef>
                        <a:spcAft>
                          <a:spcPts val="0"/>
                        </a:spcAft>
                        <a:buNone/>
                      </a:pPr>
                      <a:r>
                        <a:rPr lang="en" sz="1000">
                          <a:solidFill>
                            <a:srgbClr val="FED766"/>
                          </a:solidFill>
                        </a:rPr>
                        <a:t>5</a:t>
                      </a:r>
                      <a:endParaRPr sz="1000">
                        <a:solidFill>
                          <a:srgbClr val="FED766"/>
                        </a:solidFill>
                      </a:endParaRPr>
                    </a:p>
                  </a:txBody>
                  <a:tcPr marT="19050" marB="19050" marR="28575" marL="28575" anchor="ctr">
                    <a:solidFill>
                      <a:srgbClr val="FFD666"/>
                    </a:solidFill>
                  </a:tcPr>
                </a:tc>
              </a:tr>
              <a:tr h="284825">
                <a:tc>
                  <a:txBody>
                    <a:bodyPr/>
                    <a:lstStyle/>
                    <a:p>
                      <a:pPr indent="0" lvl="0" marL="0" rtl="0" algn="l">
                        <a:spcBef>
                          <a:spcPts val="0"/>
                        </a:spcBef>
                        <a:spcAft>
                          <a:spcPts val="0"/>
                        </a:spcAft>
                        <a:buNone/>
                      </a:pPr>
                      <a:r>
                        <a:t/>
                      </a:r>
                      <a:endParaRPr/>
                    </a:p>
                  </a:txBody>
                  <a:tcPr marT="19050" marB="19050" marR="28575" marL="28575" anchor="b"/>
                </a:tc>
                <a:tc>
                  <a:txBody>
                    <a:bodyPr/>
                    <a:lstStyle/>
                    <a:p>
                      <a:pPr indent="0" lvl="0" marL="0" rtl="0" algn="l">
                        <a:spcBef>
                          <a:spcPts val="0"/>
                        </a:spcBef>
                        <a:spcAft>
                          <a:spcPts val="0"/>
                        </a:spcAft>
                        <a:buNone/>
                      </a:pPr>
                      <a:r>
                        <a:t/>
                      </a:r>
                      <a:endParaRPr/>
                    </a:p>
                  </a:txBody>
                  <a:tcPr marT="19050" marB="19050" marR="28575" marL="28575" anchor="b"/>
                </a:tc>
                <a:tc>
                  <a:txBody>
                    <a:bodyPr/>
                    <a:lstStyle/>
                    <a:p>
                      <a:pPr indent="0" lvl="0" marL="0" rtl="0" algn="ctr">
                        <a:lnSpc>
                          <a:spcPct val="115000"/>
                        </a:lnSpc>
                        <a:spcBef>
                          <a:spcPts val="0"/>
                        </a:spcBef>
                        <a:spcAft>
                          <a:spcPts val="0"/>
                        </a:spcAft>
                        <a:buNone/>
                      </a:pPr>
                      <a:r>
                        <a:rPr lang="en" sz="1000"/>
                        <a:t>Tiny (&lt;60Mb)</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t>Small (&lt;16Gb)</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t>Medium (&lt;1Tb)</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t>Large (&lt;5Tb)</a:t>
                      </a:r>
                      <a:endParaRPr sz="1000"/>
                    </a:p>
                  </a:txBody>
                  <a:tcPr marT="19050" marB="19050" marR="28575" marL="28575" anchor="ctr"/>
                </a:tc>
                <a:tc>
                  <a:txBody>
                    <a:bodyPr/>
                    <a:lstStyle/>
                    <a:p>
                      <a:pPr indent="0" lvl="0" marL="0" rtl="0" algn="ctr">
                        <a:lnSpc>
                          <a:spcPct val="115000"/>
                        </a:lnSpc>
                        <a:spcBef>
                          <a:spcPts val="0"/>
                        </a:spcBef>
                        <a:spcAft>
                          <a:spcPts val="0"/>
                        </a:spcAft>
                        <a:buNone/>
                      </a:pPr>
                      <a:r>
                        <a:rPr lang="en" sz="1000"/>
                        <a:t>Huge (&gt;5Tb)</a:t>
                      </a:r>
                      <a:endParaRPr sz="1000"/>
                    </a:p>
                  </a:txBody>
                  <a:tcPr marT="19050" marB="19050" marR="28575" marL="28575" anchor="ctr"/>
                </a:tc>
              </a:tr>
              <a:tr h="284825">
                <a:tc>
                  <a:txBody>
                    <a:bodyPr/>
                    <a:lstStyle/>
                    <a:p>
                      <a:pPr indent="0" lvl="0" marL="0" rtl="0" algn="l">
                        <a:spcBef>
                          <a:spcPts val="0"/>
                        </a:spcBef>
                        <a:spcAft>
                          <a:spcPts val="0"/>
                        </a:spcAft>
                        <a:buNone/>
                      </a:pPr>
                      <a:r>
                        <a:t/>
                      </a:r>
                      <a:endParaRPr/>
                    </a:p>
                  </a:txBody>
                  <a:tcPr marT="19050" marB="19050" marR="28575" marL="28575" anchor="b"/>
                </a:tc>
                <a:tc>
                  <a:txBody>
                    <a:bodyPr/>
                    <a:lstStyle/>
                    <a:p>
                      <a:pPr indent="0" lvl="0" marL="0" rtl="0" algn="l">
                        <a:spcBef>
                          <a:spcPts val="0"/>
                        </a:spcBef>
                        <a:spcAft>
                          <a:spcPts val="0"/>
                        </a:spcAft>
                        <a:buNone/>
                      </a:pPr>
                      <a:r>
                        <a:t/>
                      </a:r>
                      <a:endParaRPr/>
                    </a:p>
                  </a:txBody>
                  <a:tcPr marT="19050" marB="19050" marR="28575" marL="28575" anchor="b"/>
                </a:tc>
                <a:tc gridSpan="5">
                  <a:txBody>
                    <a:bodyPr/>
                    <a:lstStyle/>
                    <a:p>
                      <a:pPr indent="0" lvl="0" marL="0" rtl="0" algn="ctr">
                        <a:lnSpc>
                          <a:spcPct val="115000"/>
                        </a:lnSpc>
                        <a:spcBef>
                          <a:spcPts val="0"/>
                        </a:spcBef>
                        <a:spcAft>
                          <a:spcPts val="0"/>
                        </a:spcAft>
                        <a:buNone/>
                      </a:pPr>
                      <a:r>
                        <a:rPr b="1" lang="en" sz="1000"/>
                        <a:t>&gt;&gt;&gt; Efficiency Difficulty &gt;&gt;&gt;</a:t>
                      </a:r>
                      <a:endParaRPr b="1" sz="1000"/>
                    </a:p>
                  </a:txBody>
                  <a:tcPr marT="19050" marB="19050" marR="28575" marL="28575" anchor="ctr"/>
                </a:tc>
                <a:tc hMerge="1"/>
                <a:tc hMerge="1"/>
                <a:tc hMerge="1"/>
                <a:tc hMerge="1"/>
              </a:tr>
            </a:tbl>
          </a:graphicData>
        </a:graphic>
      </p:graphicFrame>
      <p:sp>
        <p:nvSpPr>
          <p:cNvPr id="471" name="Google Shape;471;p43"/>
          <p:cNvSpPr txBox="1"/>
          <p:nvPr/>
        </p:nvSpPr>
        <p:spPr>
          <a:xfrm rot="-5400000">
            <a:off x="438325" y="2556700"/>
            <a:ext cx="42894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000">
                <a:solidFill>
                  <a:schemeClr val="dk1"/>
                </a:solidFill>
              </a:rPr>
              <a:t>&gt;&gt;&gt; Effectiveness Difficulty &gt;&gt;&gt;</a:t>
            </a:r>
            <a:endParaRPr sz="1800">
              <a:solidFill>
                <a:schemeClr val="dk2"/>
              </a:solidFill>
            </a:endParaRPr>
          </a:p>
        </p:txBody>
      </p:sp>
      <p:sp>
        <p:nvSpPr>
          <p:cNvPr id="472" name="Google Shape;472;p43"/>
          <p:cNvSpPr txBox="1"/>
          <p:nvPr/>
        </p:nvSpPr>
        <p:spPr>
          <a:xfrm>
            <a:off x="3286026" y="3330325"/>
            <a:ext cx="1356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Karate-Club</a:t>
            </a:r>
            <a:endParaRPr b="1" sz="1000">
              <a:solidFill>
                <a:schemeClr val="dk1"/>
              </a:solidFill>
            </a:endParaRPr>
          </a:p>
          <a:p>
            <a:pPr indent="0" lvl="0" marL="0" rtl="0" algn="ctr">
              <a:spcBef>
                <a:spcPts val="0"/>
              </a:spcBef>
              <a:spcAft>
                <a:spcPts val="0"/>
              </a:spcAft>
              <a:buNone/>
            </a:pPr>
            <a:r>
              <a:rPr b="1" lang="en" sz="1000">
                <a:solidFill>
                  <a:schemeClr val="dk1"/>
                </a:solidFill>
              </a:rPr>
              <a:t>Cisco-Networks</a:t>
            </a:r>
            <a:endParaRPr b="1" sz="1000">
              <a:solidFill>
                <a:schemeClr val="dk1"/>
              </a:solidFill>
            </a:endParaRPr>
          </a:p>
          <a:p>
            <a:pPr indent="0" lvl="0" marL="0" rtl="0" algn="ctr">
              <a:spcBef>
                <a:spcPts val="0"/>
              </a:spcBef>
              <a:spcAft>
                <a:spcPts val="0"/>
              </a:spcAft>
              <a:buNone/>
            </a:pPr>
            <a:r>
              <a:rPr b="1" lang="en" sz="1000">
                <a:solidFill>
                  <a:schemeClr val="dk1"/>
                </a:solidFill>
              </a:rPr>
              <a:t>Email-EU-Core</a:t>
            </a:r>
            <a:endParaRPr b="1" sz="1000">
              <a:solidFill>
                <a:schemeClr val="dk1"/>
              </a:solidFill>
            </a:endParaRPr>
          </a:p>
          <a:p>
            <a:pPr indent="0" lvl="0" marL="0" rtl="0" algn="ctr">
              <a:spcBef>
                <a:spcPts val="0"/>
              </a:spcBef>
              <a:spcAft>
                <a:spcPts val="0"/>
              </a:spcAft>
              <a:buNone/>
            </a:pPr>
            <a:r>
              <a:rPr b="1" lang="en" sz="1000">
                <a:solidFill>
                  <a:schemeClr val="dk1"/>
                </a:solidFill>
              </a:rPr>
              <a:t>Wiki-Topcats</a:t>
            </a:r>
            <a:endParaRPr b="1" sz="1000">
              <a:solidFill>
                <a:schemeClr val="dk1"/>
              </a:solidFill>
            </a:endParaRPr>
          </a:p>
        </p:txBody>
      </p:sp>
      <p:sp>
        <p:nvSpPr>
          <p:cNvPr id="473" name="Google Shape;473;p43"/>
          <p:cNvSpPr txBox="1"/>
          <p:nvPr/>
        </p:nvSpPr>
        <p:spPr>
          <a:xfrm>
            <a:off x="4385213" y="3561175"/>
            <a:ext cx="1304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Orkut</a:t>
            </a:r>
            <a:endParaRPr b="1" sz="1000">
              <a:solidFill>
                <a:schemeClr val="dk1"/>
              </a:solidFill>
            </a:endParaRPr>
          </a:p>
        </p:txBody>
      </p:sp>
      <p:sp>
        <p:nvSpPr>
          <p:cNvPr id="474" name="Google Shape;474;p43"/>
          <p:cNvSpPr txBox="1"/>
          <p:nvPr/>
        </p:nvSpPr>
        <p:spPr>
          <a:xfrm>
            <a:off x="3286025" y="1225125"/>
            <a:ext cx="1356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OSM-M</a:t>
            </a:r>
            <a:endParaRPr b="1" sz="1000">
              <a:solidFill>
                <a:schemeClr val="dk1"/>
              </a:solidFill>
            </a:endParaRPr>
          </a:p>
          <a:p>
            <a:pPr indent="0" lvl="0" marL="0" rtl="0" algn="ctr">
              <a:spcBef>
                <a:spcPts val="0"/>
              </a:spcBef>
              <a:spcAft>
                <a:spcPts val="0"/>
              </a:spcAft>
              <a:buNone/>
            </a:pPr>
            <a:r>
              <a:rPr b="1" lang="en" sz="1000">
                <a:solidFill>
                  <a:schemeClr val="dk1"/>
                </a:solidFill>
              </a:rPr>
              <a:t>OSM-DC</a:t>
            </a:r>
            <a:endParaRPr b="1" sz="1000">
              <a:solidFill>
                <a:schemeClr val="dk1"/>
              </a:solidFill>
            </a:endParaRPr>
          </a:p>
        </p:txBody>
      </p:sp>
      <p:sp>
        <p:nvSpPr>
          <p:cNvPr id="475" name="Google Shape;475;p43"/>
          <p:cNvSpPr txBox="1"/>
          <p:nvPr/>
        </p:nvSpPr>
        <p:spPr>
          <a:xfrm>
            <a:off x="5445075" y="3561175"/>
            <a:ext cx="1356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Friendster</a:t>
            </a:r>
            <a:endParaRPr b="1" sz="1000">
              <a:solidFill>
                <a:schemeClr val="dk1"/>
              </a:solidFill>
            </a:endParaRPr>
          </a:p>
        </p:txBody>
      </p:sp>
      <p:sp>
        <p:nvSpPr>
          <p:cNvPr id="476" name="Google Shape;476;p43"/>
          <p:cNvSpPr txBox="1"/>
          <p:nvPr/>
        </p:nvSpPr>
        <p:spPr>
          <a:xfrm>
            <a:off x="4333025" y="1071225"/>
            <a:ext cx="1356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OSM-DE</a:t>
            </a:r>
            <a:endParaRPr b="1" sz="1000">
              <a:solidFill>
                <a:schemeClr val="dk1"/>
              </a:solidFill>
            </a:endParaRPr>
          </a:p>
          <a:p>
            <a:pPr indent="0" lvl="0" marL="0" rtl="0" algn="ctr">
              <a:spcBef>
                <a:spcPts val="0"/>
              </a:spcBef>
              <a:spcAft>
                <a:spcPts val="0"/>
              </a:spcAft>
              <a:buNone/>
            </a:pPr>
            <a:r>
              <a:rPr b="1" lang="en" sz="1000">
                <a:solidFill>
                  <a:schemeClr val="dk1"/>
                </a:solidFill>
              </a:rPr>
              <a:t>OSM-RM</a:t>
            </a:r>
            <a:endParaRPr b="1" sz="1000">
              <a:solidFill>
                <a:schemeClr val="dk1"/>
              </a:solidFill>
            </a:endParaRPr>
          </a:p>
          <a:p>
            <a:pPr indent="0" lvl="0" marL="0" rtl="0" algn="ctr">
              <a:spcBef>
                <a:spcPts val="0"/>
              </a:spcBef>
              <a:spcAft>
                <a:spcPts val="0"/>
              </a:spcAft>
              <a:buNone/>
            </a:pPr>
            <a:r>
              <a:rPr b="1" lang="en" sz="1000">
                <a:solidFill>
                  <a:schemeClr val="dk1"/>
                </a:solidFill>
              </a:rPr>
              <a:t>OSM-MD</a:t>
            </a:r>
            <a:endParaRPr b="1" sz="1000">
              <a:solidFill>
                <a:schemeClr val="dk1"/>
              </a:solidFill>
            </a:endParaRPr>
          </a:p>
          <a:p>
            <a:pPr indent="0" lvl="0" marL="0" rtl="0" algn="ctr">
              <a:spcBef>
                <a:spcPts val="0"/>
              </a:spcBef>
              <a:spcAft>
                <a:spcPts val="0"/>
              </a:spcAft>
              <a:buNone/>
            </a:pPr>
            <a:r>
              <a:rPr b="1" lang="en" sz="1000">
                <a:solidFill>
                  <a:schemeClr val="dk1"/>
                </a:solidFill>
              </a:rPr>
              <a:t>OSM-WA</a:t>
            </a:r>
            <a:endParaRPr b="1" sz="1000">
              <a:solidFill>
                <a:schemeClr val="dk1"/>
              </a:solidFill>
            </a:endParaRPr>
          </a:p>
        </p:txBody>
      </p:sp>
      <p:sp>
        <p:nvSpPr>
          <p:cNvPr id="477" name="Google Shape;47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Collect Datasets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Setup</a:t>
            </a:r>
            <a:endParaRPr/>
          </a:p>
        </p:txBody>
      </p:sp>
      <p:sp>
        <p:nvSpPr>
          <p:cNvPr id="483" name="Google Shape;483;p44"/>
          <p:cNvSpPr txBox="1"/>
          <p:nvPr/>
        </p:nvSpPr>
        <p:spPr>
          <a:xfrm>
            <a:off x="171450" y="4762500"/>
            <a:ext cx="83508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Setup for demonstration of </a:t>
            </a:r>
            <a:r>
              <a:rPr lang="en">
                <a:solidFill>
                  <a:schemeClr val="dk1"/>
                </a:solidFill>
              </a:rPr>
              <a:t>the</a:t>
            </a:r>
            <a:r>
              <a:rPr lang="en">
                <a:solidFill>
                  <a:schemeClr val="dk1"/>
                </a:solidFill>
              </a:rPr>
              <a:t> Population Segmentation benchmark.</a:t>
            </a:r>
            <a:endParaRPr>
              <a:solidFill>
                <a:schemeClr val="dk1"/>
              </a:solidFill>
            </a:endParaRPr>
          </a:p>
        </p:txBody>
      </p:sp>
      <p:sp>
        <p:nvSpPr>
          <p:cNvPr id="484" name="Google Shape;484;p44"/>
          <p:cNvSpPr/>
          <p:nvPr/>
        </p:nvSpPr>
        <p:spPr>
          <a:xfrm>
            <a:off x="2426375" y="1887300"/>
            <a:ext cx="2807400" cy="825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Run Experiment on cluster </a:t>
            </a:r>
            <a:endParaRPr/>
          </a:p>
          <a:p>
            <a:pPr indent="0" lvl="0" marL="0" rtl="0" algn="ctr">
              <a:spcBef>
                <a:spcPts val="0"/>
              </a:spcBef>
              <a:spcAft>
                <a:spcPts val="0"/>
              </a:spcAft>
              <a:buNone/>
            </a:pPr>
            <a:r>
              <a:rPr lang="en"/>
              <a:t>Update results</a:t>
            </a:r>
            <a:endParaRPr/>
          </a:p>
        </p:txBody>
      </p:sp>
      <p:pic>
        <p:nvPicPr>
          <p:cNvPr id="485" name="Google Shape;485;p44"/>
          <p:cNvPicPr preferRelativeResize="0"/>
          <p:nvPr/>
        </p:nvPicPr>
        <p:blipFill>
          <a:blip r:embed="rId3">
            <a:alphaModFix/>
          </a:blip>
          <a:stretch>
            <a:fillRect/>
          </a:stretch>
        </p:blipFill>
        <p:spPr>
          <a:xfrm>
            <a:off x="1132988" y="939575"/>
            <a:ext cx="6878025" cy="38229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5"/>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Execution Time</a:t>
            </a:r>
            <a:endParaRPr/>
          </a:p>
        </p:txBody>
      </p:sp>
      <p:sp>
        <p:nvSpPr>
          <p:cNvPr id="491" name="Google Shape;491;p45"/>
          <p:cNvSpPr txBox="1"/>
          <p:nvPr>
            <p:ph idx="1" type="body"/>
          </p:nvPr>
        </p:nvSpPr>
        <p:spPr>
          <a:xfrm>
            <a:off x="311700" y="4116625"/>
            <a:ext cx="8520600" cy="972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chemeClr val="dk1"/>
                </a:solidFill>
              </a:rPr>
              <a:t>Using a GPU yields a up to a </a:t>
            </a:r>
            <a:r>
              <a:rPr b="1" lang="en">
                <a:solidFill>
                  <a:schemeClr val="dk1"/>
                </a:solidFill>
              </a:rPr>
              <a:t>172x speed-up</a:t>
            </a:r>
            <a:r>
              <a:rPr lang="en">
                <a:solidFill>
                  <a:schemeClr val="dk1"/>
                </a:solidFill>
              </a:rPr>
              <a:t> in execution time on MD Roads dataset; but does not support the incremental approach.</a:t>
            </a:r>
            <a:endParaRPr>
              <a:solidFill>
                <a:schemeClr val="dk1"/>
              </a:solidFill>
            </a:endParaRPr>
          </a:p>
          <a:p>
            <a:pPr indent="0" lvl="0" marL="0" rtl="0" algn="l">
              <a:spcBef>
                <a:spcPts val="1200"/>
              </a:spcBef>
              <a:spcAft>
                <a:spcPts val="1200"/>
              </a:spcAft>
              <a:buNone/>
            </a:pPr>
            <a:r>
              <a:rPr lang="en">
                <a:solidFill>
                  <a:schemeClr val="dk1"/>
                </a:solidFill>
              </a:rPr>
              <a:t>Batch Latency @1 </a:t>
            </a:r>
            <a:r>
              <a:rPr lang="en">
                <a:solidFill>
                  <a:schemeClr val="dk1"/>
                </a:solidFill>
              </a:rPr>
              <a:t>roughly</a:t>
            </a:r>
            <a:r>
              <a:rPr lang="en">
                <a:solidFill>
                  <a:schemeClr val="dk1"/>
                </a:solidFill>
              </a:rPr>
              <a:t> equals execution time – the ‘incremental’ approach is </a:t>
            </a:r>
            <a:r>
              <a:rPr b="1" lang="en">
                <a:solidFill>
                  <a:schemeClr val="dk1"/>
                </a:solidFill>
              </a:rPr>
              <a:t>not incremental in time.</a:t>
            </a:r>
            <a:endParaRPr b="1">
              <a:solidFill>
                <a:schemeClr val="dk1"/>
              </a:solidFill>
            </a:endParaRPr>
          </a:p>
        </p:txBody>
      </p:sp>
      <p:pic>
        <p:nvPicPr>
          <p:cNvPr id="492" name="Google Shape;492;p45"/>
          <p:cNvPicPr preferRelativeResize="0"/>
          <p:nvPr/>
        </p:nvPicPr>
        <p:blipFill>
          <a:blip r:embed="rId3">
            <a:alphaModFix/>
          </a:blip>
          <a:stretch>
            <a:fillRect/>
          </a:stretch>
        </p:blipFill>
        <p:spPr>
          <a:xfrm>
            <a:off x="355250" y="941525"/>
            <a:ext cx="4060166" cy="3045125"/>
          </a:xfrm>
          <a:prstGeom prst="rect">
            <a:avLst/>
          </a:prstGeom>
          <a:noFill/>
          <a:ln>
            <a:noFill/>
          </a:ln>
        </p:spPr>
      </p:pic>
      <p:pic>
        <p:nvPicPr>
          <p:cNvPr id="493" name="Google Shape;493;p45"/>
          <p:cNvPicPr preferRelativeResize="0"/>
          <p:nvPr/>
        </p:nvPicPr>
        <p:blipFill>
          <a:blip r:embed="rId4">
            <a:alphaModFix/>
          </a:blip>
          <a:stretch>
            <a:fillRect/>
          </a:stretch>
        </p:blipFill>
        <p:spPr>
          <a:xfrm>
            <a:off x="4567816" y="941525"/>
            <a:ext cx="4060166" cy="3045125"/>
          </a:xfrm>
          <a:prstGeom prst="rect">
            <a:avLst/>
          </a:prstGeom>
          <a:noFill/>
          <a:ln>
            <a:noFill/>
          </a:ln>
        </p:spPr>
      </p:pic>
      <p:sp>
        <p:nvSpPr>
          <p:cNvPr id="494" name="Google Shape;494;p45"/>
          <p:cNvSpPr/>
          <p:nvPr/>
        </p:nvSpPr>
        <p:spPr>
          <a:xfrm>
            <a:off x="1579400" y="2340275"/>
            <a:ext cx="700500" cy="572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6"/>
          <p:cNvSpPr txBox="1"/>
          <p:nvPr>
            <p:ph type="title"/>
          </p:nvPr>
        </p:nvSpPr>
        <p:spPr>
          <a:xfrm>
            <a:off x="311700" y="172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Time Usage</a:t>
            </a:r>
            <a:endParaRPr/>
          </a:p>
        </p:txBody>
      </p:sp>
      <p:sp>
        <p:nvSpPr>
          <p:cNvPr id="500" name="Google Shape;500;p46"/>
          <p:cNvSpPr txBox="1"/>
          <p:nvPr>
            <p:ph idx="1" type="body"/>
          </p:nvPr>
        </p:nvSpPr>
        <p:spPr>
          <a:xfrm>
            <a:off x="121800" y="4106125"/>
            <a:ext cx="5232900" cy="10863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solidFill>
                  <a:schemeClr val="dk1"/>
                </a:solidFill>
              </a:rPr>
              <a:t>ETL is a much greater proportion of </a:t>
            </a:r>
            <a:r>
              <a:rPr lang="en">
                <a:solidFill>
                  <a:schemeClr val="dk1"/>
                </a:solidFill>
              </a:rPr>
              <a:t>Processing time for </a:t>
            </a:r>
            <a:r>
              <a:rPr lang="en">
                <a:solidFill>
                  <a:schemeClr val="dk1"/>
                </a:solidFill>
              </a:rPr>
              <a:t>GPU-based approaches than for CPU-based approaches.</a:t>
            </a:r>
            <a:br>
              <a:rPr lang="en">
                <a:solidFill>
                  <a:schemeClr val="dk1"/>
                </a:solidFill>
              </a:rPr>
            </a:br>
            <a:r>
              <a:rPr lang="en">
                <a:solidFill>
                  <a:schemeClr val="dk1"/>
                </a:solidFill>
              </a:rPr>
              <a:t>Massapequa may be below partition threshold.</a:t>
            </a:r>
            <a:endParaRPr>
              <a:solidFill>
                <a:schemeClr val="dk1"/>
              </a:solidFill>
            </a:endParaRPr>
          </a:p>
        </p:txBody>
      </p:sp>
      <p:pic>
        <p:nvPicPr>
          <p:cNvPr id="501" name="Google Shape;501;p46"/>
          <p:cNvPicPr preferRelativeResize="0"/>
          <p:nvPr/>
        </p:nvPicPr>
        <p:blipFill>
          <a:blip r:embed="rId3">
            <a:alphaModFix/>
          </a:blip>
          <a:stretch>
            <a:fillRect/>
          </a:stretch>
        </p:blipFill>
        <p:spPr>
          <a:xfrm>
            <a:off x="311700" y="712925"/>
            <a:ext cx="4665024" cy="3498751"/>
          </a:xfrm>
          <a:prstGeom prst="rect">
            <a:avLst/>
          </a:prstGeom>
          <a:noFill/>
          <a:ln>
            <a:noFill/>
          </a:ln>
        </p:spPr>
      </p:pic>
      <p:pic>
        <p:nvPicPr>
          <p:cNvPr id="502" name="Google Shape;502;p46"/>
          <p:cNvPicPr preferRelativeResize="0"/>
          <p:nvPr/>
        </p:nvPicPr>
        <p:blipFill rotWithShape="1">
          <a:blip r:embed="rId4">
            <a:alphaModFix/>
          </a:blip>
          <a:srcRect b="13307" l="0" r="0" t="0"/>
          <a:stretch/>
        </p:blipFill>
        <p:spPr>
          <a:xfrm>
            <a:off x="5354688" y="85650"/>
            <a:ext cx="2618074" cy="1702301"/>
          </a:xfrm>
          <a:prstGeom prst="rect">
            <a:avLst/>
          </a:prstGeom>
          <a:noFill/>
          <a:ln>
            <a:noFill/>
          </a:ln>
        </p:spPr>
      </p:pic>
      <p:pic>
        <p:nvPicPr>
          <p:cNvPr id="503" name="Google Shape;503;p46"/>
          <p:cNvPicPr preferRelativeResize="0"/>
          <p:nvPr/>
        </p:nvPicPr>
        <p:blipFill rotWithShape="1">
          <a:blip r:embed="rId5">
            <a:alphaModFix/>
          </a:blip>
          <a:srcRect b="13307" l="0" r="0" t="0"/>
          <a:stretch/>
        </p:blipFill>
        <p:spPr>
          <a:xfrm>
            <a:off x="5354675" y="3490250"/>
            <a:ext cx="2618099" cy="1702301"/>
          </a:xfrm>
          <a:prstGeom prst="rect">
            <a:avLst/>
          </a:prstGeom>
          <a:noFill/>
          <a:ln>
            <a:noFill/>
          </a:ln>
        </p:spPr>
      </p:pic>
      <p:pic>
        <p:nvPicPr>
          <p:cNvPr id="504" name="Google Shape;504;p46"/>
          <p:cNvPicPr preferRelativeResize="0"/>
          <p:nvPr/>
        </p:nvPicPr>
        <p:blipFill rotWithShape="1">
          <a:blip r:embed="rId6">
            <a:alphaModFix/>
          </a:blip>
          <a:srcRect b="13307" l="0" r="0" t="0"/>
          <a:stretch/>
        </p:blipFill>
        <p:spPr>
          <a:xfrm>
            <a:off x="5354675" y="1787949"/>
            <a:ext cx="2618099" cy="1702301"/>
          </a:xfrm>
          <a:prstGeom prst="rect">
            <a:avLst/>
          </a:prstGeom>
          <a:noFill/>
          <a:ln>
            <a:noFill/>
          </a:ln>
        </p:spPr>
      </p:pic>
      <p:sp>
        <p:nvSpPr>
          <p:cNvPr id="505" name="Google Shape;505;p46"/>
          <p:cNvSpPr txBox="1"/>
          <p:nvPr>
            <p:ph idx="1" type="body"/>
          </p:nvPr>
        </p:nvSpPr>
        <p:spPr>
          <a:xfrm>
            <a:off x="8039525" y="523575"/>
            <a:ext cx="789900" cy="503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GPU</a:t>
            </a:r>
            <a:endParaRPr b="1"/>
          </a:p>
        </p:txBody>
      </p:sp>
      <p:sp>
        <p:nvSpPr>
          <p:cNvPr id="506" name="Google Shape;506;p46"/>
          <p:cNvSpPr txBox="1"/>
          <p:nvPr>
            <p:ph idx="1" type="body"/>
          </p:nvPr>
        </p:nvSpPr>
        <p:spPr>
          <a:xfrm>
            <a:off x="8039525" y="2210600"/>
            <a:ext cx="789900" cy="503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Xeon</a:t>
            </a:r>
            <a:endParaRPr b="1"/>
          </a:p>
        </p:txBody>
      </p:sp>
      <p:sp>
        <p:nvSpPr>
          <p:cNvPr id="507" name="Google Shape;507;p46"/>
          <p:cNvSpPr txBox="1"/>
          <p:nvPr>
            <p:ph idx="1" type="body"/>
          </p:nvPr>
        </p:nvSpPr>
        <p:spPr>
          <a:xfrm>
            <a:off x="8074750" y="3897625"/>
            <a:ext cx="985500" cy="5727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M2 Max</a:t>
            </a:r>
            <a:endParaRPr b="1"/>
          </a:p>
        </p:txBody>
      </p:sp>
      <p:sp>
        <p:nvSpPr>
          <p:cNvPr id="508" name="Google Shape;508;p46"/>
          <p:cNvSpPr/>
          <p:nvPr/>
        </p:nvSpPr>
        <p:spPr>
          <a:xfrm>
            <a:off x="6463150" y="85650"/>
            <a:ext cx="322200" cy="1514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Effectiveness of </a:t>
            </a:r>
            <a:r>
              <a:rPr lang="en"/>
              <a:t>Static Approaches</a:t>
            </a:r>
            <a:endParaRPr/>
          </a:p>
        </p:txBody>
      </p:sp>
      <p:sp>
        <p:nvSpPr>
          <p:cNvPr id="514" name="Google Shape;514;p47"/>
          <p:cNvSpPr txBox="1"/>
          <p:nvPr>
            <p:ph idx="1" type="body"/>
          </p:nvPr>
        </p:nvSpPr>
        <p:spPr>
          <a:xfrm>
            <a:off x="311700" y="1152475"/>
            <a:ext cx="3350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Effectiveness degrades for GPU on scale-free datasets using the ‘static’ algorithm.</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Likely due to initial partitioning scheme used by GPU.</a:t>
            </a:r>
            <a:endParaRPr>
              <a:solidFill>
                <a:schemeClr val="dk1"/>
              </a:solidFill>
            </a:endParaRPr>
          </a:p>
        </p:txBody>
      </p:sp>
      <p:pic>
        <p:nvPicPr>
          <p:cNvPr id="515" name="Google Shape;515;p47"/>
          <p:cNvPicPr preferRelativeResize="0"/>
          <p:nvPr/>
        </p:nvPicPr>
        <p:blipFill>
          <a:blip r:embed="rId3">
            <a:alphaModFix/>
          </a:blip>
          <a:stretch>
            <a:fillRect/>
          </a:stretch>
        </p:blipFill>
        <p:spPr>
          <a:xfrm>
            <a:off x="3830150" y="1152475"/>
            <a:ext cx="5002150" cy="3751601"/>
          </a:xfrm>
          <a:prstGeom prst="rect">
            <a:avLst/>
          </a:prstGeom>
          <a:noFill/>
          <a:ln>
            <a:noFill/>
          </a:ln>
        </p:spPr>
      </p:pic>
      <p:sp>
        <p:nvSpPr>
          <p:cNvPr id="516" name="Google Shape;516;p47"/>
          <p:cNvSpPr/>
          <p:nvPr/>
        </p:nvSpPr>
        <p:spPr>
          <a:xfrm>
            <a:off x="7564575" y="1560950"/>
            <a:ext cx="700500" cy="572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47"/>
          <p:cNvSpPr/>
          <p:nvPr/>
        </p:nvSpPr>
        <p:spPr>
          <a:xfrm>
            <a:off x="8131800" y="2209850"/>
            <a:ext cx="700500" cy="572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Effectiveness of Incremental Approaches (NMI)</a:t>
            </a:r>
            <a:endParaRPr/>
          </a:p>
        </p:txBody>
      </p:sp>
      <p:sp>
        <p:nvSpPr>
          <p:cNvPr id="523" name="Google Shape;523;p48"/>
          <p:cNvSpPr txBox="1"/>
          <p:nvPr>
            <p:ph idx="1" type="body"/>
          </p:nvPr>
        </p:nvSpPr>
        <p:spPr>
          <a:xfrm>
            <a:off x="311700" y="4131300"/>
            <a:ext cx="8520600" cy="881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solidFill>
                  <a:schemeClr val="dk1"/>
                </a:solidFill>
              </a:rPr>
              <a:t>The M2 Max implementation exhibits non-monotonic behavior in NMI improvement.</a:t>
            </a:r>
            <a:endParaRPr>
              <a:solidFill>
                <a:schemeClr val="dk1"/>
              </a:solidFill>
            </a:endParaRPr>
          </a:p>
          <a:p>
            <a:pPr indent="0" lvl="0" marL="0" rtl="0" algn="l">
              <a:spcBef>
                <a:spcPts val="1200"/>
              </a:spcBef>
              <a:spcAft>
                <a:spcPts val="1200"/>
              </a:spcAft>
              <a:buNone/>
            </a:pPr>
            <a:r>
              <a:rPr lang="en">
                <a:solidFill>
                  <a:schemeClr val="dk1"/>
                </a:solidFill>
              </a:rPr>
              <a:t>One could trade effectiveness for efficiency on the Xeon Silver.</a:t>
            </a:r>
            <a:endParaRPr>
              <a:solidFill>
                <a:schemeClr val="dk1"/>
              </a:solidFill>
            </a:endParaRPr>
          </a:p>
        </p:txBody>
      </p:sp>
      <p:pic>
        <p:nvPicPr>
          <p:cNvPr id="524" name="Google Shape;524;p48"/>
          <p:cNvPicPr preferRelativeResize="0"/>
          <p:nvPr/>
        </p:nvPicPr>
        <p:blipFill>
          <a:blip r:embed="rId3">
            <a:alphaModFix/>
          </a:blip>
          <a:stretch>
            <a:fillRect/>
          </a:stretch>
        </p:blipFill>
        <p:spPr>
          <a:xfrm>
            <a:off x="152400" y="1289675"/>
            <a:ext cx="2874432" cy="2155824"/>
          </a:xfrm>
          <a:prstGeom prst="rect">
            <a:avLst/>
          </a:prstGeom>
          <a:noFill/>
          <a:ln>
            <a:noFill/>
          </a:ln>
        </p:spPr>
      </p:pic>
      <p:pic>
        <p:nvPicPr>
          <p:cNvPr id="525" name="Google Shape;525;p48"/>
          <p:cNvPicPr preferRelativeResize="0"/>
          <p:nvPr/>
        </p:nvPicPr>
        <p:blipFill>
          <a:blip r:embed="rId4">
            <a:alphaModFix/>
          </a:blip>
          <a:stretch>
            <a:fillRect/>
          </a:stretch>
        </p:blipFill>
        <p:spPr>
          <a:xfrm>
            <a:off x="3260667" y="1289675"/>
            <a:ext cx="2874432" cy="2155824"/>
          </a:xfrm>
          <a:prstGeom prst="rect">
            <a:avLst/>
          </a:prstGeom>
          <a:noFill/>
          <a:ln>
            <a:noFill/>
          </a:ln>
        </p:spPr>
      </p:pic>
      <p:sp>
        <p:nvSpPr>
          <p:cNvPr id="526" name="Google Shape;526;p48"/>
          <p:cNvSpPr/>
          <p:nvPr/>
        </p:nvSpPr>
        <p:spPr>
          <a:xfrm>
            <a:off x="6368950" y="1268100"/>
            <a:ext cx="2427000" cy="138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 Incremental Implementation for GPU</a:t>
            </a:r>
            <a:endParaRPr/>
          </a:p>
        </p:txBody>
      </p:sp>
      <p:sp>
        <p:nvSpPr>
          <p:cNvPr id="527" name="Google Shape;527;p48"/>
          <p:cNvSpPr txBox="1"/>
          <p:nvPr>
            <p:ph idx="1" type="body"/>
          </p:nvPr>
        </p:nvSpPr>
        <p:spPr>
          <a:xfrm>
            <a:off x="6368950" y="3445500"/>
            <a:ext cx="2463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RTXA5000</a:t>
            </a:r>
            <a:endParaRPr b="1"/>
          </a:p>
        </p:txBody>
      </p:sp>
      <p:sp>
        <p:nvSpPr>
          <p:cNvPr id="528" name="Google Shape;528;p48"/>
          <p:cNvSpPr txBox="1"/>
          <p:nvPr>
            <p:ph idx="1" type="body"/>
          </p:nvPr>
        </p:nvSpPr>
        <p:spPr>
          <a:xfrm>
            <a:off x="3260675" y="3445500"/>
            <a:ext cx="2874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Xeon Silver</a:t>
            </a:r>
            <a:endParaRPr b="1"/>
          </a:p>
        </p:txBody>
      </p:sp>
      <p:sp>
        <p:nvSpPr>
          <p:cNvPr id="529" name="Google Shape;529;p48"/>
          <p:cNvSpPr txBox="1"/>
          <p:nvPr>
            <p:ph idx="1" type="body"/>
          </p:nvPr>
        </p:nvSpPr>
        <p:spPr>
          <a:xfrm>
            <a:off x="311700" y="3445500"/>
            <a:ext cx="27150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M2 Max</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Effectiveness of Incremental Approaches (#Seg)</a:t>
            </a:r>
            <a:endParaRPr/>
          </a:p>
        </p:txBody>
      </p:sp>
      <p:sp>
        <p:nvSpPr>
          <p:cNvPr id="535" name="Google Shape;535;p49"/>
          <p:cNvSpPr txBox="1"/>
          <p:nvPr>
            <p:ph idx="1" type="body"/>
          </p:nvPr>
        </p:nvSpPr>
        <p:spPr>
          <a:xfrm>
            <a:off x="311700" y="4131300"/>
            <a:ext cx="8520600" cy="881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rPr>
              <a:t>The M2 Max implementation exhibits non-monotonic behaviour in Segment size.</a:t>
            </a:r>
            <a:endParaRPr>
              <a:solidFill>
                <a:schemeClr val="dk1"/>
              </a:solidFill>
            </a:endParaRPr>
          </a:p>
          <a:p>
            <a:pPr indent="0" lvl="0" marL="0" rtl="0" algn="l">
              <a:spcBef>
                <a:spcPts val="1200"/>
              </a:spcBef>
              <a:spcAft>
                <a:spcPts val="1200"/>
              </a:spcAft>
              <a:buNone/>
            </a:pPr>
            <a:r>
              <a:rPr lang="en">
                <a:solidFill>
                  <a:schemeClr val="dk1"/>
                </a:solidFill>
              </a:rPr>
              <a:t>The ‘granularity’ of communities gets coarser over time on the Xeon Silver.</a:t>
            </a:r>
            <a:endParaRPr>
              <a:solidFill>
                <a:schemeClr val="dk1"/>
              </a:solidFill>
            </a:endParaRPr>
          </a:p>
        </p:txBody>
      </p:sp>
      <p:sp>
        <p:nvSpPr>
          <p:cNvPr id="536" name="Google Shape;536;p49"/>
          <p:cNvSpPr/>
          <p:nvPr/>
        </p:nvSpPr>
        <p:spPr>
          <a:xfrm>
            <a:off x="6368950" y="1268100"/>
            <a:ext cx="2427000" cy="138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 Incremental Implementation for GPU</a:t>
            </a:r>
            <a:endParaRPr/>
          </a:p>
        </p:txBody>
      </p:sp>
      <p:sp>
        <p:nvSpPr>
          <p:cNvPr id="537" name="Google Shape;537;p49"/>
          <p:cNvSpPr txBox="1"/>
          <p:nvPr>
            <p:ph idx="1" type="body"/>
          </p:nvPr>
        </p:nvSpPr>
        <p:spPr>
          <a:xfrm>
            <a:off x="6368950" y="3445500"/>
            <a:ext cx="2463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RTXA5000</a:t>
            </a:r>
            <a:endParaRPr b="1"/>
          </a:p>
        </p:txBody>
      </p:sp>
      <p:sp>
        <p:nvSpPr>
          <p:cNvPr id="538" name="Google Shape;538;p49"/>
          <p:cNvSpPr txBox="1"/>
          <p:nvPr>
            <p:ph idx="1" type="body"/>
          </p:nvPr>
        </p:nvSpPr>
        <p:spPr>
          <a:xfrm>
            <a:off x="3260675" y="3445500"/>
            <a:ext cx="2874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Xeon Silver</a:t>
            </a:r>
            <a:endParaRPr b="1"/>
          </a:p>
        </p:txBody>
      </p:sp>
      <p:sp>
        <p:nvSpPr>
          <p:cNvPr id="539" name="Google Shape;539;p49"/>
          <p:cNvSpPr txBox="1"/>
          <p:nvPr>
            <p:ph idx="1" type="body"/>
          </p:nvPr>
        </p:nvSpPr>
        <p:spPr>
          <a:xfrm>
            <a:off x="311700" y="3445500"/>
            <a:ext cx="27150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M2 Max</a:t>
            </a:r>
            <a:endParaRPr b="1"/>
          </a:p>
        </p:txBody>
      </p:sp>
      <p:pic>
        <p:nvPicPr>
          <p:cNvPr id="540" name="Google Shape;540;p49"/>
          <p:cNvPicPr preferRelativeResize="0"/>
          <p:nvPr/>
        </p:nvPicPr>
        <p:blipFill>
          <a:blip r:embed="rId3">
            <a:alphaModFix/>
          </a:blip>
          <a:stretch>
            <a:fillRect/>
          </a:stretch>
        </p:blipFill>
        <p:spPr>
          <a:xfrm>
            <a:off x="152400" y="1170125"/>
            <a:ext cx="2830634" cy="2122975"/>
          </a:xfrm>
          <a:prstGeom prst="rect">
            <a:avLst/>
          </a:prstGeom>
          <a:noFill/>
          <a:ln>
            <a:noFill/>
          </a:ln>
        </p:spPr>
      </p:pic>
      <p:pic>
        <p:nvPicPr>
          <p:cNvPr id="541" name="Google Shape;541;p49"/>
          <p:cNvPicPr preferRelativeResize="0"/>
          <p:nvPr/>
        </p:nvPicPr>
        <p:blipFill>
          <a:blip r:embed="rId4">
            <a:alphaModFix/>
          </a:blip>
          <a:stretch>
            <a:fillRect/>
          </a:stretch>
        </p:blipFill>
        <p:spPr>
          <a:xfrm>
            <a:off x="3135434" y="1170125"/>
            <a:ext cx="2830634" cy="2122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0"/>
          <p:cNvSpPr txBox="1"/>
          <p:nvPr>
            <p:ph type="title"/>
          </p:nvPr>
        </p:nvSpPr>
        <p:spPr>
          <a:xfrm>
            <a:off x="311700" y="435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a:t>
            </a:r>
            <a:endParaRPr/>
          </a:p>
        </p:txBody>
      </p:sp>
      <p:pic>
        <p:nvPicPr>
          <p:cNvPr id="547" name="Google Shape;547;p50"/>
          <p:cNvPicPr preferRelativeResize="0"/>
          <p:nvPr/>
        </p:nvPicPr>
        <p:blipFill>
          <a:blip r:embed="rId3">
            <a:alphaModFix/>
          </a:blip>
          <a:stretch>
            <a:fillRect/>
          </a:stretch>
        </p:blipFill>
        <p:spPr>
          <a:xfrm>
            <a:off x="1037460" y="1106423"/>
            <a:ext cx="1700316" cy="1724587"/>
          </a:xfrm>
          <a:prstGeom prst="rect">
            <a:avLst/>
          </a:prstGeom>
          <a:noFill/>
          <a:ln>
            <a:noFill/>
          </a:ln>
        </p:spPr>
      </p:pic>
      <p:grpSp>
        <p:nvGrpSpPr>
          <p:cNvPr id="548" name="Google Shape;548;p50"/>
          <p:cNvGrpSpPr/>
          <p:nvPr/>
        </p:nvGrpSpPr>
        <p:grpSpPr>
          <a:xfrm>
            <a:off x="4004940" y="598044"/>
            <a:ext cx="1134133" cy="3470146"/>
            <a:chOff x="4004940" y="598044"/>
            <a:chExt cx="1134133" cy="3470146"/>
          </a:xfrm>
        </p:grpSpPr>
        <p:pic>
          <p:nvPicPr>
            <p:cNvPr id="549" name="Google Shape;549;p50"/>
            <p:cNvPicPr preferRelativeResize="0"/>
            <p:nvPr/>
          </p:nvPicPr>
          <p:blipFill rotWithShape="1">
            <a:blip r:embed="rId4">
              <a:alphaModFix/>
            </a:blip>
            <a:srcRect b="47145" l="10705" r="49556" t="10756"/>
            <a:stretch/>
          </p:blipFill>
          <p:spPr>
            <a:xfrm>
              <a:off x="4126088" y="598044"/>
              <a:ext cx="959695" cy="939491"/>
            </a:xfrm>
            <a:prstGeom prst="rect">
              <a:avLst/>
            </a:prstGeom>
            <a:noFill/>
            <a:ln>
              <a:noFill/>
            </a:ln>
          </p:spPr>
        </p:pic>
        <p:pic>
          <p:nvPicPr>
            <p:cNvPr id="550" name="Google Shape;550;p50"/>
            <p:cNvPicPr preferRelativeResize="0"/>
            <p:nvPr/>
          </p:nvPicPr>
          <p:blipFill rotWithShape="1">
            <a:blip r:embed="rId4">
              <a:alphaModFix/>
            </a:blip>
            <a:srcRect b="47390" l="57430" r="0" t="7350"/>
            <a:stretch/>
          </p:blipFill>
          <p:spPr>
            <a:xfrm>
              <a:off x="4057705" y="1711553"/>
              <a:ext cx="1028078" cy="1010064"/>
            </a:xfrm>
            <a:prstGeom prst="rect">
              <a:avLst/>
            </a:prstGeom>
            <a:noFill/>
            <a:ln>
              <a:noFill/>
            </a:ln>
          </p:spPr>
        </p:pic>
        <p:grpSp>
          <p:nvGrpSpPr>
            <p:cNvPr id="551" name="Google Shape;551;p50"/>
            <p:cNvGrpSpPr/>
            <p:nvPr/>
          </p:nvGrpSpPr>
          <p:grpSpPr>
            <a:xfrm>
              <a:off x="4004940" y="2895749"/>
              <a:ext cx="1134133" cy="1172441"/>
              <a:chOff x="5626050" y="3147625"/>
              <a:chExt cx="764550" cy="790374"/>
            </a:xfrm>
          </p:grpSpPr>
          <p:pic>
            <p:nvPicPr>
              <p:cNvPr id="552" name="Google Shape;552;p50"/>
              <p:cNvPicPr preferRelativeResize="0"/>
              <p:nvPr/>
            </p:nvPicPr>
            <p:blipFill rotWithShape="1">
              <a:blip r:embed="rId4">
                <a:alphaModFix/>
              </a:blip>
              <a:srcRect b="0" l="31721" r="21319" t="49512"/>
              <a:stretch/>
            </p:blipFill>
            <p:spPr>
              <a:xfrm>
                <a:off x="5626050" y="3178425"/>
                <a:ext cx="764550" cy="759574"/>
              </a:xfrm>
              <a:prstGeom prst="rect">
                <a:avLst/>
              </a:prstGeom>
              <a:noFill/>
              <a:ln>
                <a:noFill/>
              </a:ln>
            </p:spPr>
          </p:pic>
          <p:sp>
            <p:nvSpPr>
              <p:cNvPr id="553" name="Google Shape;553;p50"/>
              <p:cNvSpPr/>
              <p:nvPr/>
            </p:nvSpPr>
            <p:spPr>
              <a:xfrm>
                <a:off x="5626050" y="3147625"/>
                <a:ext cx="197700" cy="11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50"/>
              <p:cNvSpPr/>
              <p:nvPr/>
            </p:nvSpPr>
            <p:spPr>
              <a:xfrm>
                <a:off x="6192900" y="3178425"/>
                <a:ext cx="197700" cy="7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555" name="Google Shape;555;p50"/>
          <p:cNvSpPr txBox="1"/>
          <p:nvPr/>
        </p:nvSpPr>
        <p:spPr>
          <a:xfrm>
            <a:off x="421100" y="4099950"/>
            <a:ext cx="8520600" cy="65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800">
              <a:solidFill>
                <a:schemeClr val="dk2"/>
              </a:solidFill>
            </a:endParaRPr>
          </a:p>
        </p:txBody>
      </p:sp>
      <p:pic>
        <p:nvPicPr>
          <p:cNvPr id="556" name="Google Shape;556;p50"/>
          <p:cNvPicPr preferRelativeResize="0"/>
          <p:nvPr/>
        </p:nvPicPr>
        <p:blipFill>
          <a:blip r:embed="rId5">
            <a:alphaModFix/>
          </a:blip>
          <a:stretch>
            <a:fillRect/>
          </a:stretch>
        </p:blipFill>
        <p:spPr>
          <a:xfrm>
            <a:off x="1037449" y="3368275"/>
            <a:ext cx="646626" cy="651600"/>
          </a:xfrm>
          <a:prstGeom prst="rect">
            <a:avLst/>
          </a:prstGeom>
          <a:noFill/>
          <a:ln>
            <a:noFill/>
          </a:ln>
        </p:spPr>
      </p:pic>
      <p:pic>
        <p:nvPicPr>
          <p:cNvPr id="557" name="Google Shape;557;p50"/>
          <p:cNvPicPr preferRelativeResize="0"/>
          <p:nvPr/>
        </p:nvPicPr>
        <p:blipFill>
          <a:blip r:embed="rId6">
            <a:alphaModFix/>
          </a:blip>
          <a:stretch>
            <a:fillRect/>
          </a:stretch>
        </p:blipFill>
        <p:spPr>
          <a:xfrm>
            <a:off x="2091150" y="3368275"/>
            <a:ext cx="646625" cy="651603"/>
          </a:xfrm>
          <a:prstGeom prst="rect">
            <a:avLst/>
          </a:prstGeom>
          <a:noFill/>
          <a:ln>
            <a:noFill/>
          </a:ln>
        </p:spPr>
      </p:pic>
      <p:cxnSp>
        <p:nvCxnSpPr>
          <p:cNvPr id="558" name="Google Shape;558;p50"/>
          <p:cNvCxnSpPr>
            <a:stCxn id="557" idx="0"/>
            <a:endCxn id="547" idx="2"/>
          </p:cNvCxnSpPr>
          <p:nvPr/>
        </p:nvCxnSpPr>
        <p:spPr>
          <a:xfrm flipH="1" rot="5400000">
            <a:off x="1882413" y="2836225"/>
            <a:ext cx="537300" cy="526800"/>
          </a:xfrm>
          <a:prstGeom prst="bentConnector3">
            <a:avLst>
              <a:gd fmla="val 49997" name="adj1"/>
            </a:avLst>
          </a:prstGeom>
          <a:noFill/>
          <a:ln cap="flat" cmpd="sng" w="28575">
            <a:solidFill>
              <a:srgbClr val="0000FF"/>
            </a:solidFill>
            <a:prstDash val="solid"/>
            <a:round/>
            <a:headEnd len="med" w="med" type="none"/>
            <a:tailEnd len="med" w="med" type="stealth"/>
          </a:ln>
        </p:spPr>
      </p:cxnSp>
      <p:cxnSp>
        <p:nvCxnSpPr>
          <p:cNvPr id="559" name="Google Shape;559;p50"/>
          <p:cNvCxnSpPr>
            <a:stCxn id="556" idx="0"/>
            <a:endCxn id="547" idx="2"/>
          </p:cNvCxnSpPr>
          <p:nvPr/>
        </p:nvCxnSpPr>
        <p:spPr>
          <a:xfrm rot="-5400000">
            <a:off x="1355512" y="2836225"/>
            <a:ext cx="537300" cy="526800"/>
          </a:xfrm>
          <a:prstGeom prst="bentConnector3">
            <a:avLst>
              <a:gd fmla="val 49997" name="adj1"/>
            </a:avLst>
          </a:prstGeom>
          <a:noFill/>
          <a:ln cap="flat" cmpd="sng" w="28575">
            <a:solidFill>
              <a:srgbClr val="0000FF"/>
            </a:solidFill>
            <a:prstDash val="solid"/>
            <a:round/>
            <a:headEnd len="med" w="med" type="none"/>
            <a:tailEnd len="med" w="med" type="stealth"/>
          </a:ln>
        </p:spPr>
      </p:cxnSp>
      <p:grpSp>
        <p:nvGrpSpPr>
          <p:cNvPr id="560" name="Google Shape;560;p50"/>
          <p:cNvGrpSpPr/>
          <p:nvPr/>
        </p:nvGrpSpPr>
        <p:grpSpPr>
          <a:xfrm>
            <a:off x="6008122" y="1738762"/>
            <a:ext cx="2332711" cy="2085683"/>
            <a:chOff x="459282" y="1983426"/>
            <a:chExt cx="3025565" cy="2705166"/>
          </a:xfrm>
        </p:grpSpPr>
        <p:grpSp>
          <p:nvGrpSpPr>
            <p:cNvPr id="561" name="Google Shape;561;p50"/>
            <p:cNvGrpSpPr/>
            <p:nvPr/>
          </p:nvGrpSpPr>
          <p:grpSpPr>
            <a:xfrm>
              <a:off x="459282" y="1983426"/>
              <a:ext cx="3025565" cy="2705166"/>
              <a:chOff x="459282" y="1983426"/>
              <a:chExt cx="3025565" cy="2705166"/>
            </a:xfrm>
          </p:grpSpPr>
          <p:sp>
            <p:nvSpPr>
              <p:cNvPr id="562" name="Google Shape;562;p50"/>
              <p:cNvSpPr/>
              <p:nvPr/>
            </p:nvSpPr>
            <p:spPr>
              <a:xfrm>
                <a:off x="459282" y="2303113"/>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rPr b="1" lang="en" sz="700">
                    <a:solidFill>
                      <a:schemeClr val="dk1"/>
                    </a:solidFill>
                  </a:rPr>
                  <a:t>Searching, Planning and</a:t>
                </a:r>
                <a:r>
                  <a:rPr b="1" lang="en" sz="500">
                    <a:solidFill>
                      <a:schemeClr val="dk1"/>
                    </a:solidFill>
                  </a:rPr>
                  <a:t> </a:t>
                </a:r>
                <a:r>
                  <a:rPr b="1" lang="en" sz="700">
                    <a:solidFill>
                      <a:schemeClr val="dk1"/>
                    </a:solidFill>
                  </a:rPr>
                  <a:t>Scheduling</a:t>
                </a:r>
                <a:endParaRPr b="1" sz="700"/>
              </a:p>
            </p:txBody>
          </p:sp>
          <p:cxnSp>
            <p:nvCxnSpPr>
              <p:cNvPr id="563" name="Google Shape;563;p50"/>
              <p:cNvCxnSpPr>
                <a:stCxn id="564" idx="2"/>
                <a:endCxn id="562" idx="0"/>
              </p:cNvCxnSpPr>
              <p:nvPr/>
            </p:nvCxnSpPr>
            <p:spPr>
              <a:xfrm rot="5400000">
                <a:off x="2053548" y="871926"/>
                <a:ext cx="319800" cy="2542800"/>
              </a:xfrm>
              <a:prstGeom prst="bentConnector3">
                <a:avLst>
                  <a:gd fmla="val 49982" name="adj1"/>
                </a:avLst>
              </a:prstGeom>
              <a:noFill/>
              <a:ln cap="flat" cmpd="sng" w="9525">
                <a:solidFill>
                  <a:schemeClr val="dk2"/>
                </a:solidFill>
                <a:prstDash val="solid"/>
                <a:round/>
                <a:headEnd len="med" w="med" type="none"/>
                <a:tailEnd len="med" w="med" type="none"/>
              </a:ln>
            </p:spPr>
          </p:cxnSp>
          <p:sp>
            <p:nvSpPr>
              <p:cNvPr id="565" name="Google Shape;565;p50"/>
              <p:cNvSpPr/>
              <p:nvPr/>
            </p:nvSpPr>
            <p:spPr>
              <a:xfrm>
                <a:off x="611650" y="352784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Graph Search</a:t>
                </a:r>
                <a:endParaRPr sz="600">
                  <a:solidFill>
                    <a:schemeClr val="dk1"/>
                  </a:solidFill>
                </a:endParaRPr>
              </a:p>
            </p:txBody>
          </p:sp>
          <p:sp>
            <p:nvSpPr>
              <p:cNvPr id="566" name="Google Shape;566;p50"/>
              <p:cNvSpPr/>
              <p:nvPr/>
            </p:nvSpPr>
            <p:spPr>
              <a:xfrm>
                <a:off x="611650"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AI Planning</a:t>
                </a:r>
                <a:endParaRPr sz="600">
                  <a:solidFill>
                    <a:schemeClr val="dk1"/>
                  </a:solidFill>
                </a:endParaRPr>
              </a:p>
            </p:txBody>
          </p:sp>
          <p:sp>
            <p:nvSpPr>
              <p:cNvPr id="567" name="Google Shape;567;p50"/>
              <p:cNvSpPr/>
              <p:nvPr/>
            </p:nvSpPr>
            <p:spPr>
              <a:xfrm>
                <a:off x="611650" y="4368792"/>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Critical Path </a:t>
                </a:r>
                <a:endParaRPr sz="600">
                  <a:solidFill>
                    <a:schemeClr val="dk1"/>
                  </a:solidFill>
                </a:endParaRPr>
              </a:p>
            </p:txBody>
          </p:sp>
          <p:cxnSp>
            <p:nvCxnSpPr>
              <p:cNvPr id="568" name="Google Shape;568;p50"/>
              <p:cNvCxnSpPr>
                <a:stCxn id="562" idx="2"/>
                <a:endCxn id="565" idx="1"/>
              </p:cNvCxnSpPr>
              <p:nvPr/>
            </p:nvCxnSpPr>
            <p:spPr>
              <a:xfrm rot="5400000">
                <a:off x="567432" y="3312913"/>
                <a:ext cx="418800" cy="330600"/>
              </a:xfrm>
              <a:prstGeom prst="bentConnector4">
                <a:avLst>
                  <a:gd fmla="val 30925" name="adj1"/>
                  <a:gd fmla="val 193386" name="adj2"/>
                </a:avLst>
              </a:prstGeom>
              <a:noFill/>
              <a:ln cap="flat" cmpd="sng" w="9525">
                <a:solidFill>
                  <a:schemeClr val="dk2"/>
                </a:solidFill>
                <a:prstDash val="solid"/>
                <a:round/>
                <a:headEnd len="med" w="med" type="none"/>
                <a:tailEnd len="med" w="med" type="none"/>
              </a:ln>
            </p:spPr>
          </p:cxnSp>
          <p:cxnSp>
            <p:nvCxnSpPr>
              <p:cNvPr id="569" name="Google Shape;569;p50"/>
              <p:cNvCxnSpPr>
                <a:endCxn id="566" idx="1"/>
              </p:cNvCxnSpPr>
              <p:nvPr/>
            </p:nvCxnSpPr>
            <p:spPr>
              <a:xfrm rot="5400000">
                <a:off x="357250" y="3523217"/>
                <a:ext cx="839400" cy="330600"/>
              </a:xfrm>
              <a:prstGeom prst="bentConnector4">
                <a:avLst>
                  <a:gd fmla="val 14428" name="adj1"/>
                  <a:gd fmla="val 193422" name="adj2"/>
                </a:avLst>
              </a:prstGeom>
              <a:noFill/>
              <a:ln cap="flat" cmpd="sng" w="9525">
                <a:solidFill>
                  <a:schemeClr val="dk2"/>
                </a:solidFill>
                <a:prstDash val="solid"/>
                <a:round/>
                <a:headEnd len="med" w="med" type="none"/>
                <a:tailEnd len="med" w="med" type="none"/>
              </a:ln>
            </p:spPr>
          </p:cxnSp>
          <p:cxnSp>
            <p:nvCxnSpPr>
              <p:cNvPr id="570" name="Google Shape;570;p50"/>
              <p:cNvCxnSpPr>
                <a:stCxn id="562" idx="2"/>
                <a:endCxn id="567" idx="1"/>
              </p:cNvCxnSpPr>
              <p:nvPr/>
            </p:nvCxnSpPr>
            <p:spPr>
              <a:xfrm rot="5400000">
                <a:off x="146832" y="3733513"/>
                <a:ext cx="1260000" cy="330600"/>
              </a:xfrm>
              <a:prstGeom prst="bentConnector4">
                <a:avLst>
                  <a:gd fmla="val 10688" name="adj1"/>
                  <a:gd fmla="val 193386" name="adj2"/>
                </a:avLst>
              </a:prstGeom>
              <a:noFill/>
              <a:ln cap="flat" cmpd="sng" w="9525">
                <a:solidFill>
                  <a:schemeClr val="dk2"/>
                </a:solidFill>
                <a:prstDash val="solid"/>
                <a:round/>
                <a:headEnd len="med" w="med" type="none"/>
                <a:tailEnd len="med" w="med" type="none"/>
              </a:ln>
            </p:spPr>
          </p:cxnSp>
        </p:grpSp>
        <p:pic>
          <p:nvPicPr>
            <p:cNvPr id="571" name="Google Shape;571;p50"/>
            <p:cNvPicPr preferRelativeResize="0"/>
            <p:nvPr/>
          </p:nvPicPr>
          <p:blipFill>
            <a:blip r:embed="rId7">
              <a:alphaModFix/>
            </a:blip>
            <a:stretch>
              <a:fillRect/>
            </a:stretch>
          </p:blipFill>
          <p:spPr>
            <a:xfrm>
              <a:off x="696125" y="2387000"/>
              <a:ext cx="436450" cy="471100"/>
            </a:xfrm>
            <a:prstGeom prst="rect">
              <a:avLst/>
            </a:prstGeom>
            <a:noFill/>
            <a:ln>
              <a:noFill/>
            </a:ln>
          </p:spPr>
        </p:pic>
      </p:grpSp>
      <p:grpSp>
        <p:nvGrpSpPr>
          <p:cNvPr id="572" name="Google Shape;572;p50"/>
          <p:cNvGrpSpPr/>
          <p:nvPr/>
        </p:nvGrpSpPr>
        <p:grpSpPr>
          <a:xfrm>
            <a:off x="7281055" y="1738762"/>
            <a:ext cx="1059779" cy="2085086"/>
            <a:chOff x="1912632" y="1983426"/>
            <a:chExt cx="1374551" cy="2704391"/>
          </a:xfrm>
        </p:grpSpPr>
        <p:grpSp>
          <p:nvGrpSpPr>
            <p:cNvPr id="573" name="Google Shape;573;p50"/>
            <p:cNvGrpSpPr/>
            <p:nvPr/>
          </p:nvGrpSpPr>
          <p:grpSpPr>
            <a:xfrm>
              <a:off x="1912632" y="1983426"/>
              <a:ext cx="1374551" cy="2704391"/>
              <a:chOff x="1912632" y="1983426"/>
              <a:chExt cx="1374551" cy="2704391"/>
            </a:xfrm>
          </p:grpSpPr>
          <p:sp>
            <p:nvSpPr>
              <p:cNvPr id="574" name="Google Shape;574;p50"/>
              <p:cNvSpPr/>
              <p:nvPr/>
            </p:nvSpPr>
            <p:spPr>
              <a:xfrm>
                <a:off x="1912782" y="2303151"/>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rPr b="1" lang="en" sz="700">
                    <a:solidFill>
                      <a:schemeClr val="dk1"/>
                    </a:solidFill>
                  </a:rPr>
                  <a:t>Structural Analysis</a:t>
                </a:r>
                <a:endParaRPr b="1" sz="700"/>
              </a:p>
            </p:txBody>
          </p:sp>
          <p:cxnSp>
            <p:nvCxnSpPr>
              <p:cNvPr id="575" name="Google Shape;575;p50"/>
              <p:cNvCxnSpPr>
                <a:stCxn id="564" idx="2"/>
                <a:endCxn id="574" idx="0"/>
              </p:cNvCxnSpPr>
              <p:nvPr/>
            </p:nvCxnSpPr>
            <p:spPr>
              <a:xfrm rot="5400000">
                <a:off x="2681482" y="1697526"/>
                <a:ext cx="319800" cy="891600"/>
              </a:xfrm>
              <a:prstGeom prst="bentConnector3">
                <a:avLst>
                  <a:gd fmla="val 49988" name="adj1"/>
                </a:avLst>
              </a:prstGeom>
              <a:noFill/>
              <a:ln cap="flat" cmpd="sng" w="9525">
                <a:solidFill>
                  <a:schemeClr val="dk2"/>
                </a:solidFill>
                <a:prstDash val="solid"/>
                <a:round/>
                <a:headEnd len="med" w="med" type="none"/>
                <a:tailEnd len="med" w="med" type="none"/>
              </a:ln>
            </p:spPr>
          </p:cxnSp>
          <p:sp>
            <p:nvSpPr>
              <p:cNvPr id="576" name="Google Shape;576;p50"/>
              <p:cNvSpPr/>
              <p:nvPr/>
            </p:nvSpPr>
            <p:spPr>
              <a:xfrm>
                <a:off x="1912763" y="35286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Graph Matching</a:t>
                </a:r>
                <a:endParaRPr sz="600">
                  <a:solidFill>
                    <a:schemeClr val="dk1"/>
                  </a:solidFill>
                </a:endParaRPr>
              </a:p>
            </p:txBody>
          </p:sp>
          <p:sp>
            <p:nvSpPr>
              <p:cNvPr id="577" name="Google Shape;577;p50"/>
              <p:cNvSpPr/>
              <p:nvPr/>
            </p:nvSpPr>
            <p:spPr>
              <a:xfrm>
                <a:off x="1912763" y="39483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Community Detection</a:t>
                </a:r>
                <a:endParaRPr sz="600">
                  <a:solidFill>
                    <a:schemeClr val="dk1"/>
                  </a:solidFill>
                </a:endParaRPr>
              </a:p>
            </p:txBody>
          </p:sp>
          <p:sp>
            <p:nvSpPr>
              <p:cNvPr id="578" name="Google Shape;578;p50"/>
              <p:cNvSpPr/>
              <p:nvPr/>
            </p:nvSpPr>
            <p:spPr>
              <a:xfrm>
                <a:off x="1912763" y="4368017"/>
                <a:ext cx="965700" cy="3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rPr>
                  <a:t>Influence Mapping</a:t>
                </a:r>
                <a:endParaRPr sz="600">
                  <a:solidFill>
                    <a:schemeClr val="dk1"/>
                  </a:solidFill>
                </a:endParaRPr>
              </a:p>
            </p:txBody>
          </p:sp>
          <p:cxnSp>
            <p:nvCxnSpPr>
              <p:cNvPr id="579" name="Google Shape;579;p50"/>
              <p:cNvCxnSpPr>
                <a:stCxn id="574" idx="2"/>
                <a:endCxn id="576" idx="1"/>
              </p:cNvCxnSpPr>
              <p:nvPr/>
            </p:nvCxnSpPr>
            <p:spPr>
              <a:xfrm rot="5400000">
                <a:off x="1944282" y="3237201"/>
                <a:ext cx="419700" cy="483000"/>
              </a:xfrm>
              <a:prstGeom prst="bentConnector4">
                <a:avLst>
                  <a:gd fmla="val 30947" name="adj1"/>
                  <a:gd fmla="val 163917" name="adj2"/>
                </a:avLst>
              </a:prstGeom>
              <a:noFill/>
              <a:ln cap="flat" cmpd="sng" w="9525">
                <a:solidFill>
                  <a:schemeClr val="dk2"/>
                </a:solidFill>
                <a:prstDash val="solid"/>
                <a:round/>
                <a:headEnd len="med" w="med" type="none"/>
                <a:tailEnd len="med" w="med" type="none"/>
              </a:ln>
            </p:spPr>
          </p:cxnSp>
          <p:cxnSp>
            <p:nvCxnSpPr>
              <p:cNvPr id="580" name="Google Shape;580;p50"/>
              <p:cNvCxnSpPr>
                <a:stCxn id="574" idx="2"/>
                <a:endCxn id="577" idx="1"/>
              </p:cNvCxnSpPr>
              <p:nvPr/>
            </p:nvCxnSpPr>
            <p:spPr>
              <a:xfrm rot="5400000">
                <a:off x="1734432" y="3447051"/>
                <a:ext cx="839400" cy="483000"/>
              </a:xfrm>
              <a:prstGeom prst="bentConnector4">
                <a:avLst>
                  <a:gd fmla="val 14424" name="adj1"/>
                  <a:gd fmla="val 163917" name="adj2"/>
                </a:avLst>
              </a:prstGeom>
              <a:noFill/>
              <a:ln cap="flat" cmpd="sng" w="9525">
                <a:solidFill>
                  <a:schemeClr val="dk2"/>
                </a:solidFill>
                <a:prstDash val="solid"/>
                <a:round/>
                <a:headEnd len="med" w="med" type="none"/>
                <a:tailEnd len="med" w="med" type="none"/>
              </a:ln>
            </p:spPr>
          </p:cxnSp>
          <p:cxnSp>
            <p:nvCxnSpPr>
              <p:cNvPr id="581" name="Google Shape;581;p50"/>
              <p:cNvCxnSpPr>
                <a:stCxn id="574" idx="2"/>
                <a:endCxn id="578" idx="1"/>
              </p:cNvCxnSpPr>
              <p:nvPr/>
            </p:nvCxnSpPr>
            <p:spPr>
              <a:xfrm rot="5400000">
                <a:off x="1524582" y="3656901"/>
                <a:ext cx="1259100" cy="483000"/>
              </a:xfrm>
              <a:prstGeom prst="bentConnector4">
                <a:avLst>
                  <a:gd fmla="val 9616" name="adj1"/>
                  <a:gd fmla="val 163917" name="adj2"/>
                </a:avLst>
              </a:prstGeom>
              <a:noFill/>
              <a:ln cap="flat" cmpd="sng" w="9525">
                <a:solidFill>
                  <a:schemeClr val="dk2"/>
                </a:solidFill>
                <a:prstDash val="solid"/>
                <a:round/>
                <a:headEnd len="med" w="med" type="none"/>
                <a:tailEnd len="med" w="med" type="none"/>
              </a:ln>
            </p:spPr>
          </p:cxnSp>
        </p:grpSp>
        <p:pic>
          <p:nvPicPr>
            <p:cNvPr id="582" name="Google Shape;582;p50"/>
            <p:cNvPicPr preferRelativeResize="0"/>
            <p:nvPr/>
          </p:nvPicPr>
          <p:blipFill>
            <a:blip r:embed="rId8">
              <a:alphaModFix/>
            </a:blip>
            <a:stretch>
              <a:fillRect/>
            </a:stretch>
          </p:blipFill>
          <p:spPr>
            <a:xfrm>
              <a:off x="2147087" y="2336200"/>
              <a:ext cx="530588" cy="572700"/>
            </a:xfrm>
            <a:prstGeom prst="rect">
              <a:avLst/>
            </a:prstGeom>
            <a:noFill/>
            <a:ln>
              <a:noFill/>
            </a:ln>
          </p:spPr>
        </p:pic>
      </p:grpSp>
      <p:grpSp>
        <p:nvGrpSpPr>
          <p:cNvPr id="583" name="Google Shape;583;p50"/>
          <p:cNvGrpSpPr/>
          <p:nvPr/>
        </p:nvGrpSpPr>
        <p:grpSpPr>
          <a:xfrm>
            <a:off x="7968556" y="994207"/>
            <a:ext cx="744555" cy="744555"/>
            <a:chOff x="3199663" y="1017726"/>
            <a:chExt cx="965700" cy="965700"/>
          </a:xfrm>
        </p:grpSpPr>
        <p:sp>
          <p:nvSpPr>
            <p:cNvPr id="564" name="Google Shape;564;p50"/>
            <p:cNvSpPr/>
            <p:nvPr/>
          </p:nvSpPr>
          <p:spPr>
            <a:xfrm>
              <a:off x="3199663" y="1017726"/>
              <a:ext cx="965700" cy="96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ctr">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ctr">
                <a:spcBef>
                  <a:spcPts val="0"/>
                </a:spcBef>
                <a:spcAft>
                  <a:spcPts val="0"/>
                </a:spcAft>
                <a:buNone/>
              </a:pPr>
              <a:r>
                <a:rPr b="1" lang="en" sz="700">
                  <a:solidFill>
                    <a:schemeClr val="dk1"/>
                  </a:solidFill>
                </a:rPr>
                <a:t>GraphAI</a:t>
              </a:r>
              <a:endParaRPr b="1" sz="700"/>
            </a:p>
          </p:txBody>
        </p:sp>
        <p:pic>
          <p:nvPicPr>
            <p:cNvPr id="584" name="Google Shape;584;p50"/>
            <p:cNvPicPr preferRelativeResize="0"/>
            <p:nvPr/>
          </p:nvPicPr>
          <p:blipFill>
            <a:blip r:embed="rId9">
              <a:alphaModFix/>
            </a:blip>
            <a:stretch>
              <a:fillRect/>
            </a:stretch>
          </p:blipFill>
          <p:spPr>
            <a:xfrm>
              <a:off x="3389998" y="1107400"/>
              <a:ext cx="585020" cy="631450"/>
            </a:xfrm>
            <a:prstGeom prst="rect">
              <a:avLst/>
            </a:prstGeom>
            <a:noFill/>
            <a:ln>
              <a:noFill/>
            </a:ln>
          </p:spPr>
        </p:pic>
      </p:grpSp>
      <p:sp>
        <p:nvSpPr>
          <p:cNvPr id="585" name="Google Shape;585;p50"/>
          <p:cNvSpPr/>
          <p:nvPr/>
        </p:nvSpPr>
        <p:spPr>
          <a:xfrm>
            <a:off x="7624500" y="2727950"/>
            <a:ext cx="65700" cy="675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50"/>
          <p:cNvSpPr/>
          <p:nvPr/>
        </p:nvSpPr>
        <p:spPr>
          <a:xfrm>
            <a:off x="3792675" y="1652150"/>
            <a:ext cx="1537800" cy="1257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50"/>
          <p:cNvSpPr txBox="1"/>
          <p:nvPr>
            <p:ph idx="1" type="body"/>
          </p:nvPr>
        </p:nvSpPr>
        <p:spPr>
          <a:xfrm>
            <a:off x="311700" y="4068200"/>
            <a:ext cx="8520600" cy="1013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chemeClr val="dk1"/>
                </a:solidFill>
              </a:rPr>
              <a:t>Based on Population Segmentation alone, </a:t>
            </a:r>
            <a:r>
              <a:rPr lang="en">
                <a:solidFill>
                  <a:schemeClr val="dk1"/>
                </a:solidFill>
              </a:rPr>
              <a:t>recommend</a:t>
            </a:r>
            <a:r>
              <a:rPr lang="en">
                <a:solidFill>
                  <a:schemeClr val="dk1"/>
                </a:solidFill>
              </a:rPr>
              <a:t> spending ~$2500 on RTX A5000.</a:t>
            </a:r>
            <a:br>
              <a:rPr lang="en">
                <a:solidFill>
                  <a:schemeClr val="dk1"/>
                </a:solidFill>
              </a:rPr>
            </a:br>
            <a:r>
              <a:rPr lang="en">
                <a:solidFill>
                  <a:schemeClr val="dk1"/>
                </a:solidFill>
              </a:rPr>
              <a:t>We </a:t>
            </a:r>
            <a:r>
              <a:rPr b="1" lang="en">
                <a:solidFill>
                  <a:schemeClr val="dk1"/>
                </a:solidFill>
              </a:rPr>
              <a:t>could</a:t>
            </a:r>
            <a:r>
              <a:rPr lang="en">
                <a:solidFill>
                  <a:schemeClr val="dk1"/>
                </a:solidFill>
              </a:rPr>
              <a:t> trade effectiveness for efficiency, but GPU will perform better these small datasets.</a:t>
            </a:r>
            <a:endParaRPr>
              <a:solidFill>
                <a:schemeClr val="dk1"/>
              </a:solidFill>
            </a:endParaRPr>
          </a:p>
          <a:p>
            <a:pPr indent="0" lvl="0" marL="0" rtl="0" algn="l">
              <a:spcBef>
                <a:spcPts val="1200"/>
              </a:spcBef>
              <a:spcAft>
                <a:spcPts val="1200"/>
              </a:spcAft>
              <a:buNone/>
            </a:pPr>
            <a:r>
              <a:rPr lang="en">
                <a:solidFill>
                  <a:schemeClr val="dk1"/>
                </a:solidFill>
              </a:rPr>
              <a:t>Full assessment requires repeating the process for each GraphAI Problem.</a:t>
            </a:r>
            <a:endParaRPr>
              <a:solidFill>
                <a:schemeClr val="dk1"/>
              </a:solidFill>
            </a:endParaRPr>
          </a:p>
        </p:txBody>
      </p:sp>
      <p:grpSp>
        <p:nvGrpSpPr>
          <p:cNvPr id="588" name="Google Shape;588;p50"/>
          <p:cNvGrpSpPr/>
          <p:nvPr/>
        </p:nvGrpSpPr>
        <p:grpSpPr>
          <a:xfrm>
            <a:off x="5887616" y="1836025"/>
            <a:ext cx="2481359" cy="1986138"/>
            <a:chOff x="5887616" y="1836025"/>
            <a:chExt cx="2481359" cy="1986138"/>
          </a:xfrm>
        </p:grpSpPr>
        <p:sp>
          <p:nvSpPr>
            <p:cNvPr id="589" name="Google Shape;589;p50"/>
            <p:cNvSpPr/>
            <p:nvPr/>
          </p:nvSpPr>
          <p:spPr>
            <a:xfrm>
              <a:off x="7285050" y="3565963"/>
              <a:ext cx="744600" cy="2562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50"/>
            <p:cNvSpPr/>
            <p:nvPr/>
          </p:nvSpPr>
          <p:spPr>
            <a:xfrm>
              <a:off x="6348938" y="2723251"/>
              <a:ext cx="65700" cy="1167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0"/>
            <p:cNvSpPr/>
            <p:nvPr/>
          </p:nvSpPr>
          <p:spPr>
            <a:xfrm>
              <a:off x="6348950" y="1860989"/>
              <a:ext cx="65700" cy="1167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92" name="Google Shape;592;p50"/>
            <p:cNvGrpSpPr/>
            <p:nvPr/>
          </p:nvGrpSpPr>
          <p:grpSpPr>
            <a:xfrm>
              <a:off x="5887616" y="1836025"/>
              <a:ext cx="2481359" cy="1870852"/>
              <a:chOff x="5887616" y="1836025"/>
              <a:chExt cx="2481359" cy="1870852"/>
            </a:xfrm>
          </p:grpSpPr>
          <p:sp>
            <p:nvSpPr>
              <p:cNvPr id="593" name="Google Shape;593;p50"/>
              <p:cNvSpPr/>
              <p:nvPr/>
            </p:nvSpPr>
            <p:spPr>
              <a:xfrm>
                <a:off x="6119125" y="2941650"/>
                <a:ext cx="744600" cy="2562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94" name="Google Shape;594;p50"/>
              <p:cNvGrpSpPr/>
              <p:nvPr/>
            </p:nvGrpSpPr>
            <p:grpSpPr>
              <a:xfrm>
                <a:off x="5887616" y="1836025"/>
                <a:ext cx="2481359" cy="1870852"/>
                <a:chOff x="5887616" y="1836025"/>
                <a:chExt cx="2481359" cy="1870852"/>
              </a:xfrm>
            </p:grpSpPr>
            <p:grpSp>
              <p:nvGrpSpPr>
                <p:cNvPr id="595" name="Google Shape;595;p50"/>
                <p:cNvGrpSpPr/>
                <p:nvPr/>
              </p:nvGrpSpPr>
              <p:grpSpPr>
                <a:xfrm>
                  <a:off x="6385375" y="1836025"/>
                  <a:ext cx="1983600" cy="1870852"/>
                  <a:chOff x="6080575" y="1836025"/>
                  <a:chExt cx="1983600" cy="1870852"/>
                </a:xfrm>
              </p:grpSpPr>
              <p:sp>
                <p:nvSpPr>
                  <p:cNvPr id="596" name="Google Shape;596;p50"/>
                  <p:cNvSpPr/>
                  <p:nvPr/>
                </p:nvSpPr>
                <p:spPr>
                  <a:xfrm>
                    <a:off x="6951675" y="2911875"/>
                    <a:ext cx="744600" cy="2562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50"/>
                  <p:cNvSpPr/>
                  <p:nvPr/>
                </p:nvSpPr>
                <p:spPr>
                  <a:xfrm>
                    <a:off x="6988050" y="1996874"/>
                    <a:ext cx="744600" cy="744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50"/>
                  <p:cNvSpPr/>
                  <p:nvPr/>
                </p:nvSpPr>
                <p:spPr>
                  <a:xfrm>
                    <a:off x="6080575" y="1836025"/>
                    <a:ext cx="19836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50"/>
                  <p:cNvSpPr/>
                  <p:nvPr/>
                </p:nvSpPr>
                <p:spPr>
                  <a:xfrm>
                    <a:off x="6711450" y="2795475"/>
                    <a:ext cx="6741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50"/>
                  <p:cNvSpPr/>
                  <p:nvPr/>
                </p:nvSpPr>
                <p:spPr>
                  <a:xfrm>
                    <a:off x="6711450" y="3643275"/>
                    <a:ext cx="276600"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50"/>
                  <p:cNvSpPr/>
                  <p:nvPr/>
                </p:nvSpPr>
                <p:spPr>
                  <a:xfrm>
                    <a:off x="7319700" y="1880276"/>
                    <a:ext cx="65700" cy="1167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50"/>
                  <p:cNvSpPr/>
                  <p:nvPr/>
                </p:nvSpPr>
                <p:spPr>
                  <a:xfrm>
                    <a:off x="6711450" y="2859077"/>
                    <a:ext cx="65700" cy="8478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03" name="Google Shape;603;p50"/>
                <p:cNvSpPr/>
                <p:nvPr/>
              </p:nvSpPr>
              <p:spPr>
                <a:xfrm>
                  <a:off x="5887616" y="2830975"/>
                  <a:ext cx="526809"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50"/>
                <p:cNvSpPr/>
                <p:nvPr/>
              </p:nvSpPr>
              <p:spPr>
                <a:xfrm>
                  <a:off x="5887616" y="3373975"/>
                  <a:ext cx="216163" cy="63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50"/>
                <p:cNvSpPr/>
                <p:nvPr/>
              </p:nvSpPr>
              <p:spPr>
                <a:xfrm>
                  <a:off x="5887616" y="2894573"/>
                  <a:ext cx="51345" cy="4794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06" name="Google Shape;606;p50"/>
              <p:cNvSpPr/>
              <p:nvPr/>
            </p:nvSpPr>
            <p:spPr>
              <a:xfrm>
                <a:off x="6009488" y="1977699"/>
                <a:ext cx="744600" cy="744600"/>
              </a:xfrm>
              <a:prstGeom prst="rect">
                <a:avLst/>
              </a:prstGeom>
              <a:solidFill>
                <a:srgbClr val="F9FB36">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612" name="Google Shape;61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chemeClr val="dk1"/>
                </a:solidFill>
              </a:rPr>
              <a:t>Measuring Cost</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Currently measure </a:t>
            </a:r>
            <a:r>
              <a:rPr i="1" lang="en">
                <a:solidFill>
                  <a:schemeClr val="dk1"/>
                </a:solidFill>
              </a:rPr>
              <a:t>Effectiveness</a:t>
            </a:r>
            <a:r>
              <a:rPr lang="en">
                <a:solidFill>
                  <a:schemeClr val="dk1"/>
                </a:solidFill>
              </a:rPr>
              <a:t> and </a:t>
            </a:r>
            <a:r>
              <a:rPr i="1" lang="en">
                <a:solidFill>
                  <a:schemeClr val="dk1"/>
                </a:solidFill>
              </a:rPr>
              <a:t>Efficiency</a:t>
            </a:r>
            <a:endParaRPr>
              <a:solidFill>
                <a:schemeClr val="dk1"/>
              </a:solidFill>
            </a:endParaRPr>
          </a:p>
          <a:p>
            <a:pPr indent="-325755" lvl="0" marL="457200" rtl="0" algn="l">
              <a:spcBef>
                <a:spcPts val="0"/>
              </a:spcBef>
              <a:spcAft>
                <a:spcPts val="0"/>
              </a:spcAft>
              <a:buClr>
                <a:schemeClr val="dk1"/>
              </a:buClr>
              <a:buSzPct val="100000"/>
              <a:buChar char="-"/>
            </a:pPr>
            <a:r>
              <a:rPr i="1" lang="en">
                <a:solidFill>
                  <a:schemeClr val="dk1"/>
                </a:solidFill>
              </a:rPr>
              <a:t>Power</a:t>
            </a:r>
            <a:r>
              <a:rPr lang="en">
                <a:solidFill>
                  <a:schemeClr val="dk1"/>
                </a:solidFill>
              </a:rPr>
              <a:t> is a good proxy for </a:t>
            </a:r>
            <a:r>
              <a:rPr i="1" lang="en">
                <a:solidFill>
                  <a:schemeClr val="dk1"/>
                </a:solidFill>
              </a:rPr>
              <a:t>cost</a:t>
            </a:r>
            <a:r>
              <a:rPr lang="en">
                <a:solidFill>
                  <a:schemeClr val="dk1"/>
                </a:solidFill>
              </a:rPr>
              <a:t>; but requires a hosted solution</a:t>
            </a:r>
            <a:endParaRPr b="1">
              <a:solidFill>
                <a:schemeClr val="dk1"/>
              </a:solidFill>
            </a:endParaRPr>
          </a:p>
          <a:p>
            <a:pPr indent="0" lvl="0" marL="0" rtl="0" algn="l">
              <a:spcBef>
                <a:spcPts val="1200"/>
              </a:spcBef>
              <a:spcAft>
                <a:spcPts val="0"/>
              </a:spcAft>
              <a:buNone/>
            </a:pPr>
            <a:r>
              <a:rPr b="1" lang="en">
                <a:solidFill>
                  <a:schemeClr val="dk1"/>
                </a:solidFill>
              </a:rPr>
              <a:t>Expanding Coverage to other GraphAI Problems</a:t>
            </a:r>
            <a:r>
              <a:rPr b="1" lang="en">
                <a:solidFill>
                  <a:schemeClr val="dk1"/>
                </a:solidFill>
              </a:rPr>
              <a:t> </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Next: Isomorphic Subgraph Matching for Spatial Pattern Matching </a:t>
            </a:r>
            <a:endParaRPr>
              <a:solidFill>
                <a:schemeClr val="dk1"/>
              </a:solidFill>
            </a:endParaRPr>
          </a:p>
          <a:p>
            <a:pPr indent="0" lvl="0" marL="0" rtl="0" algn="l">
              <a:spcBef>
                <a:spcPts val="1200"/>
              </a:spcBef>
              <a:spcAft>
                <a:spcPts val="0"/>
              </a:spcAft>
              <a:buNone/>
            </a:pPr>
            <a:r>
              <a:rPr b="1" lang="en">
                <a:solidFill>
                  <a:schemeClr val="dk1"/>
                </a:solidFill>
              </a:rPr>
              <a:t>Engineering</a:t>
            </a:r>
            <a:endParaRPr>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API-Based model; hosted leaderboard; dynamic inputs</a:t>
            </a:r>
            <a:endParaRPr>
              <a:solidFill>
                <a:schemeClr val="dk1"/>
              </a:solidFill>
            </a:endParaRPr>
          </a:p>
          <a:p>
            <a:pPr indent="0" lvl="0" marL="0" rtl="0" algn="l">
              <a:spcBef>
                <a:spcPts val="1200"/>
              </a:spcBef>
              <a:spcAft>
                <a:spcPts val="0"/>
              </a:spcAft>
              <a:buNone/>
            </a:pPr>
            <a:r>
              <a:rPr b="1" lang="en">
                <a:solidFill>
                  <a:schemeClr val="dk1"/>
                </a:solidFill>
              </a:rPr>
              <a:t>Maturity Model</a:t>
            </a:r>
            <a:endParaRPr b="1">
              <a:solidFill>
                <a:schemeClr val="dk1"/>
              </a:solidFill>
            </a:endParaRPr>
          </a:p>
          <a:p>
            <a:pPr indent="-325755" lvl="0" marL="457200" rtl="0" algn="l">
              <a:spcBef>
                <a:spcPts val="1200"/>
              </a:spcBef>
              <a:spcAft>
                <a:spcPts val="0"/>
              </a:spcAft>
              <a:buClr>
                <a:schemeClr val="dk1"/>
              </a:buClr>
              <a:buSzPct val="100000"/>
              <a:buChar char="-"/>
            </a:pPr>
            <a:r>
              <a:rPr lang="en">
                <a:solidFill>
                  <a:schemeClr val="dk1"/>
                </a:solidFill>
              </a:rPr>
              <a:t>Focus appears to gradually shift from effectiveness to efficiency as fields develop</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618" name="Google Shape;61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chemeClr val="dk1"/>
                </a:solidFill>
              </a:rPr>
              <a:t>Problem:</a:t>
            </a:r>
            <a:endParaRPr b="1">
              <a:solidFill>
                <a:schemeClr val="dk1"/>
              </a:solidFill>
            </a:endParaRPr>
          </a:p>
          <a:p>
            <a:pPr indent="0" lvl="0" marL="0" rtl="0" algn="ctr">
              <a:spcBef>
                <a:spcPts val="1200"/>
              </a:spcBef>
              <a:spcAft>
                <a:spcPts val="0"/>
              </a:spcAft>
              <a:buNone/>
            </a:pPr>
            <a:r>
              <a:rPr lang="en">
                <a:solidFill>
                  <a:schemeClr val="dk1"/>
                </a:solidFill>
              </a:rPr>
              <a:t>To determine </a:t>
            </a:r>
            <a:r>
              <a:rPr i="1" lang="en">
                <a:solidFill>
                  <a:schemeClr val="dk1"/>
                </a:solidFill>
              </a:rPr>
              <a:t>how</a:t>
            </a:r>
            <a:r>
              <a:rPr lang="en">
                <a:solidFill>
                  <a:schemeClr val="dk1"/>
                </a:solidFill>
              </a:rPr>
              <a:t> and </a:t>
            </a:r>
            <a:r>
              <a:rPr i="1" lang="en">
                <a:solidFill>
                  <a:schemeClr val="dk1"/>
                </a:solidFill>
              </a:rPr>
              <a:t>when</a:t>
            </a:r>
            <a:r>
              <a:rPr lang="en">
                <a:solidFill>
                  <a:schemeClr val="dk1"/>
                </a:solidFill>
              </a:rPr>
              <a:t> to speed up problem solving on linked data given a set of operating </a:t>
            </a:r>
            <a:r>
              <a:rPr i="1" lang="en">
                <a:solidFill>
                  <a:schemeClr val="dk1"/>
                </a:solidFill>
              </a:rPr>
              <a:t>constraints</a:t>
            </a:r>
            <a:r>
              <a:rPr lang="en">
                <a:solidFill>
                  <a:schemeClr val="dk1"/>
                </a:solidFill>
              </a:rPr>
              <a:t>.</a:t>
            </a:r>
            <a:endParaRPr>
              <a:solidFill>
                <a:schemeClr val="dk1"/>
              </a:solidFill>
            </a:endParaRPr>
          </a:p>
          <a:p>
            <a:pPr indent="0" lvl="0" marL="0" rtl="0" algn="l">
              <a:spcBef>
                <a:spcPts val="1200"/>
              </a:spcBef>
              <a:spcAft>
                <a:spcPts val="0"/>
              </a:spcAft>
              <a:buClr>
                <a:schemeClr val="dk1"/>
              </a:buClr>
              <a:buSzPct val="61111"/>
              <a:buFont typeface="Arial"/>
              <a:buNone/>
            </a:pPr>
            <a:r>
              <a:rPr b="1" lang="en">
                <a:solidFill>
                  <a:schemeClr val="dk1"/>
                </a:solidFill>
              </a:rPr>
              <a:t>Contributions: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619" name="Google Shape;619;p52"/>
          <p:cNvSpPr txBox="1"/>
          <p:nvPr/>
        </p:nvSpPr>
        <p:spPr>
          <a:xfrm>
            <a:off x="455775" y="41772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GraphAI</a:t>
            </a:r>
            <a:endParaRPr sz="1600">
              <a:solidFill>
                <a:schemeClr val="dk1"/>
              </a:solidFill>
            </a:endParaRPr>
          </a:p>
          <a:p>
            <a:pPr indent="0" lvl="0" marL="0" rtl="0" algn="ctr">
              <a:spcBef>
                <a:spcPts val="0"/>
              </a:spcBef>
              <a:spcAft>
                <a:spcPts val="0"/>
              </a:spcAft>
              <a:buNone/>
            </a:pPr>
            <a:r>
              <a:rPr lang="en" sz="1600">
                <a:solidFill>
                  <a:schemeClr val="dk1"/>
                </a:solidFill>
              </a:rPr>
              <a:t>Taxonomy</a:t>
            </a:r>
            <a:endParaRPr sz="1600">
              <a:solidFill>
                <a:schemeClr val="dk1"/>
              </a:solidFill>
            </a:endParaRPr>
          </a:p>
        </p:txBody>
      </p:sp>
      <p:sp>
        <p:nvSpPr>
          <p:cNvPr id="620" name="Google Shape;620;p52"/>
          <p:cNvSpPr txBox="1"/>
          <p:nvPr/>
        </p:nvSpPr>
        <p:spPr>
          <a:xfrm>
            <a:off x="2708078" y="4177225"/>
            <a:ext cx="1453800" cy="64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Benchmark</a:t>
            </a:r>
            <a:endParaRPr sz="1600">
              <a:solidFill>
                <a:schemeClr val="dk1"/>
              </a:solidFill>
            </a:endParaRPr>
          </a:p>
          <a:p>
            <a:pPr indent="0" lvl="0" marL="0" rtl="0" algn="ctr">
              <a:spcBef>
                <a:spcPts val="0"/>
              </a:spcBef>
              <a:spcAft>
                <a:spcPts val="0"/>
              </a:spcAft>
              <a:buNone/>
            </a:pPr>
            <a:r>
              <a:rPr lang="en" sz="1600">
                <a:solidFill>
                  <a:schemeClr val="dk1"/>
                </a:solidFill>
              </a:rPr>
              <a:t>Methodology</a:t>
            </a:r>
            <a:endParaRPr sz="1600">
              <a:solidFill>
                <a:schemeClr val="dk1"/>
              </a:solidFill>
            </a:endParaRPr>
          </a:p>
        </p:txBody>
      </p:sp>
      <p:sp>
        <p:nvSpPr>
          <p:cNvPr id="621" name="Google Shape;621;p52"/>
          <p:cNvSpPr txBox="1"/>
          <p:nvPr/>
        </p:nvSpPr>
        <p:spPr>
          <a:xfrm>
            <a:off x="4960373" y="41772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Population Segmentation</a:t>
            </a:r>
            <a:endParaRPr sz="1600">
              <a:solidFill>
                <a:schemeClr val="dk1"/>
              </a:solidFill>
            </a:endParaRPr>
          </a:p>
          <a:p>
            <a:pPr indent="0" lvl="0" marL="0" rtl="0" algn="ctr">
              <a:spcBef>
                <a:spcPts val="0"/>
              </a:spcBef>
              <a:spcAft>
                <a:spcPts val="0"/>
              </a:spcAft>
              <a:buNone/>
            </a:pPr>
            <a:r>
              <a:rPr lang="en" sz="1600">
                <a:solidFill>
                  <a:schemeClr val="dk1"/>
                </a:solidFill>
              </a:rPr>
              <a:t>Benchmark</a:t>
            </a:r>
            <a:endParaRPr sz="1600">
              <a:solidFill>
                <a:schemeClr val="dk1"/>
              </a:solidFill>
            </a:endParaRPr>
          </a:p>
        </p:txBody>
      </p:sp>
      <p:sp>
        <p:nvSpPr>
          <p:cNvPr id="622" name="Google Shape;622;p52"/>
          <p:cNvSpPr txBox="1"/>
          <p:nvPr/>
        </p:nvSpPr>
        <p:spPr>
          <a:xfrm>
            <a:off x="7223550" y="4177225"/>
            <a:ext cx="1453800" cy="8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Effectiveness/Efficiency Analysis</a:t>
            </a:r>
            <a:endParaRPr sz="1600">
              <a:solidFill>
                <a:schemeClr val="dk1"/>
              </a:solidFill>
            </a:endParaRPr>
          </a:p>
        </p:txBody>
      </p:sp>
      <p:pic>
        <p:nvPicPr>
          <p:cNvPr id="623" name="Google Shape;623;p52"/>
          <p:cNvPicPr preferRelativeResize="0"/>
          <p:nvPr/>
        </p:nvPicPr>
        <p:blipFill>
          <a:blip r:embed="rId3">
            <a:alphaModFix/>
          </a:blip>
          <a:stretch>
            <a:fillRect/>
          </a:stretch>
        </p:blipFill>
        <p:spPr>
          <a:xfrm>
            <a:off x="444900" y="2571743"/>
            <a:ext cx="1475575" cy="1492932"/>
          </a:xfrm>
          <a:prstGeom prst="rect">
            <a:avLst/>
          </a:prstGeom>
          <a:noFill/>
          <a:ln>
            <a:noFill/>
          </a:ln>
        </p:spPr>
      </p:pic>
      <p:pic>
        <p:nvPicPr>
          <p:cNvPr id="624" name="Google Shape;624;p52"/>
          <p:cNvPicPr preferRelativeResize="0"/>
          <p:nvPr/>
        </p:nvPicPr>
        <p:blipFill>
          <a:blip r:embed="rId4">
            <a:alphaModFix/>
          </a:blip>
          <a:stretch>
            <a:fillRect/>
          </a:stretch>
        </p:blipFill>
        <p:spPr>
          <a:xfrm>
            <a:off x="2708100" y="2605538"/>
            <a:ext cx="1495987" cy="1513587"/>
          </a:xfrm>
          <a:prstGeom prst="rect">
            <a:avLst/>
          </a:prstGeom>
          <a:noFill/>
          <a:ln>
            <a:noFill/>
          </a:ln>
        </p:spPr>
      </p:pic>
      <p:pic>
        <p:nvPicPr>
          <p:cNvPr id="625" name="Google Shape;625;p52"/>
          <p:cNvPicPr preferRelativeResize="0"/>
          <p:nvPr/>
        </p:nvPicPr>
        <p:blipFill>
          <a:blip r:embed="rId5">
            <a:alphaModFix/>
          </a:blip>
          <a:stretch>
            <a:fillRect/>
          </a:stretch>
        </p:blipFill>
        <p:spPr>
          <a:xfrm>
            <a:off x="4991700" y="2614440"/>
            <a:ext cx="1433375" cy="1450235"/>
          </a:xfrm>
          <a:prstGeom prst="rect">
            <a:avLst/>
          </a:prstGeom>
          <a:noFill/>
          <a:ln>
            <a:noFill/>
          </a:ln>
        </p:spPr>
      </p:pic>
      <p:pic>
        <p:nvPicPr>
          <p:cNvPr id="626" name="Google Shape;626;p52"/>
          <p:cNvPicPr preferRelativeResize="0"/>
          <p:nvPr/>
        </p:nvPicPr>
        <p:blipFill>
          <a:blip r:embed="rId6">
            <a:alphaModFix/>
          </a:blip>
          <a:stretch>
            <a:fillRect/>
          </a:stretch>
        </p:blipFill>
        <p:spPr>
          <a:xfrm>
            <a:off x="7265725" y="2614437"/>
            <a:ext cx="1433375" cy="145023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
        <p:nvSpPr>
          <p:cNvPr id="632" name="Google Shape;632;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you have any questions, please reach out on: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3"/>
              </a:rPr>
              <a:t>osullik@umd.edu</a:t>
            </a:r>
            <a:r>
              <a:rPr lang="en"/>
              <a:t> </a:t>
            </a:r>
            <a:endParaRPr/>
          </a:p>
          <a:p>
            <a:pPr indent="0" lvl="0" marL="0" rtl="0" algn="l">
              <a:spcBef>
                <a:spcPts val="1200"/>
              </a:spcBef>
              <a:spcAft>
                <a:spcPts val="0"/>
              </a:spcAft>
              <a:buNone/>
            </a:pPr>
            <a:r>
              <a:rPr lang="en"/>
              <a:t>+1 (202) 257 5565 [US Cell]</a:t>
            </a:r>
            <a:endParaRPr/>
          </a:p>
          <a:p>
            <a:pPr indent="0" lvl="0" marL="0" rtl="0" algn="l">
              <a:spcBef>
                <a:spcPts val="1200"/>
              </a:spcBef>
              <a:spcAft>
                <a:spcPts val="1200"/>
              </a:spcAft>
              <a:buNone/>
            </a:pPr>
            <a:r>
              <a:rPr lang="en"/>
              <a:t>+61 (0) 431 133 963 [Aus Cell for Signal, Whatsapp etc]</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